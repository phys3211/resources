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0A4E77-D8C9-4DE1-920F-C2B09168F538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7D1CA86-F8BD-4B45-8554-BA06E3504FB7}">
      <dgm:prSet/>
      <dgm:spPr/>
      <dgm:t>
        <a:bodyPr/>
        <a:lstStyle/>
        <a:p>
          <a:r>
            <a:rPr lang="en-US"/>
            <a:t>When answering yes to the following questions, RL may be the method to use</a:t>
          </a:r>
        </a:p>
      </dgm:t>
    </dgm:pt>
    <dgm:pt modelId="{CB6FA608-E305-4B4A-8BBE-7652F593C841}" type="parTrans" cxnId="{B0BC8D56-2010-4D38-A05C-058B56FCB27C}">
      <dgm:prSet/>
      <dgm:spPr/>
      <dgm:t>
        <a:bodyPr/>
        <a:lstStyle/>
        <a:p>
          <a:endParaRPr lang="en-US"/>
        </a:p>
      </dgm:t>
    </dgm:pt>
    <dgm:pt modelId="{8BD4F6BF-9852-4F6A-A7A2-34F3ACB2B04A}" type="sibTrans" cxnId="{B0BC8D56-2010-4D38-A05C-058B56FCB27C}">
      <dgm:prSet/>
      <dgm:spPr/>
      <dgm:t>
        <a:bodyPr/>
        <a:lstStyle/>
        <a:p>
          <a:endParaRPr lang="en-US"/>
        </a:p>
      </dgm:t>
    </dgm:pt>
    <dgm:pt modelId="{72857E1C-8A63-4C69-B744-4CD8C9E9FD16}">
      <dgm:prSet/>
      <dgm:spPr/>
      <dgm:t>
        <a:bodyPr/>
        <a:lstStyle/>
        <a:p>
          <a:r>
            <a:rPr lang="en-US" dirty="0"/>
            <a:t>Can the problem be conceptualized as an agent interacting with an environment?</a:t>
          </a:r>
        </a:p>
      </dgm:t>
    </dgm:pt>
    <dgm:pt modelId="{26D95FEB-1CE5-471E-8C55-8F35FCC304E4}" type="parTrans" cxnId="{B228A3FB-0C4A-4FF4-8E25-8DAB4276B6C4}">
      <dgm:prSet/>
      <dgm:spPr/>
      <dgm:t>
        <a:bodyPr/>
        <a:lstStyle/>
        <a:p>
          <a:endParaRPr lang="en-US"/>
        </a:p>
      </dgm:t>
    </dgm:pt>
    <dgm:pt modelId="{FC49D6D7-283C-4E6B-A162-2BC88C908BF1}" type="sibTrans" cxnId="{B228A3FB-0C4A-4FF4-8E25-8DAB4276B6C4}">
      <dgm:prSet/>
      <dgm:spPr/>
      <dgm:t>
        <a:bodyPr/>
        <a:lstStyle/>
        <a:p>
          <a:endParaRPr lang="en-US"/>
        </a:p>
      </dgm:t>
    </dgm:pt>
    <dgm:pt modelId="{979C5125-62DB-41FE-A14F-8FD2B7BE5302}">
      <dgm:prSet/>
      <dgm:spPr/>
      <dgm:t>
        <a:bodyPr/>
        <a:lstStyle/>
        <a:p>
          <a:r>
            <a:rPr lang="en-US"/>
            <a:t>Can the agent take actions that affect the outcomes?</a:t>
          </a:r>
        </a:p>
      </dgm:t>
    </dgm:pt>
    <dgm:pt modelId="{5E0F2EDA-73E4-44FD-A277-A2ABE4FAFE73}" type="parTrans" cxnId="{330DC00F-A4D9-4FB8-8A73-D789CA79DD94}">
      <dgm:prSet/>
      <dgm:spPr/>
      <dgm:t>
        <a:bodyPr/>
        <a:lstStyle/>
        <a:p>
          <a:endParaRPr lang="en-US"/>
        </a:p>
      </dgm:t>
    </dgm:pt>
    <dgm:pt modelId="{B08AC8E9-AA97-4185-9248-D478C03002F1}" type="sibTrans" cxnId="{330DC00F-A4D9-4FB8-8A73-D789CA79DD94}">
      <dgm:prSet/>
      <dgm:spPr/>
      <dgm:t>
        <a:bodyPr/>
        <a:lstStyle/>
        <a:p>
          <a:endParaRPr lang="en-US"/>
        </a:p>
      </dgm:t>
    </dgm:pt>
    <dgm:pt modelId="{71608322-B65C-432C-8229-5A9F3B38FE57}">
      <dgm:prSet/>
      <dgm:spPr/>
      <dgm:t>
        <a:bodyPr/>
        <a:lstStyle/>
        <a:p>
          <a:r>
            <a:rPr lang="en-US"/>
            <a:t>Is there a clear notion of reward?</a:t>
          </a:r>
        </a:p>
      </dgm:t>
    </dgm:pt>
    <dgm:pt modelId="{6410A3C2-F8E2-4555-84C7-6F68872D6CFD}" type="parTrans" cxnId="{7AECBC66-8B78-49E6-88CB-CC160558CCDA}">
      <dgm:prSet/>
      <dgm:spPr/>
      <dgm:t>
        <a:bodyPr/>
        <a:lstStyle/>
        <a:p>
          <a:endParaRPr lang="en-US"/>
        </a:p>
      </dgm:t>
    </dgm:pt>
    <dgm:pt modelId="{8AC5007A-E04B-4489-8817-DF48CCCC4CBE}" type="sibTrans" cxnId="{7AECBC66-8B78-49E6-88CB-CC160558CCDA}">
      <dgm:prSet/>
      <dgm:spPr/>
      <dgm:t>
        <a:bodyPr/>
        <a:lstStyle/>
        <a:p>
          <a:endParaRPr lang="en-US"/>
        </a:p>
      </dgm:t>
    </dgm:pt>
    <dgm:pt modelId="{1DC6A883-C683-48EC-8CEF-021837A58D37}">
      <dgm:prSet/>
      <dgm:spPr/>
      <dgm:t>
        <a:bodyPr/>
        <a:lstStyle/>
        <a:p>
          <a:r>
            <a:rPr lang="en-US"/>
            <a:t>RL is best when the environment is too large to explore exhaustively (</a:t>
          </a:r>
          <a:r>
            <a:rPr lang="en-US" b="1" i="1"/>
            <a:t>Deep-Q learning</a:t>
          </a:r>
          <a:r>
            <a:rPr lang="en-US"/>
            <a:t>)</a:t>
          </a:r>
        </a:p>
      </dgm:t>
    </dgm:pt>
    <dgm:pt modelId="{0ACD82A3-BC4A-4684-80EC-BCB992F8F599}" type="parTrans" cxnId="{DCA33CDD-826B-4107-B284-2EFE9BB2BA90}">
      <dgm:prSet/>
      <dgm:spPr/>
      <dgm:t>
        <a:bodyPr/>
        <a:lstStyle/>
        <a:p>
          <a:endParaRPr lang="en-US"/>
        </a:p>
      </dgm:t>
    </dgm:pt>
    <dgm:pt modelId="{0C882C71-CAFC-45E4-9367-A305839BBAB7}" type="sibTrans" cxnId="{DCA33CDD-826B-4107-B284-2EFE9BB2BA90}">
      <dgm:prSet/>
      <dgm:spPr/>
      <dgm:t>
        <a:bodyPr/>
        <a:lstStyle/>
        <a:p>
          <a:endParaRPr lang="en-US"/>
        </a:p>
      </dgm:t>
    </dgm:pt>
    <dgm:pt modelId="{6191F46E-BC68-441B-8A5B-8D17DB7AFFE0}" type="pres">
      <dgm:prSet presAssocID="{840A4E77-D8C9-4DE1-920F-C2B09168F538}" presName="Name0" presStyleCnt="0">
        <dgm:presLayoutVars>
          <dgm:dir/>
          <dgm:animLvl val="lvl"/>
          <dgm:resizeHandles val="exact"/>
        </dgm:presLayoutVars>
      </dgm:prSet>
      <dgm:spPr/>
    </dgm:pt>
    <dgm:pt modelId="{66DFB3E8-311D-4ED0-A68F-D6D3161F37AD}" type="pres">
      <dgm:prSet presAssocID="{1DC6A883-C683-48EC-8CEF-021837A58D37}" presName="boxAndChildren" presStyleCnt="0"/>
      <dgm:spPr/>
    </dgm:pt>
    <dgm:pt modelId="{B7660BCA-6E12-4B7A-9DF7-A8E00F65553D}" type="pres">
      <dgm:prSet presAssocID="{1DC6A883-C683-48EC-8CEF-021837A58D37}" presName="parentTextBox" presStyleLbl="node1" presStyleIdx="0" presStyleCnt="2"/>
      <dgm:spPr/>
    </dgm:pt>
    <dgm:pt modelId="{D9A4171A-FB16-4201-BDA6-928A449B948E}" type="pres">
      <dgm:prSet presAssocID="{8BD4F6BF-9852-4F6A-A7A2-34F3ACB2B04A}" presName="sp" presStyleCnt="0"/>
      <dgm:spPr/>
    </dgm:pt>
    <dgm:pt modelId="{010BBC52-158A-47F1-9D32-47E2CD411267}" type="pres">
      <dgm:prSet presAssocID="{67D1CA86-F8BD-4B45-8554-BA06E3504FB7}" presName="arrowAndChildren" presStyleCnt="0"/>
      <dgm:spPr/>
    </dgm:pt>
    <dgm:pt modelId="{5376071B-E186-40AF-B316-DEA995F854B7}" type="pres">
      <dgm:prSet presAssocID="{67D1CA86-F8BD-4B45-8554-BA06E3504FB7}" presName="parentTextArrow" presStyleLbl="node1" presStyleIdx="0" presStyleCnt="2"/>
      <dgm:spPr/>
    </dgm:pt>
    <dgm:pt modelId="{5AF0425C-611E-4BEE-8EAF-046FAB1DE14C}" type="pres">
      <dgm:prSet presAssocID="{67D1CA86-F8BD-4B45-8554-BA06E3504FB7}" presName="arrow" presStyleLbl="node1" presStyleIdx="1" presStyleCnt="2"/>
      <dgm:spPr/>
    </dgm:pt>
    <dgm:pt modelId="{C7728DB1-6D84-44D3-B31B-DB392E123B41}" type="pres">
      <dgm:prSet presAssocID="{67D1CA86-F8BD-4B45-8554-BA06E3504FB7}" presName="descendantArrow" presStyleCnt="0"/>
      <dgm:spPr/>
    </dgm:pt>
    <dgm:pt modelId="{28BF6233-C2B3-455F-93D2-9488302AD977}" type="pres">
      <dgm:prSet presAssocID="{72857E1C-8A63-4C69-B744-4CD8C9E9FD16}" presName="childTextArrow" presStyleLbl="fgAccFollowNode1" presStyleIdx="0" presStyleCnt="3">
        <dgm:presLayoutVars>
          <dgm:bulletEnabled val="1"/>
        </dgm:presLayoutVars>
      </dgm:prSet>
      <dgm:spPr/>
    </dgm:pt>
    <dgm:pt modelId="{B32FD2FE-11BA-4E77-A285-24F1C51F5A9D}" type="pres">
      <dgm:prSet presAssocID="{979C5125-62DB-41FE-A14F-8FD2B7BE5302}" presName="childTextArrow" presStyleLbl="fgAccFollowNode1" presStyleIdx="1" presStyleCnt="3">
        <dgm:presLayoutVars>
          <dgm:bulletEnabled val="1"/>
        </dgm:presLayoutVars>
      </dgm:prSet>
      <dgm:spPr/>
    </dgm:pt>
    <dgm:pt modelId="{D574EEDA-5E00-4869-B275-121D4C29E936}" type="pres">
      <dgm:prSet presAssocID="{71608322-B65C-432C-8229-5A9F3B38FE57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3694460E-F839-43A4-B9FB-F4214F191A41}" type="presOf" srcId="{72857E1C-8A63-4C69-B744-4CD8C9E9FD16}" destId="{28BF6233-C2B3-455F-93D2-9488302AD977}" srcOrd="0" destOrd="0" presId="urn:microsoft.com/office/officeart/2005/8/layout/process4"/>
    <dgm:cxn modelId="{330DC00F-A4D9-4FB8-8A73-D789CA79DD94}" srcId="{67D1CA86-F8BD-4B45-8554-BA06E3504FB7}" destId="{979C5125-62DB-41FE-A14F-8FD2B7BE5302}" srcOrd="1" destOrd="0" parTransId="{5E0F2EDA-73E4-44FD-A277-A2ABE4FAFE73}" sibTransId="{B08AC8E9-AA97-4185-9248-D478C03002F1}"/>
    <dgm:cxn modelId="{BDF1271B-EEEA-4379-83EB-F75FFBCBB77D}" type="presOf" srcId="{67D1CA86-F8BD-4B45-8554-BA06E3504FB7}" destId="{5376071B-E186-40AF-B316-DEA995F854B7}" srcOrd="0" destOrd="0" presId="urn:microsoft.com/office/officeart/2005/8/layout/process4"/>
    <dgm:cxn modelId="{0EDA6A26-DEC5-44E2-9C81-74A9C2A0981E}" type="presOf" srcId="{979C5125-62DB-41FE-A14F-8FD2B7BE5302}" destId="{B32FD2FE-11BA-4E77-A285-24F1C51F5A9D}" srcOrd="0" destOrd="0" presId="urn:microsoft.com/office/officeart/2005/8/layout/process4"/>
    <dgm:cxn modelId="{DE8E623C-341B-4B17-8822-50E853957EED}" type="presOf" srcId="{67D1CA86-F8BD-4B45-8554-BA06E3504FB7}" destId="{5AF0425C-611E-4BEE-8EAF-046FAB1DE14C}" srcOrd="1" destOrd="0" presId="urn:microsoft.com/office/officeart/2005/8/layout/process4"/>
    <dgm:cxn modelId="{7AECBC66-8B78-49E6-88CB-CC160558CCDA}" srcId="{67D1CA86-F8BD-4B45-8554-BA06E3504FB7}" destId="{71608322-B65C-432C-8229-5A9F3B38FE57}" srcOrd="2" destOrd="0" parTransId="{6410A3C2-F8E2-4555-84C7-6F68872D6CFD}" sibTransId="{8AC5007A-E04B-4489-8817-DF48CCCC4CBE}"/>
    <dgm:cxn modelId="{B0BC8D56-2010-4D38-A05C-058B56FCB27C}" srcId="{840A4E77-D8C9-4DE1-920F-C2B09168F538}" destId="{67D1CA86-F8BD-4B45-8554-BA06E3504FB7}" srcOrd="0" destOrd="0" parTransId="{CB6FA608-E305-4B4A-8BBE-7652F593C841}" sibTransId="{8BD4F6BF-9852-4F6A-A7A2-34F3ACB2B04A}"/>
    <dgm:cxn modelId="{EF7CC7CB-B64E-4D52-961B-6A2D26A58202}" type="presOf" srcId="{71608322-B65C-432C-8229-5A9F3B38FE57}" destId="{D574EEDA-5E00-4869-B275-121D4C29E936}" srcOrd="0" destOrd="0" presId="urn:microsoft.com/office/officeart/2005/8/layout/process4"/>
    <dgm:cxn modelId="{DCA33CDD-826B-4107-B284-2EFE9BB2BA90}" srcId="{840A4E77-D8C9-4DE1-920F-C2B09168F538}" destId="{1DC6A883-C683-48EC-8CEF-021837A58D37}" srcOrd="1" destOrd="0" parTransId="{0ACD82A3-BC4A-4684-80EC-BCB992F8F599}" sibTransId="{0C882C71-CAFC-45E4-9367-A305839BBAB7}"/>
    <dgm:cxn modelId="{1B1453EC-F4BA-4A7E-9D7A-850C16EC6771}" type="presOf" srcId="{840A4E77-D8C9-4DE1-920F-C2B09168F538}" destId="{6191F46E-BC68-441B-8A5B-8D17DB7AFFE0}" srcOrd="0" destOrd="0" presId="urn:microsoft.com/office/officeart/2005/8/layout/process4"/>
    <dgm:cxn modelId="{8FAF81EF-8AAB-436D-BB92-F3FA8C296443}" type="presOf" srcId="{1DC6A883-C683-48EC-8CEF-021837A58D37}" destId="{B7660BCA-6E12-4B7A-9DF7-A8E00F65553D}" srcOrd="0" destOrd="0" presId="urn:microsoft.com/office/officeart/2005/8/layout/process4"/>
    <dgm:cxn modelId="{B228A3FB-0C4A-4FF4-8E25-8DAB4276B6C4}" srcId="{67D1CA86-F8BD-4B45-8554-BA06E3504FB7}" destId="{72857E1C-8A63-4C69-B744-4CD8C9E9FD16}" srcOrd="0" destOrd="0" parTransId="{26D95FEB-1CE5-471E-8C55-8F35FCC304E4}" sibTransId="{FC49D6D7-283C-4E6B-A162-2BC88C908BF1}"/>
    <dgm:cxn modelId="{3D2AC911-7083-40F7-B7AB-D6142E8CDD76}" type="presParOf" srcId="{6191F46E-BC68-441B-8A5B-8D17DB7AFFE0}" destId="{66DFB3E8-311D-4ED0-A68F-D6D3161F37AD}" srcOrd="0" destOrd="0" presId="urn:microsoft.com/office/officeart/2005/8/layout/process4"/>
    <dgm:cxn modelId="{F9FB5FF4-161E-4AC3-9FA7-5F73B11ECB7D}" type="presParOf" srcId="{66DFB3E8-311D-4ED0-A68F-D6D3161F37AD}" destId="{B7660BCA-6E12-4B7A-9DF7-A8E00F65553D}" srcOrd="0" destOrd="0" presId="urn:microsoft.com/office/officeart/2005/8/layout/process4"/>
    <dgm:cxn modelId="{8FD3D393-AE5B-4074-ABE4-5821026C9359}" type="presParOf" srcId="{6191F46E-BC68-441B-8A5B-8D17DB7AFFE0}" destId="{D9A4171A-FB16-4201-BDA6-928A449B948E}" srcOrd="1" destOrd="0" presId="urn:microsoft.com/office/officeart/2005/8/layout/process4"/>
    <dgm:cxn modelId="{58851DB1-E9AE-4263-AF0D-C0D917ECAE33}" type="presParOf" srcId="{6191F46E-BC68-441B-8A5B-8D17DB7AFFE0}" destId="{010BBC52-158A-47F1-9D32-47E2CD411267}" srcOrd="2" destOrd="0" presId="urn:microsoft.com/office/officeart/2005/8/layout/process4"/>
    <dgm:cxn modelId="{FA6AD094-B2D1-4014-A8BE-33CC74BA00A6}" type="presParOf" srcId="{010BBC52-158A-47F1-9D32-47E2CD411267}" destId="{5376071B-E186-40AF-B316-DEA995F854B7}" srcOrd="0" destOrd="0" presId="urn:microsoft.com/office/officeart/2005/8/layout/process4"/>
    <dgm:cxn modelId="{0DD210F2-2149-4B9A-8522-5EB3625AF300}" type="presParOf" srcId="{010BBC52-158A-47F1-9D32-47E2CD411267}" destId="{5AF0425C-611E-4BEE-8EAF-046FAB1DE14C}" srcOrd="1" destOrd="0" presId="urn:microsoft.com/office/officeart/2005/8/layout/process4"/>
    <dgm:cxn modelId="{C1A18567-89C5-40B3-BFB8-CD07C2D3ED27}" type="presParOf" srcId="{010BBC52-158A-47F1-9D32-47E2CD411267}" destId="{C7728DB1-6D84-44D3-B31B-DB392E123B41}" srcOrd="2" destOrd="0" presId="urn:microsoft.com/office/officeart/2005/8/layout/process4"/>
    <dgm:cxn modelId="{9FBB810B-F284-4DA3-B20B-D71A434F0F0F}" type="presParOf" srcId="{C7728DB1-6D84-44D3-B31B-DB392E123B41}" destId="{28BF6233-C2B3-455F-93D2-9488302AD977}" srcOrd="0" destOrd="0" presId="urn:microsoft.com/office/officeart/2005/8/layout/process4"/>
    <dgm:cxn modelId="{0BFCC80A-D837-427E-93A1-88EC7BCAF8BB}" type="presParOf" srcId="{C7728DB1-6D84-44D3-B31B-DB392E123B41}" destId="{B32FD2FE-11BA-4E77-A285-24F1C51F5A9D}" srcOrd="1" destOrd="0" presId="urn:microsoft.com/office/officeart/2005/8/layout/process4"/>
    <dgm:cxn modelId="{1BDEC09A-F884-4A1E-B412-1A857ECCBF5B}" type="presParOf" srcId="{C7728DB1-6D84-44D3-B31B-DB392E123B41}" destId="{D574EEDA-5E00-4869-B275-121D4C29E936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7490B5-E543-4D2B-A197-C3742E4A819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032773-8691-488C-BFE2-D418699FB8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Supervised Learning is </a:t>
          </a:r>
          <a:r>
            <a:rPr lang="en-US" i="1"/>
            <a:t>interpolation over a known dataset</a:t>
          </a:r>
          <a:endParaRPr lang="en-US"/>
        </a:p>
      </dgm:t>
    </dgm:pt>
    <dgm:pt modelId="{AD0103AD-091E-43BE-A3ED-808199248B1C}" type="parTrans" cxnId="{1F71B8BC-26D8-46D8-AEFB-5E50D7FE2D04}">
      <dgm:prSet/>
      <dgm:spPr/>
      <dgm:t>
        <a:bodyPr/>
        <a:lstStyle/>
        <a:p>
          <a:endParaRPr lang="en-US"/>
        </a:p>
      </dgm:t>
    </dgm:pt>
    <dgm:pt modelId="{AB3589A6-6A5F-45C0-94B5-5657F6032BD0}" type="sibTrans" cxnId="{1F71B8BC-26D8-46D8-AEFB-5E50D7FE2D04}">
      <dgm:prSet/>
      <dgm:spPr/>
      <dgm:t>
        <a:bodyPr/>
        <a:lstStyle/>
        <a:p>
          <a:endParaRPr lang="en-US"/>
        </a:p>
      </dgm:t>
    </dgm:pt>
    <dgm:pt modelId="{8ABFA4CF-5542-45E8-BD0F-602015C52D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requires someone to have solved the problem already (to label the data)</a:t>
          </a:r>
        </a:p>
      </dgm:t>
    </dgm:pt>
    <dgm:pt modelId="{018CC1F4-EF39-449E-8D8D-63402A6C920E}" type="parTrans" cxnId="{0EB6073A-92F6-4130-8CF7-AEE7E07D3E09}">
      <dgm:prSet/>
      <dgm:spPr/>
      <dgm:t>
        <a:bodyPr/>
        <a:lstStyle/>
        <a:p>
          <a:endParaRPr lang="en-US"/>
        </a:p>
      </dgm:t>
    </dgm:pt>
    <dgm:pt modelId="{D4BEBAE8-03BF-4037-AB0D-0B517C6D4E15}" type="sibTrans" cxnId="{0EB6073A-92F6-4130-8CF7-AEE7E07D3E09}">
      <dgm:prSet/>
      <dgm:spPr/>
      <dgm:t>
        <a:bodyPr/>
        <a:lstStyle/>
        <a:p>
          <a:endParaRPr lang="en-US"/>
        </a:p>
      </dgm:t>
    </dgm:pt>
    <dgm:pt modelId="{F52BFB2D-3ADA-4B46-8CA4-3DE6E63125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Reinforcement Learning is </a:t>
          </a:r>
          <a:r>
            <a:rPr lang="en-US" i="1"/>
            <a:t>optimization via self-generated experience</a:t>
          </a:r>
          <a:r>
            <a:rPr lang="en-US"/>
            <a:t>. </a:t>
          </a:r>
        </a:p>
      </dgm:t>
    </dgm:pt>
    <dgm:pt modelId="{8E29B265-FB53-4AFE-9D2D-81F2DA5DAB33}" type="parTrans" cxnId="{E67CF4E0-B597-49AF-A5EB-3FF0873063F5}">
      <dgm:prSet/>
      <dgm:spPr/>
      <dgm:t>
        <a:bodyPr/>
        <a:lstStyle/>
        <a:p>
          <a:endParaRPr lang="en-US"/>
        </a:p>
      </dgm:t>
    </dgm:pt>
    <dgm:pt modelId="{78FC851D-916F-47E7-9391-9861FD39F034}" type="sibTrans" cxnId="{E67CF4E0-B597-49AF-A5EB-3FF0873063F5}">
      <dgm:prSet/>
      <dgm:spPr/>
      <dgm:t>
        <a:bodyPr/>
        <a:lstStyle/>
        <a:p>
          <a:endParaRPr lang="en-US"/>
        </a:p>
      </dgm:t>
    </dgm:pt>
    <dgm:pt modelId="{B7868325-0BD8-4F93-A3AF-E3415A000E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can, in principle, discover solutions to problems no human has solved</a:t>
          </a:r>
        </a:p>
      </dgm:t>
    </dgm:pt>
    <dgm:pt modelId="{91429D9E-5390-4B30-9476-F288A9A38AE8}" type="parTrans" cxnId="{11C7C390-1BC6-40FE-A1A5-D2D4D9233793}">
      <dgm:prSet/>
      <dgm:spPr/>
      <dgm:t>
        <a:bodyPr/>
        <a:lstStyle/>
        <a:p>
          <a:endParaRPr lang="en-US"/>
        </a:p>
      </dgm:t>
    </dgm:pt>
    <dgm:pt modelId="{833B163A-38F5-4F65-9A85-D7F80DFE0F4F}" type="sibTrans" cxnId="{11C7C390-1BC6-40FE-A1A5-D2D4D9233793}">
      <dgm:prSet/>
      <dgm:spPr/>
      <dgm:t>
        <a:bodyPr/>
        <a:lstStyle/>
        <a:p>
          <a:endParaRPr lang="en-US"/>
        </a:p>
      </dgm:t>
    </dgm:pt>
    <dgm:pt modelId="{C6671F51-7EC2-4076-BA3A-53206D1EF67D}" type="pres">
      <dgm:prSet presAssocID="{A77490B5-E543-4D2B-A197-C3742E4A819F}" presName="root" presStyleCnt="0">
        <dgm:presLayoutVars>
          <dgm:dir/>
          <dgm:resizeHandles val="exact"/>
        </dgm:presLayoutVars>
      </dgm:prSet>
      <dgm:spPr/>
    </dgm:pt>
    <dgm:pt modelId="{C95551C8-8DC2-4AC8-882F-AC3236D2BCAE}" type="pres">
      <dgm:prSet presAssocID="{D8032773-8691-488C-BFE2-D418699FB8F0}" presName="compNode" presStyleCnt="0"/>
      <dgm:spPr/>
    </dgm:pt>
    <dgm:pt modelId="{FD35FE30-7F7B-4DF3-987F-DFFF7A9034B4}" type="pres">
      <dgm:prSet presAssocID="{D8032773-8691-488C-BFE2-D418699FB8F0}" presName="bgRect" presStyleLbl="bgShp" presStyleIdx="0" presStyleCnt="2"/>
      <dgm:spPr/>
    </dgm:pt>
    <dgm:pt modelId="{CFF3D3AC-D7F5-4395-BBAA-84D531ED3702}" type="pres">
      <dgm:prSet presAssocID="{D8032773-8691-488C-BFE2-D418699FB8F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B184E74-CFB4-4C9C-9DF9-284A60AB82F5}" type="pres">
      <dgm:prSet presAssocID="{D8032773-8691-488C-BFE2-D418699FB8F0}" presName="spaceRect" presStyleCnt="0"/>
      <dgm:spPr/>
    </dgm:pt>
    <dgm:pt modelId="{9B5DE1D7-6545-411D-825B-D78D711DB6EB}" type="pres">
      <dgm:prSet presAssocID="{D8032773-8691-488C-BFE2-D418699FB8F0}" presName="parTx" presStyleLbl="revTx" presStyleIdx="0" presStyleCnt="4">
        <dgm:presLayoutVars>
          <dgm:chMax val="0"/>
          <dgm:chPref val="0"/>
        </dgm:presLayoutVars>
      </dgm:prSet>
      <dgm:spPr/>
    </dgm:pt>
    <dgm:pt modelId="{377E4A4B-3CEE-44E7-8B15-E1DC65090C2B}" type="pres">
      <dgm:prSet presAssocID="{D8032773-8691-488C-BFE2-D418699FB8F0}" presName="desTx" presStyleLbl="revTx" presStyleIdx="1" presStyleCnt="4">
        <dgm:presLayoutVars/>
      </dgm:prSet>
      <dgm:spPr/>
    </dgm:pt>
    <dgm:pt modelId="{12D6C744-7931-4D34-B3C9-3AD83DABD00B}" type="pres">
      <dgm:prSet presAssocID="{AB3589A6-6A5F-45C0-94B5-5657F6032BD0}" presName="sibTrans" presStyleCnt="0"/>
      <dgm:spPr/>
    </dgm:pt>
    <dgm:pt modelId="{C774E4F2-1AFF-46C2-9187-9F77608E2C77}" type="pres">
      <dgm:prSet presAssocID="{F52BFB2D-3ADA-4B46-8CA4-3DE6E63125C7}" presName="compNode" presStyleCnt="0"/>
      <dgm:spPr/>
    </dgm:pt>
    <dgm:pt modelId="{FD89909E-1827-4812-A97D-00A43970CFA4}" type="pres">
      <dgm:prSet presAssocID="{F52BFB2D-3ADA-4B46-8CA4-3DE6E63125C7}" presName="bgRect" presStyleLbl="bgShp" presStyleIdx="1" presStyleCnt="2"/>
      <dgm:spPr/>
    </dgm:pt>
    <dgm:pt modelId="{D78A2A93-6BAC-4A84-A1B4-13AD395F04A8}" type="pres">
      <dgm:prSet presAssocID="{F52BFB2D-3ADA-4B46-8CA4-3DE6E63125C7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8BDF9879-7E39-4536-81DA-5D8DCED1062B}" type="pres">
      <dgm:prSet presAssocID="{F52BFB2D-3ADA-4B46-8CA4-3DE6E63125C7}" presName="spaceRect" presStyleCnt="0"/>
      <dgm:spPr/>
    </dgm:pt>
    <dgm:pt modelId="{491EFB21-0EBE-4917-9E71-571E6FFEDB2B}" type="pres">
      <dgm:prSet presAssocID="{F52BFB2D-3ADA-4B46-8CA4-3DE6E63125C7}" presName="parTx" presStyleLbl="revTx" presStyleIdx="2" presStyleCnt="4">
        <dgm:presLayoutVars>
          <dgm:chMax val="0"/>
          <dgm:chPref val="0"/>
        </dgm:presLayoutVars>
      </dgm:prSet>
      <dgm:spPr/>
    </dgm:pt>
    <dgm:pt modelId="{1FBBA1BE-5097-4D83-A1F4-B04D89844BE0}" type="pres">
      <dgm:prSet presAssocID="{F52BFB2D-3ADA-4B46-8CA4-3DE6E63125C7}" presName="desTx" presStyleLbl="revTx" presStyleIdx="3" presStyleCnt="4">
        <dgm:presLayoutVars/>
      </dgm:prSet>
      <dgm:spPr/>
    </dgm:pt>
  </dgm:ptLst>
  <dgm:cxnLst>
    <dgm:cxn modelId="{C7481B10-5EFB-4AF0-8FE7-7A993699BC50}" type="presOf" srcId="{D8032773-8691-488C-BFE2-D418699FB8F0}" destId="{9B5DE1D7-6545-411D-825B-D78D711DB6EB}" srcOrd="0" destOrd="0" presId="urn:microsoft.com/office/officeart/2018/2/layout/IconVerticalSolidList"/>
    <dgm:cxn modelId="{76CAD422-BC32-477B-A170-F8311882FD7B}" type="presOf" srcId="{8ABFA4CF-5542-45E8-BD0F-602015C52D06}" destId="{377E4A4B-3CEE-44E7-8B15-E1DC65090C2B}" srcOrd="0" destOrd="0" presId="urn:microsoft.com/office/officeart/2018/2/layout/IconVerticalSolidList"/>
    <dgm:cxn modelId="{0EB6073A-92F6-4130-8CF7-AEE7E07D3E09}" srcId="{D8032773-8691-488C-BFE2-D418699FB8F0}" destId="{8ABFA4CF-5542-45E8-BD0F-602015C52D06}" srcOrd="0" destOrd="0" parTransId="{018CC1F4-EF39-449E-8D8D-63402A6C920E}" sibTransId="{D4BEBAE8-03BF-4037-AB0D-0B517C6D4E15}"/>
    <dgm:cxn modelId="{5E032B3A-71F2-4659-8E5D-68E37D499B20}" type="presOf" srcId="{B7868325-0BD8-4F93-A3AF-E3415A000E08}" destId="{1FBBA1BE-5097-4D83-A1F4-B04D89844BE0}" srcOrd="0" destOrd="0" presId="urn:microsoft.com/office/officeart/2018/2/layout/IconVerticalSolidList"/>
    <dgm:cxn modelId="{602F945F-5D3F-40D7-B593-C86AF255540A}" type="presOf" srcId="{A77490B5-E543-4D2B-A197-C3742E4A819F}" destId="{C6671F51-7EC2-4076-BA3A-53206D1EF67D}" srcOrd="0" destOrd="0" presId="urn:microsoft.com/office/officeart/2018/2/layout/IconVerticalSolidList"/>
    <dgm:cxn modelId="{31484465-3CC5-48F0-9BCB-A78EFE0761FE}" type="presOf" srcId="{F52BFB2D-3ADA-4B46-8CA4-3DE6E63125C7}" destId="{491EFB21-0EBE-4917-9E71-571E6FFEDB2B}" srcOrd="0" destOrd="0" presId="urn:microsoft.com/office/officeart/2018/2/layout/IconVerticalSolidList"/>
    <dgm:cxn modelId="{11C7C390-1BC6-40FE-A1A5-D2D4D9233793}" srcId="{F52BFB2D-3ADA-4B46-8CA4-3DE6E63125C7}" destId="{B7868325-0BD8-4F93-A3AF-E3415A000E08}" srcOrd="0" destOrd="0" parTransId="{91429D9E-5390-4B30-9476-F288A9A38AE8}" sibTransId="{833B163A-38F5-4F65-9A85-D7F80DFE0F4F}"/>
    <dgm:cxn modelId="{1F71B8BC-26D8-46D8-AEFB-5E50D7FE2D04}" srcId="{A77490B5-E543-4D2B-A197-C3742E4A819F}" destId="{D8032773-8691-488C-BFE2-D418699FB8F0}" srcOrd="0" destOrd="0" parTransId="{AD0103AD-091E-43BE-A3ED-808199248B1C}" sibTransId="{AB3589A6-6A5F-45C0-94B5-5657F6032BD0}"/>
    <dgm:cxn modelId="{E67CF4E0-B597-49AF-A5EB-3FF0873063F5}" srcId="{A77490B5-E543-4D2B-A197-C3742E4A819F}" destId="{F52BFB2D-3ADA-4B46-8CA4-3DE6E63125C7}" srcOrd="1" destOrd="0" parTransId="{8E29B265-FB53-4AFE-9D2D-81F2DA5DAB33}" sibTransId="{78FC851D-916F-47E7-9391-9861FD39F034}"/>
    <dgm:cxn modelId="{1261A680-6F6F-4073-AD47-4CC098795B66}" type="presParOf" srcId="{C6671F51-7EC2-4076-BA3A-53206D1EF67D}" destId="{C95551C8-8DC2-4AC8-882F-AC3236D2BCAE}" srcOrd="0" destOrd="0" presId="urn:microsoft.com/office/officeart/2018/2/layout/IconVerticalSolidList"/>
    <dgm:cxn modelId="{BC6A182C-1BB1-4577-B35D-86A347352796}" type="presParOf" srcId="{C95551C8-8DC2-4AC8-882F-AC3236D2BCAE}" destId="{FD35FE30-7F7B-4DF3-987F-DFFF7A9034B4}" srcOrd="0" destOrd="0" presId="urn:microsoft.com/office/officeart/2018/2/layout/IconVerticalSolidList"/>
    <dgm:cxn modelId="{DC0C4F47-3B46-4E76-8413-9AE0913BBE7A}" type="presParOf" srcId="{C95551C8-8DC2-4AC8-882F-AC3236D2BCAE}" destId="{CFF3D3AC-D7F5-4395-BBAA-84D531ED3702}" srcOrd="1" destOrd="0" presId="urn:microsoft.com/office/officeart/2018/2/layout/IconVerticalSolidList"/>
    <dgm:cxn modelId="{4915EE67-98C0-4EEF-A681-3A4737E1A073}" type="presParOf" srcId="{C95551C8-8DC2-4AC8-882F-AC3236D2BCAE}" destId="{BB184E74-CFB4-4C9C-9DF9-284A60AB82F5}" srcOrd="2" destOrd="0" presId="urn:microsoft.com/office/officeart/2018/2/layout/IconVerticalSolidList"/>
    <dgm:cxn modelId="{E67BD0C3-B46F-415B-A1F9-6AFCC3337FD1}" type="presParOf" srcId="{C95551C8-8DC2-4AC8-882F-AC3236D2BCAE}" destId="{9B5DE1D7-6545-411D-825B-D78D711DB6EB}" srcOrd="3" destOrd="0" presId="urn:microsoft.com/office/officeart/2018/2/layout/IconVerticalSolidList"/>
    <dgm:cxn modelId="{F3CD73FD-4648-42DF-AA58-C8E76ACB1111}" type="presParOf" srcId="{C95551C8-8DC2-4AC8-882F-AC3236D2BCAE}" destId="{377E4A4B-3CEE-44E7-8B15-E1DC65090C2B}" srcOrd="4" destOrd="0" presId="urn:microsoft.com/office/officeart/2018/2/layout/IconVerticalSolidList"/>
    <dgm:cxn modelId="{2106AF5A-C344-4DB0-AC3E-44770F5AC2D4}" type="presParOf" srcId="{C6671F51-7EC2-4076-BA3A-53206D1EF67D}" destId="{12D6C744-7931-4D34-B3C9-3AD83DABD00B}" srcOrd="1" destOrd="0" presId="urn:microsoft.com/office/officeart/2018/2/layout/IconVerticalSolidList"/>
    <dgm:cxn modelId="{AC10D884-3313-4771-8945-2388318A4143}" type="presParOf" srcId="{C6671F51-7EC2-4076-BA3A-53206D1EF67D}" destId="{C774E4F2-1AFF-46C2-9187-9F77608E2C77}" srcOrd="2" destOrd="0" presId="urn:microsoft.com/office/officeart/2018/2/layout/IconVerticalSolidList"/>
    <dgm:cxn modelId="{1D5FC26A-1849-464A-89DD-CA31AB51B826}" type="presParOf" srcId="{C774E4F2-1AFF-46C2-9187-9F77608E2C77}" destId="{FD89909E-1827-4812-A97D-00A43970CFA4}" srcOrd="0" destOrd="0" presId="urn:microsoft.com/office/officeart/2018/2/layout/IconVerticalSolidList"/>
    <dgm:cxn modelId="{FFBCC5EA-8509-4875-93BF-D931EFC8BAEF}" type="presParOf" srcId="{C774E4F2-1AFF-46C2-9187-9F77608E2C77}" destId="{D78A2A93-6BAC-4A84-A1B4-13AD395F04A8}" srcOrd="1" destOrd="0" presId="urn:microsoft.com/office/officeart/2018/2/layout/IconVerticalSolidList"/>
    <dgm:cxn modelId="{91A47818-37C3-4A3A-B63C-0DC1F390939D}" type="presParOf" srcId="{C774E4F2-1AFF-46C2-9187-9F77608E2C77}" destId="{8BDF9879-7E39-4536-81DA-5D8DCED1062B}" srcOrd="2" destOrd="0" presId="urn:microsoft.com/office/officeart/2018/2/layout/IconVerticalSolidList"/>
    <dgm:cxn modelId="{E50ED2DF-8F9D-4B6D-AAC5-8223E61CD82D}" type="presParOf" srcId="{C774E4F2-1AFF-46C2-9187-9F77608E2C77}" destId="{491EFB21-0EBE-4917-9E71-571E6FFEDB2B}" srcOrd="3" destOrd="0" presId="urn:microsoft.com/office/officeart/2018/2/layout/IconVerticalSolidList"/>
    <dgm:cxn modelId="{81C50D00-2E9A-4015-9B77-83D4423CAD58}" type="presParOf" srcId="{C774E4F2-1AFF-46C2-9187-9F77608E2C77}" destId="{1FBBA1BE-5097-4D83-A1F4-B04D89844BE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660BCA-6E12-4B7A-9DF7-A8E00F65553D}">
      <dsp:nvSpPr>
        <dsp:cNvPr id="0" name=""/>
        <dsp:cNvSpPr/>
      </dsp:nvSpPr>
      <dsp:spPr>
        <a:xfrm>
          <a:off x="0" y="3410021"/>
          <a:ext cx="6797675" cy="22373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RL is best when the environment is too large to explore exhaustively (</a:t>
          </a:r>
          <a:r>
            <a:rPr lang="en-US" sz="2800" b="1" i="1" kern="1200"/>
            <a:t>Deep-Q learning</a:t>
          </a:r>
          <a:r>
            <a:rPr lang="en-US" sz="2800" kern="1200"/>
            <a:t>)</a:t>
          </a:r>
        </a:p>
      </dsp:txBody>
      <dsp:txXfrm>
        <a:off x="0" y="3410021"/>
        <a:ext cx="6797675" cy="2237343"/>
      </dsp:txXfrm>
    </dsp:sp>
    <dsp:sp modelId="{5AF0425C-611E-4BEE-8EAF-046FAB1DE14C}">
      <dsp:nvSpPr>
        <dsp:cNvPr id="0" name=""/>
        <dsp:cNvSpPr/>
      </dsp:nvSpPr>
      <dsp:spPr>
        <a:xfrm rot="10800000">
          <a:off x="0" y="2547"/>
          <a:ext cx="6797675" cy="3441033"/>
        </a:xfrm>
        <a:prstGeom prst="upArrowCallout">
          <a:avLst/>
        </a:prstGeom>
        <a:solidFill>
          <a:schemeClr val="accent2">
            <a:hueOff val="-1331824"/>
            <a:satOff val="-586"/>
            <a:lumOff val="156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When answering yes to the following questions, RL may be the method to use</a:t>
          </a:r>
        </a:p>
      </dsp:txBody>
      <dsp:txXfrm rot="-10800000">
        <a:off x="0" y="2547"/>
        <a:ext cx="6797675" cy="1207802"/>
      </dsp:txXfrm>
    </dsp:sp>
    <dsp:sp modelId="{28BF6233-C2B3-455F-93D2-9488302AD977}">
      <dsp:nvSpPr>
        <dsp:cNvPr id="0" name=""/>
        <dsp:cNvSpPr/>
      </dsp:nvSpPr>
      <dsp:spPr>
        <a:xfrm>
          <a:off x="3319" y="1210350"/>
          <a:ext cx="2263678" cy="102886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Can the problem be conceptualized as an agent interacting with an environment?</a:t>
          </a:r>
        </a:p>
      </dsp:txBody>
      <dsp:txXfrm>
        <a:off x="3319" y="1210350"/>
        <a:ext cx="2263678" cy="1028869"/>
      </dsp:txXfrm>
    </dsp:sp>
    <dsp:sp modelId="{B32FD2FE-11BA-4E77-A285-24F1C51F5A9D}">
      <dsp:nvSpPr>
        <dsp:cNvPr id="0" name=""/>
        <dsp:cNvSpPr/>
      </dsp:nvSpPr>
      <dsp:spPr>
        <a:xfrm>
          <a:off x="2266998" y="1210350"/>
          <a:ext cx="2263678" cy="1028869"/>
        </a:xfrm>
        <a:prstGeom prst="rect">
          <a:avLst/>
        </a:prstGeom>
        <a:solidFill>
          <a:schemeClr val="accent2">
            <a:tint val="40000"/>
            <a:alpha val="90000"/>
            <a:hueOff val="-928920"/>
            <a:satOff val="1961"/>
            <a:lumOff val="20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928920"/>
              <a:satOff val="1961"/>
              <a:lumOff val="20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Can the agent take actions that affect the outcomes?</a:t>
          </a:r>
        </a:p>
      </dsp:txBody>
      <dsp:txXfrm>
        <a:off x="2266998" y="1210350"/>
        <a:ext cx="2263678" cy="1028869"/>
      </dsp:txXfrm>
    </dsp:sp>
    <dsp:sp modelId="{D574EEDA-5E00-4869-B275-121D4C29E936}">
      <dsp:nvSpPr>
        <dsp:cNvPr id="0" name=""/>
        <dsp:cNvSpPr/>
      </dsp:nvSpPr>
      <dsp:spPr>
        <a:xfrm>
          <a:off x="4530676" y="1210350"/>
          <a:ext cx="2263678" cy="1028869"/>
        </a:xfrm>
        <a:prstGeom prst="rect">
          <a:avLst/>
        </a:prstGeom>
        <a:solidFill>
          <a:schemeClr val="accent2">
            <a:tint val="40000"/>
            <a:alpha val="90000"/>
            <a:hueOff val="-1857840"/>
            <a:satOff val="3922"/>
            <a:lumOff val="404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857840"/>
              <a:satOff val="3922"/>
              <a:lumOff val="4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21590" rIns="120904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 there a clear notion of reward?</a:t>
          </a:r>
        </a:p>
      </dsp:txBody>
      <dsp:txXfrm>
        <a:off x="4530676" y="1210350"/>
        <a:ext cx="2263678" cy="10288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5FE30-7F7B-4DF3-987F-DFFF7A9034B4}">
      <dsp:nvSpPr>
        <dsp:cNvPr id="0" name=""/>
        <dsp:cNvSpPr/>
      </dsp:nvSpPr>
      <dsp:spPr>
        <a:xfrm>
          <a:off x="0" y="653795"/>
          <a:ext cx="10058399" cy="12070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F3D3AC-D7F5-4395-BBAA-84D531ED3702}">
      <dsp:nvSpPr>
        <dsp:cNvPr id="0" name=""/>
        <dsp:cNvSpPr/>
      </dsp:nvSpPr>
      <dsp:spPr>
        <a:xfrm>
          <a:off x="365119" y="925372"/>
          <a:ext cx="663854" cy="6638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5DE1D7-6545-411D-825B-D78D711DB6EB}">
      <dsp:nvSpPr>
        <dsp:cNvPr id="0" name=""/>
        <dsp:cNvSpPr/>
      </dsp:nvSpPr>
      <dsp:spPr>
        <a:xfrm>
          <a:off x="1394094" y="653795"/>
          <a:ext cx="4526280" cy="1207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42" tIns="127742" rIns="127742" bIns="12774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Supervised Learning is </a:t>
          </a:r>
          <a:r>
            <a:rPr lang="en-US" sz="2100" i="1" kern="1200"/>
            <a:t>interpolation over a known dataset</a:t>
          </a:r>
          <a:endParaRPr lang="en-US" sz="2100" kern="1200"/>
        </a:p>
      </dsp:txBody>
      <dsp:txXfrm>
        <a:off x="1394094" y="653795"/>
        <a:ext cx="4526280" cy="1207008"/>
      </dsp:txXfrm>
    </dsp:sp>
    <dsp:sp modelId="{377E4A4B-3CEE-44E7-8B15-E1DC65090C2B}">
      <dsp:nvSpPr>
        <dsp:cNvPr id="0" name=""/>
        <dsp:cNvSpPr/>
      </dsp:nvSpPr>
      <dsp:spPr>
        <a:xfrm>
          <a:off x="5920374" y="653795"/>
          <a:ext cx="4138025" cy="1207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42" tIns="127742" rIns="127742" bIns="12774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requires someone to have solved the problem already (to label the data)</a:t>
          </a:r>
        </a:p>
      </dsp:txBody>
      <dsp:txXfrm>
        <a:off x="5920374" y="653795"/>
        <a:ext cx="4138025" cy="1207008"/>
      </dsp:txXfrm>
    </dsp:sp>
    <dsp:sp modelId="{FD89909E-1827-4812-A97D-00A43970CFA4}">
      <dsp:nvSpPr>
        <dsp:cNvPr id="0" name=""/>
        <dsp:cNvSpPr/>
      </dsp:nvSpPr>
      <dsp:spPr>
        <a:xfrm>
          <a:off x="0" y="2162556"/>
          <a:ext cx="10058399" cy="12070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8A2A93-6BAC-4A84-A1B4-13AD395F04A8}">
      <dsp:nvSpPr>
        <dsp:cNvPr id="0" name=""/>
        <dsp:cNvSpPr/>
      </dsp:nvSpPr>
      <dsp:spPr>
        <a:xfrm>
          <a:off x="365119" y="2434132"/>
          <a:ext cx="663854" cy="6638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1EFB21-0EBE-4917-9E71-571E6FFEDB2B}">
      <dsp:nvSpPr>
        <dsp:cNvPr id="0" name=""/>
        <dsp:cNvSpPr/>
      </dsp:nvSpPr>
      <dsp:spPr>
        <a:xfrm>
          <a:off x="1394094" y="2162556"/>
          <a:ext cx="4526280" cy="1207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42" tIns="127742" rIns="127742" bIns="127742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Reinforcement Learning is </a:t>
          </a:r>
          <a:r>
            <a:rPr lang="en-US" sz="2100" i="1" kern="1200"/>
            <a:t>optimization via self-generated experience</a:t>
          </a:r>
          <a:r>
            <a:rPr lang="en-US" sz="2100" kern="1200"/>
            <a:t>. </a:t>
          </a:r>
        </a:p>
      </dsp:txBody>
      <dsp:txXfrm>
        <a:off x="1394094" y="2162556"/>
        <a:ext cx="4526280" cy="1207008"/>
      </dsp:txXfrm>
    </dsp:sp>
    <dsp:sp modelId="{1FBBA1BE-5097-4D83-A1F4-B04D89844BE0}">
      <dsp:nvSpPr>
        <dsp:cNvPr id="0" name=""/>
        <dsp:cNvSpPr/>
      </dsp:nvSpPr>
      <dsp:spPr>
        <a:xfrm>
          <a:off x="5920374" y="2162556"/>
          <a:ext cx="4138025" cy="1207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42" tIns="127742" rIns="127742" bIns="12774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can, in principle, discover solutions to problems no human has solved</a:t>
          </a:r>
        </a:p>
      </dsp:txBody>
      <dsp:txXfrm>
        <a:off x="5920374" y="2162556"/>
        <a:ext cx="4138025" cy="12070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38EB4-1D36-4B3A-ACBA-60C17611C5FF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A283F8-A455-4FFE-A444-AD9C105B7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68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2215-7059-470B-A089-3D5FBCE3F59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2B86-F451-49C3-AC91-EBC7470241F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641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2215-7059-470B-A089-3D5FBCE3F59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2B86-F451-49C3-AC91-EBC74702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76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2215-7059-470B-A089-3D5FBCE3F59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2B86-F451-49C3-AC91-EBC7470241F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2883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2215-7059-470B-A089-3D5FBCE3F59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2B86-F451-49C3-AC91-EBC74702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3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2215-7059-470B-A089-3D5FBCE3F59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2B86-F451-49C3-AC91-EBC74702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4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2215-7059-470B-A089-3D5FBCE3F59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2B86-F451-49C3-AC91-EBC74702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432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2215-7059-470B-A089-3D5FBCE3F59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2B86-F451-49C3-AC91-EBC74702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94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DB82215-7059-470B-A089-3D5FBCE3F59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8BA2B86-F451-49C3-AC91-EBC74702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43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2215-7059-470B-A089-3D5FBCE3F59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2B86-F451-49C3-AC91-EBC74702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7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2215-7059-470B-A089-3D5FBCE3F59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2B86-F451-49C3-AC91-EBC74702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2215-7059-470B-A089-3D5FBCE3F59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A2B86-F451-49C3-AC91-EBC747024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980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3497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DB82215-7059-470B-A089-3D5FBCE3F595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8BA2B86-F451-49C3-AC91-EBC7470241F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004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16E5-E374-35F4-3FEE-941E2E2B42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Reinforcement Learning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1C3BD-1D9A-7CDF-A29F-5CF1DCC3D7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13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C825CC-7D59-148E-A836-EC9B483C4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2961800" cy="21114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Reinforcement Learning (RL)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F2DD6D-A899-6806-1C83-91E179ABB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6432" y="2398080"/>
            <a:ext cx="2944817" cy="3471013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500"/>
              <a:t>Reinforcement Learning brings us closer to what many people traditionally imagine as “Artificial Intelligence”</a:t>
            </a:r>
          </a:p>
          <a:p>
            <a:pPr lvl="1"/>
            <a:r>
              <a:rPr lang="en-US" sz="1500"/>
              <a:t>Not classifying images or predicting numbers</a:t>
            </a:r>
          </a:p>
          <a:p>
            <a:pPr lvl="1"/>
            <a:r>
              <a:rPr lang="en-US" sz="1500"/>
              <a:t>RL help programs learn chess and robots learn to walk</a:t>
            </a:r>
          </a:p>
          <a:p>
            <a:r>
              <a:rPr lang="en-US" sz="1500"/>
              <a:t>RL is a field of machine learning that tackles problems where an </a:t>
            </a:r>
            <a:r>
              <a:rPr lang="en-US" sz="1500" b="1"/>
              <a:t>agent</a:t>
            </a:r>
            <a:r>
              <a:rPr lang="en-US" sz="1500"/>
              <a:t> learns by interacting with an </a:t>
            </a:r>
            <a:r>
              <a:rPr lang="en-US" sz="1500" b="1"/>
              <a:t>environment</a:t>
            </a:r>
          </a:p>
        </p:txBody>
      </p:sp>
      <p:pic>
        <p:nvPicPr>
          <p:cNvPr id="8" name="Content Placeholder 7" descr="A diagram of a diagram of a brain&#10;&#10;AI-generated content may be incorrect.">
            <a:extLst>
              <a:ext uri="{FF2B5EF4-FFF2-40B4-BE49-F238E27FC236}">
                <a16:creationId xmlns:a16="http://schemas.microsoft.com/office/drawing/2014/main" id="{F18B36E9-C162-E3B6-AB86-5734DEB124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446" y="1363093"/>
            <a:ext cx="6905511" cy="360812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9FF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3B49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22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03258A-52C6-4288-AA56-C3262A0D2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73ECEC8-0F24-45B8-950F-35FC94BCE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836603-E643-EF06-5196-8ABB34715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The agent-environment loop</a:t>
            </a:r>
          </a:p>
        </p:txBody>
      </p:sp>
      <p:pic>
        <p:nvPicPr>
          <p:cNvPr id="6" name="Content Placeholder 5" descr="A cartoon character with a mustache and a red hat&#10;&#10;AI-generated content may be incorrect.">
            <a:extLst>
              <a:ext uri="{FF2B5EF4-FFF2-40B4-BE49-F238E27FC236}">
                <a16:creationId xmlns:a16="http://schemas.microsoft.com/office/drawing/2014/main" id="{988B9FF0-D748-62BA-8EC5-F0F43AA6A8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12" b="1"/>
          <a:stretch/>
        </p:blipFill>
        <p:spPr>
          <a:xfrm>
            <a:off x="633999" y="640081"/>
            <a:ext cx="6909801" cy="531440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9EB8C68-FF1B-4849-867B-32D29B19F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2ECA9E-298C-1C40-CE1F-C3EF03B78F6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859485" y="2198914"/>
                <a:ext cx="3690257" cy="3670180"/>
              </a:xfrm>
            </p:spPr>
            <p:txBody>
              <a:bodyPr vert="horz" lIns="0" tIns="45720" rIns="0" bIns="45720" rtlCol="0">
                <a:normAutofit/>
              </a:bodyPr>
              <a:lstStyle/>
              <a:p>
                <a:r>
                  <a:rPr lang="en-US" dirty="0"/>
                  <a:t>An agent explores an environment</a:t>
                </a:r>
              </a:p>
              <a:p>
                <a:pPr lvl="1"/>
                <a:r>
                  <a:rPr lang="en-US" dirty="0"/>
                  <a:t>It perceives a state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chooses an action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environment transitions to a new state and returns a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Think: Teaching a dog to sit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2ECA9E-298C-1C40-CE1F-C3EF03B78F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859485" y="2198914"/>
                <a:ext cx="3690257" cy="3670180"/>
              </a:xfrm>
              <a:blipFill>
                <a:blip r:embed="rId3"/>
                <a:stretch>
                  <a:fillRect l="-1650" t="-1827" r="-3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7D417315-0A35-4882-ABD2-ABE3C89E5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53612E-ADB2-4457-9688-89506397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774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493E1F-E574-4E01-AF40-DF1A4DC2C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2961800" cy="21114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Policy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0AEF6D-CB81-A49A-B4CD-85ECE4B7DDC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76432" y="2398080"/>
                <a:ext cx="2944817" cy="3471013"/>
              </a:xfrm>
            </p:spPr>
            <p:txBody>
              <a:bodyPr vert="horz" lIns="0" tIns="45720" rIns="0" bIns="45720" rtlCol="0">
                <a:normAutofit/>
              </a:bodyPr>
              <a:lstStyle/>
              <a:p>
                <a:r>
                  <a:rPr lang="en-US" sz="1500"/>
                  <a:t>How an agent chooses actions</a:t>
                </a:r>
              </a:p>
              <a:p>
                <a:pPr lvl="1"/>
                <a:r>
                  <a:rPr lang="en-US" sz="1500"/>
                  <a:t>A policy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→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500"/>
                  <a:t>maps states to actions </a:t>
                </a:r>
              </a:p>
              <a:p>
                <a:r>
                  <a:rPr lang="en-US" sz="1500"/>
                  <a:t>Policies can be </a:t>
                </a:r>
              </a:p>
              <a:p>
                <a:pPr lvl="1"/>
                <a:r>
                  <a:rPr lang="en-US" sz="1500"/>
                  <a:t>Deterministic – fixed action for each state</a:t>
                </a:r>
              </a:p>
              <a:p>
                <a:pPr lvl="1"/>
                <a:r>
                  <a:rPr lang="en-US" sz="1500"/>
                  <a:t>Stochastic – probabilistic actions given the state</a:t>
                </a:r>
              </a:p>
              <a:p>
                <a:r>
                  <a:rPr lang="en-US" sz="1500"/>
                  <a:t>As the agent follows the policy, it generates a </a:t>
                </a:r>
                <a:r>
                  <a:rPr lang="en-US" sz="1500" b="1"/>
                  <a:t>trajectory – series of states and actions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0AEF6D-CB81-A49A-B4CD-85ECE4B7DD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76432" y="2398080"/>
                <a:ext cx="2944817" cy="3471013"/>
              </a:xfrm>
              <a:blipFill>
                <a:blip r:embed="rId2"/>
                <a:stretch>
                  <a:fillRect l="-828" t="-877" r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ontent Placeholder 9" descr="A diagram of a business strategy&#10;&#10;AI-generated content may be incorrect.">
            <a:extLst>
              <a:ext uri="{FF2B5EF4-FFF2-40B4-BE49-F238E27FC236}">
                <a16:creationId xmlns:a16="http://schemas.microsoft.com/office/drawing/2014/main" id="{ED280782-CF66-09CE-F834-1A2343EEA2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446" y="922867"/>
            <a:ext cx="6905511" cy="448858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858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03258A-52C6-4288-AA56-C3262A0D2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ACC8CA-6CD3-1996-A78B-01DBA5389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rgbClr val="A0885D"/>
                </a:solidFill>
              </a:rPr>
              <a:t>Rewards and Return</a:t>
            </a:r>
          </a:p>
        </p:txBody>
      </p:sp>
      <p:pic>
        <p:nvPicPr>
          <p:cNvPr id="6" name="Content Placeholder 5" descr="Trophy">
            <a:extLst>
              <a:ext uri="{FF2B5EF4-FFF2-40B4-BE49-F238E27FC236}">
                <a16:creationId xmlns:a16="http://schemas.microsoft.com/office/drawing/2014/main" id="{BA8BA091-2ADD-8894-E8C6-38199D7391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97" r="28964" b="-2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6DFF5E-7793-6E82-DFD8-84F7C351A71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181601" y="2198914"/>
                <a:ext cx="6368142" cy="3670180"/>
              </a:xfrm>
            </p:spPr>
            <p:txBody>
              <a:bodyPr vert="horz" lIns="0" tIns="45720" rIns="0" bIns="45720" rtlCol="0">
                <a:normAutofit/>
              </a:bodyPr>
              <a:lstStyle/>
              <a:p>
                <a:r>
                  <a:rPr lang="en-US" dirty="0"/>
                  <a:t>The agent gets a reward at each time step</a:t>
                </a:r>
              </a:p>
              <a:p>
                <a:pPr lvl="1"/>
                <a:r>
                  <a:rPr lang="en-US" dirty="0"/>
                  <a:t>Rewards accumulate into a return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discount factor </a:t>
                </a:r>
                <a:r>
                  <a:rPr lang="en-US" i="1" dirty="0"/>
                  <a:t>[0,1]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looking for short-term gains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≈ 1 </m:t>
                    </m:r>
                  </m:oMath>
                </a14:m>
                <a:r>
                  <a:rPr lang="en-US" dirty="0"/>
                  <a:t>planning for future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6DFF5E-7793-6E82-DFD8-84F7C351A7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181601" y="2198914"/>
                <a:ext cx="6368142" cy="3670180"/>
              </a:xfrm>
              <a:blipFill>
                <a:blip r:embed="rId3"/>
                <a:stretch>
                  <a:fillRect l="-2392" t="-1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9512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9B4056F-1959-4627-A683-77F6C0603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47B521B5-0CED-85F6-3E6D-3D37999BC9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755981"/>
            <a:ext cx="10925102" cy="333215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8D7349B-C9FA-4FCE-A1FF-948F460A3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554906"/>
            <a:ext cx="12188952" cy="2303094"/>
          </a:xfrm>
          <a:prstGeom prst="rect">
            <a:avLst/>
          </a:prstGeom>
          <a:solidFill>
            <a:srgbClr val="73B2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5B511-5B24-3637-49F7-ED5C04415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8" y="4905301"/>
            <a:ext cx="4988879" cy="15544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Value Functions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F746F9-E85F-4BED-9D7E-562262E8B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554906"/>
            <a:ext cx="12188952" cy="64008"/>
          </a:xfrm>
          <a:prstGeom prst="rect">
            <a:avLst/>
          </a:prstGeom>
          <a:solidFill>
            <a:srgbClr val="77C9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646586-8E5D-4A2B-BDA9-01CE28AC8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0770" y="5247564"/>
            <a:ext cx="0" cy="873457"/>
          </a:xfrm>
          <a:prstGeom prst="line">
            <a:avLst/>
          </a:prstGeom>
          <a:ln w="15875">
            <a:solidFill>
              <a:srgbClr val="77C9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ECA552-3705-5426-7A46-6D73618F850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064301" y="4905300"/>
                <a:ext cx="5493699" cy="1554485"/>
              </a:xfrm>
            </p:spPr>
            <p:txBody>
              <a:bodyPr vert="horz" lIns="0" tIns="45720" rIns="0" bIns="45720" rtlCol="0" anchor="ctr">
                <a:normAutofit/>
              </a:bodyPr>
              <a:lstStyle/>
              <a:p>
                <a:r>
                  <a:rPr lang="en-US" sz="1300">
                    <a:solidFill>
                      <a:srgbClr val="FFFFFF"/>
                    </a:solidFill>
                  </a:rPr>
                  <a:t>We estimate how good it is to be in a state </a:t>
                </a:r>
                <a14:m>
                  <m:oMath xmlns:m="http://schemas.openxmlformats.org/officeDocument/2006/math">
                    <m:r>
                      <a:rPr lang="en-US" sz="130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300">
                    <a:solidFill>
                      <a:srgbClr val="FFFFFF"/>
                    </a:solidFill>
                  </a:rPr>
                  <a:t> with</a:t>
                </a:r>
              </a:p>
              <a:p>
                <a:pPr lvl="1"/>
                <a:r>
                  <a:rPr lang="en-US" sz="1300">
                    <a:solidFill>
                      <a:srgbClr val="FFFFFF"/>
                    </a:solidFill>
                  </a:rPr>
                  <a:t>State Value Function: </a:t>
                </a:r>
                <a:br>
                  <a:rPr lang="en-US" sz="1300">
                    <a:solidFill>
                      <a:srgbClr val="FFFFFF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1300" b="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300" b="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300" b="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300" b="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1300" b="0">
                  <a:solidFill>
                    <a:srgbClr val="FFFFFF"/>
                  </a:solidFill>
                </a:endParaRPr>
              </a:p>
              <a:p>
                <a:pPr lvl="1"/>
                <a:r>
                  <a:rPr lang="en-US" sz="1300">
                    <a:solidFill>
                      <a:srgbClr val="FFFFFF"/>
                    </a:solidFill>
                  </a:rPr>
                  <a:t>Action Value Function: </a:t>
                </a:r>
                <a:br>
                  <a:rPr lang="en-US" sz="1300">
                    <a:solidFill>
                      <a:srgbClr val="FFFFFF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300" b="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300" b="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1300" b="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300" b="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300" b="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300" b="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300" b="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US" sz="1300" b="0">
                  <a:solidFill>
                    <a:srgbClr val="FFFFFF"/>
                  </a:solidFill>
                </a:endParaRPr>
              </a:p>
              <a:p>
                <a:r>
                  <a:rPr lang="en-US" sz="1300">
                    <a:solidFill>
                      <a:srgbClr val="FFFFFF"/>
                    </a:solidFill>
                  </a:rPr>
                  <a:t>Guides agent toward better decisions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ECA552-3705-5426-7A46-6D73618F85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64301" y="4905300"/>
                <a:ext cx="5493699" cy="1554485"/>
              </a:xfrm>
              <a:blipFill>
                <a:blip r:embed="rId3"/>
                <a:stretch>
                  <a:fillRect l="-222" b="-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9872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5ED8D-D0BC-938D-004B-180BEEF3F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2961800" cy="21114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Types of RL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035C56-5550-C06D-6DC4-1779285FA53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76432" y="2398080"/>
                <a:ext cx="2944817" cy="3471013"/>
              </a:xfrm>
            </p:spPr>
            <p:txBody>
              <a:bodyPr vert="horz" lIns="0" tIns="45720" rIns="0" bIns="45720" rtlCol="0">
                <a:normAutofit/>
              </a:bodyPr>
              <a:lstStyle/>
              <a:p>
                <a:r>
                  <a:rPr lang="en-US" b="1" dirty="0"/>
                  <a:t>Value-Based Methods </a:t>
                </a:r>
                <a:r>
                  <a:rPr lang="en-US" dirty="0"/>
                  <a:t>– learn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, then derive the policy (often called </a:t>
                </a:r>
                <a:r>
                  <a:rPr lang="en-US" i="1" dirty="0"/>
                  <a:t>Q</a:t>
                </a:r>
                <a:r>
                  <a:rPr lang="en-US" dirty="0"/>
                  <a:t>-learning)</a:t>
                </a:r>
              </a:p>
              <a:p>
                <a:r>
                  <a:rPr lang="en-US" b="1" dirty="0"/>
                  <a:t>Policy-Based Methods </a:t>
                </a:r>
                <a:r>
                  <a:rPr lang="en-US" dirty="0"/>
                  <a:t>– optimize the policy to maximize return (policy gradients)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035C56-5550-C06D-6DC4-1779285FA5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76432" y="2398080"/>
                <a:ext cx="2944817" cy="3471013"/>
              </a:xfrm>
              <a:blipFill>
                <a:blip r:embed="rId2"/>
                <a:stretch>
                  <a:fillRect l="-2277" t="-1754" r="-3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 descr="A diagram of a diagram&#10;&#10;AI-generated content may be incorrect.">
            <a:extLst>
              <a:ext uri="{FF2B5EF4-FFF2-40B4-BE49-F238E27FC236}">
                <a16:creationId xmlns:a16="http://schemas.microsoft.com/office/drawing/2014/main" id="{714CEC0A-CA63-AD4F-4F0C-48EFC92362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446" y="819284"/>
            <a:ext cx="6905511" cy="469574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1AA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245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CFCE1-9515-79CF-247E-84F2740E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Using Reinforcement Learning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69F804-A677-4B75-95F4-A5E4426FB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98675B-FC21-C812-9AE4-97645C15E0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2788094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0254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D7D9-2B27-C177-31D7-25C451928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 message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6836BF-749B-D33C-6670-383FAE28FB0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5396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70560" y="158496"/>
            <a:ext cx="85344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533" b="1" dirty="0">
                <a:solidFill>
                  <a:srgbClr val="2E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AlphaZero</a:t>
            </a:r>
            <a:endParaRPr lang="en-US" sz="4533" dirty="0"/>
          </a:p>
        </p:txBody>
      </p:sp>
      <p:sp>
        <p:nvSpPr>
          <p:cNvPr id="5" name="Text 3"/>
          <p:cNvSpPr/>
          <p:nvPr/>
        </p:nvSpPr>
        <p:spPr>
          <a:xfrm>
            <a:off x="670560" y="737180"/>
            <a:ext cx="1036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in practice  ·  DeepMind, 2017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0560" y="944880"/>
            <a:ext cx="975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2E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AlphaZero is a general-purpose RL agent that mastered Go, Chess, and Shogi from scratch through self-play alone — no human games, no hand-crafted evaluation functions. A single neural network learns both a policy</a:t>
            </a:r>
            <a:r>
              <a:rPr lang="en-US" sz="1467" i="1" dirty="0">
                <a:solidFill>
                  <a:srgbClr val="2E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π(a|s) </a:t>
            </a:r>
            <a:r>
              <a:rPr lang="en-US" sz="1467" dirty="0">
                <a:solidFill>
                  <a:srgbClr val="2E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value function </a:t>
            </a:r>
            <a:r>
              <a:rPr lang="en-US" sz="1467" i="1" dirty="0">
                <a:solidFill>
                  <a:srgbClr val="2E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v(s)</a:t>
            </a:r>
            <a:r>
              <a:rPr lang="en-US" sz="1467" dirty="0">
                <a:solidFill>
                  <a:srgbClr val="2E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guided by Monte Carlo tree search. Within hours it surpassed the best domain-specific engines ever built.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670560" y="2097024"/>
            <a:ext cx="11094720" cy="3048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9875520" y="158496"/>
            <a:ext cx="1889760" cy="426720"/>
          </a:xfrm>
          <a:prstGeom prst="rect">
            <a:avLst/>
          </a:prstGeom>
          <a:solidFill>
            <a:srgbClr val="E8612C"/>
          </a:solidFill>
          <a:ln w="12700">
            <a:solidFill>
              <a:srgbClr val="E8612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9875520" y="158496"/>
            <a:ext cx="1889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0560" y="2292096"/>
            <a:ext cx="2170176" cy="1402080"/>
          </a:xfrm>
          <a:prstGeom prst="rect">
            <a:avLst/>
          </a:prstGeom>
          <a:solidFill>
            <a:srgbClr val="F4F6F8"/>
          </a:solidFill>
          <a:ln w="19050">
            <a:solidFill>
              <a:srgbClr val="5A4FC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670560" y="2292096"/>
            <a:ext cx="2170176" cy="121920"/>
          </a:xfrm>
          <a:prstGeom prst="rect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70560" y="2462784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5A4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 π(a|s)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670560" y="2755392"/>
            <a:ext cx="21701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2E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probabilities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670560" y="3108960"/>
            <a:ext cx="217017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outputs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over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board moves</a:t>
            </a:r>
            <a:endParaRPr lang="en-US" sz="1267" dirty="0"/>
          </a:p>
        </p:txBody>
      </p:sp>
      <p:sp>
        <p:nvSpPr>
          <p:cNvPr id="15" name="Shape 13"/>
          <p:cNvSpPr/>
          <p:nvPr/>
        </p:nvSpPr>
        <p:spPr>
          <a:xfrm>
            <a:off x="3499104" y="2292096"/>
            <a:ext cx="2170176" cy="1402080"/>
          </a:xfrm>
          <a:prstGeom prst="rect">
            <a:avLst/>
          </a:prstGeom>
          <a:solidFill>
            <a:srgbClr val="F4F6F8"/>
          </a:solidFill>
          <a:ln w="19050">
            <a:solidFill>
              <a:srgbClr val="2A7DC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3499104" y="2292096"/>
            <a:ext cx="2170176" cy="121920"/>
          </a:xfrm>
          <a:prstGeom prst="rect">
            <a:avLst/>
          </a:prstGeom>
          <a:solidFill>
            <a:srgbClr val="2A7DC9"/>
          </a:solidFill>
          <a:ln w="12700">
            <a:solidFill>
              <a:srgbClr val="2A7DC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3499104" y="2462784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2A7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s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3499104" y="2755392"/>
            <a:ext cx="21701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2E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position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3499104" y="3108960"/>
            <a:ext cx="217017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piece layout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as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input</a:t>
            </a:r>
            <a:endParaRPr lang="en-US" sz="1267" dirty="0"/>
          </a:p>
        </p:txBody>
      </p:sp>
      <p:sp>
        <p:nvSpPr>
          <p:cNvPr id="20" name="Shape 18"/>
          <p:cNvSpPr/>
          <p:nvPr/>
        </p:nvSpPr>
        <p:spPr>
          <a:xfrm>
            <a:off x="6327648" y="2292096"/>
            <a:ext cx="2170176" cy="1402080"/>
          </a:xfrm>
          <a:prstGeom prst="rect">
            <a:avLst/>
          </a:prstGeom>
          <a:solidFill>
            <a:srgbClr val="F4F6F8"/>
          </a:solidFill>
          <a:ln w="19050">
            <a:solidFill>
              <a:srgbClr val="C47D0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6327648" y="2292096"/>
            <a:ext cx="2170176" cy="121920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6327648" y="2462784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C47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v(s)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6327648" y="2755392"/>
            <a:ext cx="21701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2E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evaluation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6327648" y="3108960"/>
            <a:ext cx="217017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from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board state</a:t>
            </a:r>
            <a:endParaRPr lang="en-US" sz="1267" dirty="0"/>
          </a:p>
        </p:txBody>
      </p:sp>
      <p:sp>
        <p:nvSpPr>
          <p:cNvPr id="25" name="Shape 23"/>
          <p:cNvSpPr/>
          <p:nvPr/>
        </p:nvSpPr>
        <p:spPr>
          <a:xfrm>
            <a:off x="9156192" y="2292096"/>
            <a:ext cx="2170176" cy="1402080"/>
          </a:xfrm>
          <a:prstGeom prst="rect">
            <a:avLst/>
          </a:prstGeom>
          <a:solidFill>
            <a:srgbClr val="F4F6F8"/>
          </a:solidFill>
          <a:ln w="19050">
            <a:solidFill>
              <a:srgbClr val="1E9E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Shape 24"/>
          <p:cNvSpPr/>
          <p:nvPr/>
        </p:nvSpPr>
        <p:spPr>
          <a:xfrm>
            <a:off x="9156192" y="2292096"/>
            <a:ext cx="2170176" cy="121920"/>
          </a:xfrm>
          <a:prstGeom prst="rect">
            <a:avLst/>
          </a:prstGeom>
          <a:solidFill>
            <a:srgbClr val="1E9E6E"/>
          </a:solidFill>
          <a:ln w="12700">
            <a:solidFill>
              <a:srgbClr val="1E9E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9156192" y="2462784"/>
            <a:ext cx="217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 r</a:t>
            </a:r>
            <a:endParaRPr lang="en-US" sz="1333" dirty="0"/>
          </a:p>
        </p:txBody>
      </p:sp>
      <p:sp>
        <p:nvSpPr>
          <p:cNvPr id="28" name="Text 26"/>
          <p:cNvSpPr/>
          <p:nvPr/>
        </p:nvSpPr>
        <p:spPr>
          <a:xfrm>
            <a:off x="9156192" y="2755392"/>
            <a:ext cx="21701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2E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outcome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9156192" y="3108960"/>
            <a:ext cx="217017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win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draw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loss</a:t>
            </a:r>
            <a:endParaRPr lang="en-US" sz="1267" dirty="0"/>
          </a:p>
        </p:txBody>
      </p:sp>
      <p:sp>
        <p:nvSpPr>
          <p:cNvPr id="34" name="Text 32"/>
          <p:cNvSpPr/>
          <p:nvPr/>
        </p:nvSpPr>
        <p:spPr>
          <a:xfrm>
            <a:off x="2840736" y="2706624"/>
            <a:ext cx="6583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a</a:t>
            </a:r>
            <a:endParaRPr lang="en-US" sz="1133" dirty="0"/>
          </a:p>
        </p:txBody>
      </p:sp>
      <p:sp>
        <p:nvSpPr>
          <p:cNvPr id="39" name="Text 37"/>
          <p:cNvSpPr/>
          <p:nvPr/>
        </p:nvSpPr>
        <p:spPr>
          <a:xfrm>
            <a:off x="5669280" y="2706624"/>
            <a:ext cx="6583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33" dirty="0"/>
          </a:p>
        </p:txBody>
      </p:sp>
      <p:sp>
        <p:nvSpPr>
          <p:cNvPr id="44" name="Text 42"/>
          <p:cNvSpPr/>
          <p:nvPr/>
        </p:nvSpPr>
        <p:spPr>
          <a:xfrm>
            <a:off x="8497824" y="2706624"/>
            <a:ext cx="6583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33" dirty="0"/>
          </a:p>
        </p:txBody>
      </p:sp>
      <p:sp>
        <p:nvSpPr>
          <p:cNvPr id="45" name="Text 43"/>
          <p:cNvSpPr/>
          <p:nvPr/>
        </p:nvSpPr>
        <p:spPr>
          <a:xfrm>
            <a:off x="670560" y="3816096"/>
            <a:ext cx="11094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policy updated after each self-play game  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767328" y="4157472"/>
            <a:ext cx="51206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Shape 45"/>
          <p:cNvSpPr/>
          <p:nvPr/>
        </p:nvSpPr>
        <p:spPr>
          <a:xfrm>
            <a:off x="3767328" y="4157472"/>
            <a:ext cx="85344" cy="1280160"/>
          </a:xfrm>
          <a:prstGeom prst="rect">
            <a:avLst/>
          </a:prstGeom>
          <a:solidFill>
            <a:srgbClr val="1E9E6E"/>
          </a:solidFill>
          <a:ln w="12700">
            <a:solidFill>
              <a:srgbClr val="1E9E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8" name="Text 46"/>
          <p:cNvSpPr/>
          <p:nvPr/>
        </p:nvSpPr>
        <p:spPr>
          <a:xfrm>
            <a:off x="3950208" y="4255008"/>
            <a:ext cx="4876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>
                <a:solidFill>
                  <a:srgbClr val="2E3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10¹⁷⁰</a:t>
            </a:r>
            <a:endParaRPr lang="en-US" sz="4267" dirty="0"/>
          </a:p>
        </p:txBody>
      </p:sp>
      <p:sp>
        <p:nvSpPr>
          <p:cNvPr id="49" name="Text 47"/>
          <p:cNvSpPr/>
          <p:nvPr/>
        </p:nvSpPr>
        <p:spPr>
          <a:xfrm>
            <a:off x="3950208" y="4949952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Go positions — brute force is impossible; RL learns to navigate</a:t>
            </a:r>
            <a:endParaRPr lang="en-US" sz="1333" dirty="0"/>
          </a:p>
        </p:txBody>
      </p:sp>
      <p:sp>
        <p:nvSpPr>
          <p:cNvPr id="50" name="Shape 48"/>
          <p:cNvSpPr/>
          <p:nvPr/>
        </p:nvSpPr>
        <p:spPr>
          <a:xfrm>
            <a:off x="0" y="6644640"/>
            <a:ext cx="12192000" cy="213360"/>
          </a:xfrm>
          <a:prstGeom prst="rect">
            <a:avLst/>
          </a:prstGeom>
          <a:solidFill>
            <a:srgbClr val="3B4F6B"/>
          </a:solidFill>
          <a:ln w="12700">
            <a:solidFill>
              <a:srgbClr val="3B4F6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1" name="Text 49"/>
          <p:cNvSpPr/>
          <p:nvPr/>
        </p:nvSpPr>
        <p:spPr>
          <a:xfrm>
            <a:off x="670560" y="6644640"/>
            <a:ext cx="1109472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133" dirty="0">
                <a:solidFill>
                  <a:srgbClr val="AAB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et al., Nature 2017  ·  arXiv:1712.01815</a:t>
            </a:r>
            <a:endParaRPr lang="en-US" sz="1133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B25FB99-2EAD-FDE5-ACEF-7539C540F608}"/>
              </a:ext>
            </a:extLst>
          </p:cNvPr>
          <p:cNvCxnSpPr/>
          <p:nvPr/>
        </p:nvCxnSpPr>
        <p:spPr>
          <a:xfrm>
            <a:off x="2840736" y="3108960"/>
            <a:ext cx="658368" cy="0"/>
          </a:xfrm>
          <a:prstGeom prst="straightConnector1">
            <a:avLst/>
          </a:prstGeom>
          <a:ln w="76200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1CCE2B5-7F42-7823-5231-35CDCE5515BD}"/>
              </a:ext>
            </a:extLst>
          </p:cNvPr>
          <p:cNvCxnSpPr/>
          <p:nvPr/>
        </p:nvCxnSpPr>
        <p:spPr>
          <a:xfrm>
            <a:off x="5676304" y="3136676"/>
            <a:ext cx="658368" cy="0"/>
          </a:xfrm>
          <a:prstGeom prst="straightConnector1">
            <a:avLst/>
          </a:prstGeom>
          <a:ln w="76200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747F3BA-E073-1C09-7861-57030787894F}"/>
              </a:ext>
            </a:extLst>
          </p:cNvPr>
          <p:cNvCxnSpPr/>
          <p:nvPr/>
        </p:nvCxnSpPr>
        <p:spPr>
          <a:xfrm>
            <a:off x="8502633" y="3136676"/>
            <a:ext cx="658368" cy="0"/>
          </a:xfrm>
          <a:prstGeom prst="straightConnector1">
            <a:avLst/>
          </a:prstGeom>
          <a:ln w="76200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0861964-D86C-4A50-8F6D-B466384A6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206B0-B69C-C5CA-A8DE-6DF535747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Gridworld</a:t>
            </a:r>
            <a:endParaRPr lang="en-US" dirty="0"/>
          </a:p>
        </p:txBody>
      </p:sp>
      <p:pic>
        <p:nvPicPr>
          <p:cNvPr id="6" name="Content Placeholder 5" descr="A diagram of a grid with a red dot and blue squares&#10;&#10;AI-generated content may be incorrect.">
            <a:extLst>
              <a:ext uri="{FF2B5EF4-FFF2-40B4-BE49-F238E27FC236}">
                <a16:creationId xmlns:a16="http://schemas.microsoft.com/office/drawing/2014/main" id="{B7AD9CE9-302B-FE35-B69E-B1FD9C5EC7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99" y="799255"/>
            <a:ext cx="6909801" cy="499605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4A678E-8F30-4E92-A5BF-F5D03D011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A4CE0-8264-7063-02B8-2D6A5C6D99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59485" y="2198914"/>
            <a:ext cx="3690257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1500" dirty="0"/>
              <a:t>Simple RL environment to explore these concepts</a:t>
            </a:r>
          </a:p>
          <a:p>
            <a:pPr lvl="1"/>
            <a:r>
              <a:rPr lang="en-US" sz="1500" dirty="0"/>
              <a:t>Grid-based world</a:t>
            </a:r>
          </a:p>
          <a:p>
            <a:pPr lvl="1"/>
            <a:r>
              <a:rPr lang="en-US" sz="1500" dirty="0"/>
              <a:t>Agent moves up/down/left/right</a:t>
            </a:r>
          </a:p>
          <a:p>
            <a:pPr lvl="1"/>
            <a:r>
              <a:rPr lang="en-US" sz="1500" dirty="0"/>
              <a:t>Goal is to reach a designated target square</a:t>
            </a:r>
          </a:p>
          <a:p>
            <a:pPr lvl="1"/>
            <a:r>
              <a:rPr lang="en-US" sz="1500" dirty="0"/>
              <a:t>Rewards: +1 for reaching goal, -1 for invalid moves</a:t>
            </a:r>
          </a:p>
          <a:p>
            <a:r>
              <a:rPr lang="en-US" sz="1500" dirty="0"/>
              <a:t>We should be looking for</a:t>
            </a:r>
          </a:p>
          <a:p>
            <a:pPr lvl="1"/>
            <a:r>
              <a:rPr lang="en-US" sz="1500" dirty="0"/>
              <a:t>Agent Behavior</a:t>
            </a:r>
          </a:p>
          <a:p>
            <a:pPr lvl="1"/>
            <a:r>
              <a:rPr lang="en-US" sz="1500" dirty="0"/>
              <a:t>Different policy effects</a:t>
            </a:r>
          </a:p>
          <a:p>
            <a:pPr lvl="1"/>
            <a:r>
              <a:rPr lang="en-US" sz="1500" dirty="0"/>
              <a:t>How value functions evolve during training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CE8509-9E93-4D74-BF24-661F111C7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302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E8BA98-E13C-403B-AC96-75E203799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69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172</TotalTime>
  <Words>606</Words>
  <Application>Microsoft Office PowerPoint</Application>
  <PresentationFormat>Widescreen</PresentationFormat>
  <Paragraphs>88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Calibri</vt:lpstr>
      <vt:lpstr>Calibri Light</vt:lpstr>
      <vt:lpstr>Cambria Math</vt:lpstr>
      <vt:lpstr>Retrospect</vt:lpstr>
      <vt:lpstr>Reinforcement Learning</vt:lpstr>
      <vt:lpstr>Reinforcement Learning (RL)</vt:lpstr>
      <vt:lpstr>The agent-environment loop</vt:lpstr>
      <vt:lpstr>Policy Functions</vt:lpstr>
      <vt:lpstr>Rewards and Return</vt:lpstr>
      <vt:lpstr>Value Functions</vt:lpstr>
      <vt:lpstr>Types of RL Algorithms</vt:lpstr>
      <vt:lpstr>Using Reinforcement Learning</vt:lpstr>
      <vt:lpstr>Take home message</vt:lpstr>
      <vt:lpstr>PowerPoint Presentation</vt:lpstr>
      <vt:lpstr>Gridworld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Kelley, Tom</dc:creator>
  <cp:lastModifiedBy>Kelley, Tom</cp:lastModifiedBy>
  <cp:revision>5</cp:revision>
  <dcterms:created xsi:type="dcterms:W3CDTF">2025-04-06T19:57:24Z</dcterms:created>
  <dcterms:modified xsi:type="dcterms:W3CDTF">2026-04-09T01:52:43Z</dcterms:modified>
</cp:coreProperties>
</file>