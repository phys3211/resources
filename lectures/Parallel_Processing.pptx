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97AD0-32E6-4AA0-82D1-1E37534A4E6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317A1-2177-4B80-A0E0-A3BB225DB36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698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97AD0-32E6-4AA0-82D1-1E37534A4E6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317A1-2177-4B80-A0E0-A3BB225DB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325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97AD0-32E6-4AA0-82D1-1E37534A4E6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317A1-2177-4B80-A0E0-A3BB225DB36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855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97AD0-32E6-4AA0-82D1-1E37534A4E6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317A1-2177-4B80-A0E0-A3BB225DB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368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97AD0-32E6-4AA0-82D1-1E37534A4E6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317A1-2177-4B80-A0E0-A3BB225DB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152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97AD0-32E6-4AA0-82D1-1E37534A4E6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317A1-2177-4B80-A0E0-A3BB225DB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863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97AD0-32E6-4AA0-82D1-1E37534A4E6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317A1-2177-4B80-A0E0-A3BB225DB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199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97AD0-32E6-4AA0-82D1-1E37534A4E6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0317A1-2177-4B80-A0E0-A3BB225DB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007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97AD0-32E6-4AA0-82D1-1E37534A4E6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317A1-2177-4B80-A0E0-A3BB225DB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512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97AD0-32E6-4AA0-82D1-1E37534A4E6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317A1-2177-4B80-A0E0-A3BB225DB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47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97AD0-32E6-4AA0-82D1-1E37534A4E6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317A1-2177-4B80-A0E0-A3BB225DB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531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2A97AD0-32E6-4AA0-82D1-1E37534A4E6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B0317A1-2177-4B80-A0E0-A3BB225DB36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7903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492B6-8604-E817-47EC-A5D002015A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Parallel 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708AFF-0B3D-A940-E8AA-CC51A2A9D5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Phys 3211</a:t>
            </a:r>
          </a:p>
        </p:txBody>
      </p:sp>
    </p:spTree>
    <p:extLst>
      <p:ext uri="{BB962C8B-B14F-4D97-AF65-F5344CB8AC3E}">
        <p14:creationId xmlns:p14="http://schemas.microsoft.com/office/powerpoint/2010/main" val="1802063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0DD22788-DD05-C1FB-6110-546806C38C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30" r="47602" b="-1"/>
          <a:stretch/>
        </p:blipFill>
        <p:spPr>
          <a:xfrm>
            <a:off x="20" y="10"/>
            <a:ext cx="4578952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9C48B3-6057-4FA3-BFE1-E277D0635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4639733" y="0"/>
            <a:ext cx="7552267" cy="6858000"/>
          </a:xfrm>
          <a:prstGeom prst="rect">
            <a:avLst/>
          </a:prstGeom>
          <a:solidFill>
            <a:srgbClr val="383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0FB281-2923-3259-C1EC-A38450352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4206" y="516835"/>
            <a:ext cx="6339840" cy="1666501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Three types of Parallelism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8BFF5C-9619-41D1-9F73-F5B9D6C662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8972" y="0"/>
            <a:ext cx="64008" cy="6858000"/>
          </a:xfrm>
          <a:prstGeom prst="rect">
            <a:avLst/>
          </a:prstGeom>
          <a:solidFill>
            <a:srgbClr val="04D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D57E9-A527-4B2D-C186-5DFA35641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4206" y="2236304"/>
            <a:ext cx="6339840" cy="3652667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Multi-Threading</a:t>
            </a:r>
          </a:p>
          <a:p>
            <a:r>
              <a:rPr lang="en-US" sz="2400" dirty="0">
                <a:solidFill>
                  <a:srgbClr val="FFFFFF"/>
                </a:solidFill>
              </a:rPr>
              <a:t>Multi-Processing</a:t>
            </a:r>
          </a:p>
          <a:p>
            <a:r>
              <a:rPr lang="en-US" sz="2400" dirty="0">
                <a:solidFill>
                  <a:srgbClr val="FFFFFF"/>
                </a:solidFill>
              </a:rPr>
              <a:t>Asynchronous Programming</a:t>
            </a:r>
          </a:p>
        </p:txBody>
      </p:sp>
    </p:spTree>
    <p:extLst>
      <p:ext uri="{BB962C8B-B14F-4D97-AF65-F5344CB8AC3E}">
        <p14:creationId xmlns:p14="http://schemas.microsoft.com/office/powerpoint/2010/main" val="8224267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0861964-D86C-4A50-8F6D-B466384A6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9D1015-3A1D-1645-0E01-4B3CD5EAC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Multi-Threading</a:t>
            </a:r>
          </a:p>
        </p:txBody>
      </p:sp>
      <p:pic>
        <p:nvPicPr>
          <p:cNvPr id="7" name="Content Placeholder 6" descr="A diagram of a program&#10;&#10;Description automatically generated">
            <a:extLst>
              <a:ext uri="{FF2B5EF4-FFF2-40B4-BE49-F238E27FC236}">
                <a16:creationId xmlns:a16="http://schemas.microsoft.com/office/drawing/2014/main" id="{D64BA828-FAD8-BAC0-2D2D-F1B6BF2CAA6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9" y="1523480"/>
            <a:ext cx="6909801" cy="3547608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54A678E-8F30-4E92-A5BF-F5D03D011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57092A-1093-A907-0DEF-005C3F271B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59485" y="2198914"/>
            <a:ext cx="3690257" cy="3670180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b="0" i="0" dirty="0">
                <a:effectLst/>
              </a:rPr>
              <a:t>Multi-threading is a form of parallelism that allows programs to execute multiple commands concurrently</a:t>
            </a:r>
          </a:p>
          <a:p>
            <a:r>
              <a:rPr lang="en-US" dirty="0"/>
              <a:t>Great for I/O bound tasks (where waiting periods may exist)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CE8509-9E93-4D74-BF24-661F111C7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52CD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E8BA98-E13C-403B-AC96-75E203799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085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8" name="Rectangle 77">
            <a:extLst>
              <a:ext uri="{FF2B5EF4-FFF2-40B4-BE49-F238E27FC236}">
                <a16:creationId xmlns:a16="http://schemas.microsoft.com/office/drawing/2014/main" id="{80861964-D86C-4A50-8F6D-B466384A6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5BA350-7F4D-12DF-DFBC-C27D264E5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Multiprocessing</a:t>
            </a:r>
          </a:p>
        </p:txBody>
      </p:sp>
      <p:pic>
        <p:nvPicPr>
          <p:cNvPr id="10" name="Content Placeholder 9" descr="A diagram of a process and a multi-step process&#10;&#10;Description automatically generated">
            <a:extLst>
              <a:ext uri="{FF2B5EF4-FFF2-40B4-BE49-F238E27FC236}">
                <a16:creationId xmlns:a16="http://schemas.microsoft.com/office/drawing/2014/main" id="{5D7CFB71-4762-A789-A4C8-B350A8D55BA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9" y="1656206"/>
            <a:ext cx="6909801" cy="3282155"/>
          </a:xfrm>
          <a:prstGeom prst="rect">
            <a:avLst/>
          </a:prstGeom>
        </p:spPr>
      </p:pic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54A678E-8F30-4E92-A5BF-F5D03D011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62F05-2C25-D540-F80C-21A0ACE0B7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59485" y="2198914"/>
            <a:ext cx="3690257" cy="3670180"/>
          </a:xfrm>
        </p:spPr>
        <p:txBody>
          <a:bodyPr vert="horz" lIns="0" tIns="45720" rIns="0" bIns="45720" rtlCol="0">
            <a:normAutofit/>
          </a:bodyPr>
          <a:lstStyle/>
          <a:p>
            <a:pPr marL="0" indent="0">
              <a:buFont typeface="Calibri" panose="020F0502020204030204" pitchFamily="34" charset="0"/>
              <a:buNone/>
            </a:pPr>
            <a:r>
              <a:rPr lang="en-US" dirty="0"/>
              <a:t>Multiprocessing is another form of parallelism that allows multiple processes to run simultaneously.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dirty="0"/>
              <a:t>Each process has own memory with copies of necessary data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dirty="0"/>
              <a:t>Can be hard to reintegrate results</a:t>
            </a:r>
          </a:p>
          <a:p>
            <a:pPr marL="0" indent="0">
              <a:buFont typeface="Calibri" panose="020F0502020204030204" pitchFamily="34" charset="0"/>
              <a:buNone/>
            </a:pPr>
            <a:endParaRPr lang="en-US" cap="all" spc="20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2CE8509-9E93-4D74-BF24-661F111C7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15D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6E8BA98-E13C-403B-AC96-75E203799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5568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104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0861964-D86C-4A50-8F6D-B466384A6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A2BAAC-4909-ECAA-B562-3C98B1CDA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Asynchronous Programming</a:t>
            </a:r>
          </a:p>
        </p:txBody>
      </p:sp>
      <p:pic>
        <p:nvPicPr>
          <p:cNvPr id="6" name="Content Placeholder 5" descr="A diagram of a system&#10;&#10;Description automatically generated">
            <a:extLst>
              <a:ext uri="{FF2B5EF4-FFF2-40B4-BE49-F238E27FC236}">
                <a16:creationId xmlns:a16="http://schemas.microsoft.com/office/drawing/2014/main" id="{0F952CE2-96D5-3B6A-6E8E-BEA27A7F7FD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9" y="1353903"/>
            <a:ext cx="6909801" cy="3886762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54A678E-8F30-4E92-A5BF-F5D03D011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CF976-D3F0-C68C-9B1A-7986F67CA3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59485" y="2198914"/>
            <a:ext cx="3690257" cy="3670180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b="0" i="0">
                <a:effectLst/>
              </a:rPr>
              <a:t>Asynchronous programming is a form of concurrent programming that involves executing tasks in a non-blocking manner</a:t>
            </a:r>
          </a:p>
          <a:p>
            <a:r>
              <a:rPr lang="en-US"/>
              <a:t>I</a:t>
            </a:r>
            <a:r>
              <a:rPr lang="en-US" b="0" i="0">
                <a:effectLst/>
              </a:rPr>
              <a:t>t requires a different way of thinking about the program's flow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CE8509-9E93-4D74-BF24-661F111C7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43C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E8BA98-E13C-403B-AC96-75E203799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3F5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210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8CB54FC-0B2A-4107-9A70-958B90B76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E3E17C-613B-1E32-F555-D61A47741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Python Reality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FA56149-F00C-4F3B-908F-B1FFEDB6F32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92" y="1668843"/>
            <a:ext cx="5451627" cy="3200272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855A9B5-1710-4B19-B0F1-CDFDD4ED5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B65E5-CC64-DD89-C7DC-832B53554B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11684" y="2198914"/>
            <a:ext cx="5127172" cy="3670180"/>
          </a:xfrm>
        </p:spPr>
        <p:txBody>
          <a:bodyPr vert="horz" lIns="0" tIns="45720" rIns="0" bIns="45720" rtlCol="0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Python’s </a:t>
            </a:r>
            <a:r>
              <a:rPr lang="en-US" b="1" dirty="0"/>
              <a:t>Global Interpreter Lock </a:t>
            </a:r>
            <a:r>
              <a:rPr lang="en-US" dirty="0"/>
              <a:t>(GIL) allows only 1 thread to execute Python bytecode at a time. Multi-threading isn’t really a thing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Asynchronous programming is not true parallelism</a:t>
            </a:r>
            <a:r>
              <a:rPr lang="en-US" dirty="0"/>
              <a:t>, just efficient multi-tasking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NumPy is already parallel</a:t>
            </a:r>
            <a:r>
              <a:rPr lang="en-US" dirty="0"/>
              <a:t>. Linear algebra operations us multi-threaded BLAS libraries underneath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587DBF8-5C50-4034-8B79-FE54A01A8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FD42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720853-E885-4BE5-BFE2-24004CEF6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3BA8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061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264</TotalTime>
  <Words>150</Words>
  <Application>Microsoft Office PowerPoint</Application>
  <PresentationFormat>Widescreen</PresentationFormat>
  <Paragraphs>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Calibri</vt:lpstr>
      <vt:lpstr>Calibri Light</vt:lpstr>
      <vt:lpstr>Retrospect</vt:lpstr>
      <vt:lpstr>Parallel Processing</vt:lpstr>
      <vt:lpstr>Three types of Parallelism</vt:lpstr>
      <vt:lpstr>Multi-Threading</vt:lpstr>
      <vt:lpstr>Multiprocessing</vt:lpstr>
      <vt:lpstr>Asynchronous Programming</vt:lpstr>
      <vt:lpstr>Python Reality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Kelley, Tom</dc:creator>
  <cp:lastModifiedBy>Kelley, Tom</cp:lastModifiedBy>
  <cp:revision>2</cp:revision>
  <dcterms:created xsi:type="dcterms:W3CDTF">2025-01-16T17:18:37Z</dcterms:created>
  <dcterms:modified xsi:type="dcterms:W3CDTF">2026-01-20T01:19:34Z</dcterms:modified>
</cp:coreProperties>
</file>