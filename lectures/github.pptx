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90" autoAdjust="0"/>
    <p:restoredTop sz="94660"/>
  </p:normalViewPr>
  <p:slideViewPr>
    <p:cSldViewPr snapToGrid="0">
      <p:cViewPr varScale="1">
        <p:scale>
          <a:sx n="63" d="100"/>
          <a:sy n="63" d="100"/>
        </p:scale>
        <p:origin x="4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686D1A-CC29-463A-B3FB-0BEB2522250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46A265-65D7-4592-8765-06CFF4214B20}">
      <dgm:prSet/>
      <dgm:spPr/>
      <dgm:t>
        <a:bodyPr/>
        <a:lstStyle/>
        <a:p>
          <a:r>
            <a:rPr lang="en-US"/>
            <a:t>He described the tool </a:t>
          </a:r>
          <a:r>
            <a:rPr lang="en-US" u="sng"/>
            <a:t>as "the stupid content tracker“</a:t>
          </a:r>
          <a:r>
            <a:rPr lang="en-US"/>
            <a:t> and the name as (depending on your way): (</a:t>
          </a:r>
          <a:r>
            <a:rPr lang="en-US" i="1"/>
            <a:t>these are quotes</a:t>
          </a:r>
          <a:r>
            <a:rPr lang="en-US"/>
            <a:t>)</a:t>
          </a:r>
        </a:p>
      </dgm:t>
    </dgm:pt>
    <dgm:pt modelId="{E255FD17-9C72-41AD-9504-633A8717CFCF}" type="parTrans" cxnId="{4696E005-DD13-44F2-82C5-5AD2E0EE2CD1}">
      <dgm:prSet/>
      <dgm:spPr/>
      <dgm:t>
        <a:bodyPr/>
        <a:lstStyle/>
        <a:p>
          <a:endParaRPr lang="en-US"/>
        </a:p>
      </dgm:t>
    </dgm:pt>
    <dgm:pt modelId="{3600E9FF-66A7-454B-B505-F43F104BCA03}" type="sibTrans" cxnId="{4696E005-DD13-44F2-82C5-5AD2E0EE2CD1}">
      <dgm:prSet/>
      <dgm:spPr/>
      <dgm:t>
        <a:bodyPr/>
        <a:lstStyle/>
        <a:p>
          <a:endParaRPr lang="en-US"/>
        </a:p>
      </dgm:t>
    </dgm:pt>
    <dgm:pt modelId="{4C300B1A-9377-439D-9E72-CB4AFAE0B15F}">
      <dgm:prSet/>
      <dgm:spPr/>
      <dgm:t>
        <a:bodyPr/>
        <a:lstStyle/>
        <a:p>
          <a:r>
            <a:rPr lang="en-US"/>
            <a:t>“random three-letter combination that is pronounceable, and not actually used by any common UNIX command.  The fact that it is a mispronunciation of "get" may or may not be relevant.”</a:t>
          </a:r>
        </a:p>
      </dgm:t>
    </dgm:pt>
    <dgm:pt modelId="{B64A0717-1E82-4CDF-95D0-8557B1720337}" type="parTrans" cxnId="{0EED3A7B-42E6-4571-98EE-EF8207A35331}">
      <dgm:prSet/>
      <dgm:spPr/>
      <dgm:t>
        <a:bodyPr/>
        <a:lstStyle/>
        <a:p>
          <a:endParaRPr lang="en-US"/>
        </a:p>
      </dgm:t>
    </dgm:pt>
    <dgm:pt modelId="{29F104BD-7600-465D-9E3D-C241FA57B6A9}" type="sibTrans" cxnId="{0EED3A7B-42E6-4571-98EE-EF8207A35331}">
      <dgm:prSet/>
      <dgm:spPr/>
      <dgm:t>
        <a:bodyPr/>
        <a:lstStyle/>
        <a:p>
          <a:endParaRPr lang="en-US"/>
        </a:p>
      </dgm:t>
    </dgm:pt>
    <dgm:pt modelId="{2E9DB9B7-26FB-43E2-BC1C-AFF5CFE60B6B}">
      <dgm:prSet/>
      <dgm:spPr/>
      <dgm:t>
        <a:bodyPr/>
        <a:lstStyle/>
        <a:p>
          <a:r>
            <a:rPr lang="en-US" dirty="0"/>
            <a:t>"global information tracker": you're in a good mood, and if it actually works for you. Angels sing, and a light suddenly fills the room.</a:t>
          </a:r>
        </a:p>
      </dgm:t>
    </dgm:pt>
    <dgm:pt modelId="{87FF89DB-F370-4454-A9BF-EB600C81135F}" type="parTrans" cxnId="{EAF2F084-6D05-47F1-8C16-EF87B3DD4787}">
      <dgm:prSet/>
      <dgm:spPr/>
      <dgm:t>
        <a:bodyPr/>
        <a:lstStyle/>
        <a:p>
          <a:endParaRPr lang="en-US"/>
        </a:p>
      </dgm:t>
    </dgm:pt>
    <dgm:pt modelId="{5D9D5C0E-1D54-49A0-B9E4-8ACCA00E4375}" type="sibTrans" cxnId="{EAF2F084-6D05-47F1-8C16-EF87B3DD4787}">
      <dgm:prSet/>
      <dgm:spPr/>
      <dgm:t>
        <a:bodyPr/>
        <a:lstStyle/>
        <a:p>
          <a:endParaRPr lang="en-US"/>
        </a:p>
      </dgm:t>
    </dgm:pt>
    <dgm:pt modelId="{A84FDE64-A407-4861-89FA-83AD6F24A4F1}">
      <dgm:prSet/>
      <dgm:spPr/>
      <dgm:t>
        <a:bodyPr/>
        <a:lstStyle/>
        <a:p>
          <a:r>
            <a:rPr lang="en-US" dirty="0"/>
            <a:t>"goddamn idiotic truckload of </a:t>
          </a:r>
          <a:r>
            <a:rPr lang="en-US" dirty="0" err="1"/>
            <a:t>sh</a:t>
          </a:r>
          <a:r>
            <a:rPr lang="en-US" dirty="0"/>
            <a:t>*t": when it breaks</a:t>
          </a:r>
        </a:p>
      </dgm:t>
    </dgm:pt>
    <dgm:pt modelId="{E5266CE6-CD9E-4FA5-8D98-86348E6B32CA}" type="parTrans" cxnId="{F32BCE0E-0B57-42D3-81ED-630BF21F3109}">
      <dgm:prSet/>
      <dgm:spPr/>
      <dgm:t>
        <a:bodyPr/>
        <a:lstStyle/>
        <a:p>
          <a:endParaRPr lang="en-US"/>
        </a:p>
      </dgm:t>
    </dgm:pt>
    <dgm:pt modelId="{1EE9791A-95A7-4473-A078-C0B07B822C3A}" type="sibTrans" cxnId="{F32BCE0E-0B57-42D3-81ED-630BF21F3109}">
      <dgm:prSet/>
      <dgm:spPr/>
      <dgm:t>
        <a:bodyPr/>
        <a:lstStyle/>
        <a:p>
          <a:endParaRPr lang="en-US"/>
        </a:p>
      </dgm:t>
    </dgm:pt>
    <dgm:pt modelId="{22C391CD-2566-4147-8E6F-B211D9C79AC3}" type="pres">
      <dgm:prSet presAssocID="{D1686D1A-CC29-463A-B3FB-0BEB25222508}" presName="Name0" presStyleCnt="0">
        <dgm:presLayoutVars>
          <dgm:dir/>
          <dgm:animLvl val="lvl"/>
          <dgm:resizeHandles val="exact"/>
        </dgm:presLayoutVars>
      </dgm:prSet>
      <dgm:spPr/>
    </dgm:pt>
    <dgm:pt modelId="{A8833D37-7AEF-43A6-94DB-1216CEBEEF6C}" type="pres">
      <dgm:prSet presAssocID="{3346A265-65D7-4592-8765-06CFF4214B20}" presName="linNode" presStyleCnt="0"/>
      <dgm:spPr/>
    </dgm:pt>
    <dgm:pt modelId="{C9DD0A48-87C9-4135-A6ED-288F09BB7C81}" type="pres">
      <dgm:prSet presAssocID="{3346A265-65D7-4592-8765-06CFF4214B20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4959DD90-1BB4-45B1-992D-C9E74A9013A9}" type="pres">
      <dgm:prSet presAssocID="{3346A265-65D7-4592-8765-06CFF4214B20}" presName="descendantText" presStyleLbl="alignAccFollowNode1" presStyleIdx="0" presStyleCnt="1" custScaleY="125000">
        <dgm:presLayoutVars>
          <dgm:bulletEnabled val="1"/>
        </dgm:presLayoutVars>
      </dgm:prSet>
      <dgm:spPr/>
    </dgm:pt>
  </dgm:ptLst>
  <dgm:cxnLst>
    <dgm:cxn modelId="{4696E005-DD13-44F2-82C5-5AD2E0EE2CD1}" srcId="{D1686D1A-CC29-463A-B3FB-0BEB25222508}" destId="{3346A265-65D7-4592-8765-06CFF4214B20}" srcOrd="0" destOrd="0" parTransId="{E255FD17-9C72-41AD-9504-633A8717CFCF}" sibTransId="{3600E9FF-66A7-454B-B505-F43F104BCA03}"/>
    <dgm:cxn modelId="{F32BCE0E-0B57-42D3-81ED-630BF21F3109}" srcId="{3346A265-65D7-4592-8765-06CFF4214B20}" destId="{A84FDE64-A407-4861-89FA-83AD6F24A4F1}" srcOrd="2" destOrd="0" parTransId="{E5266CE6-CD9E-4FA5-8D98-86348E6B32CA}" sibTransId="{1EE9791A-95A7-4473-A078-C0B07B822C3A}"/>
    <dgm:cxn modelId="{6D928943-5744-4BBE-80DE-1AF90129764F}" type="presOf" srcId="{3346A265-65D7-4592-8765-06CFF4214B20}" destId="{C9DD0A48-87C9-4135-A6ED-288F09BB7C81}" srcOrd="0" destOrd="0" presId="urn:microsoft.com/office/officeart/2005/8/layout/vList5"/>
    <dgm:cxn modelId="{3D073465-5FD9-45AA-AE77-29118BD2B23A}" type="presOf" srcId="{D1686D1A-CC29-463A-B3FB-0BEB25222508}" destId="{22C391CD-2566-4147-8E6F-B211D9C79AC3}" srcOrd="0" destOrd="0" presId="urn:microsoft.com/office/officeart/2005/8/layout/vList5"/>
    <dgm:cxn modelId="{EA468058-9F0D-4FCE-93D4-7ADD305132F0}" type="presOf" srcId="{2E9DB9B7-26FB-43E2-BC1C-AFF5CFE60B6B}" destId="{4959DD90-1BB4-45B1-992D-C9E74A9013A9}" srcOrd="0" destOrd="1" presId="urn:microsoft.com/office/officeart/2005/8/layout/vList5"/>
    <dgm:cxn modelId="{0EED3A7B-42E6-4571-98EE-EF8207A35331}" srcId="{3346A265-65D7-4592-8765-06CFF4214B20}" destId="{4C300B1A-9377-439D-9E72-CB4AFAE0B15F}" srcOrd="0" destOrd="0" parTransId="{B64A0717-1E82-4CDF-95D0-8557B1720337}" sibTransId="{29F104BD-7600-465D-9E3D-C241FA57B6A9}"/>
    <dgm:cxn modelId="{EAF2F084-6D05-47F1-8C16-EF87B3DD4787}" srcId="{3346A265-65D7-4592-8765-06CFF4214B20}" destId="{2E9DB9B7-26FB-43E2-BC1C-AFF5CFE60B6B}" srcOrd="1" destOrd="0" parTransId="{87FF89DB-F370-4454-A9BF-EB600C81135F}" sibTransId="{5D9D5C0E-1D54-49A0-B9E4-8ACCA00E4375}"/>
    <dgm:cxn modelId="{786F91C9-8066-4875-B4DD-872BAB0E25AA}" type="presOf" srcId="{4C300B1A-9377-439D-9E72-CB4AFAE0B15F}" destId="{4959DD90-1BB4-45B1-992D-C9E74A9013A9}" srcOrd="0" destOrd="0" presId="urn:microsoft.com/office/officeart/2005/8/layout/vList5"/>
    <dgm:cxn modelId="{C4F701ED-0DF5-43D0-923B-A153E303939A}" type="presOf" srcId="{A84FDE64-A407-4861-89FA-83AD6F24A4F1}" destId="{4959DD90-1BB4-45B1-992D-C9E74A9013A9}" srcOrd="0" destOrd="2" presId="urn:microsoft.com/office/officeart/2005/8/layout/vList5"/>
    <dgm:cxn modelId="{A5E4DACC-E4EF-46B9-88B6-E4807196A9B6}" type="presParOf" srcId="{22C391CD-2566-4147-8E6F-B211D9C79AC3}" destId="{A8833D37-7AEF-43A6-94DB-1216CEBEEF6C}" srcOrd="0" destOrd="0" presId="urn:microsoft.com/office/officeart/2005/8/layout/vList5"/>
    <dgm:cxn modelId="{F867D495-83F2-426A-92E0-7EFECFB82C61}" type="presParOf" srcId="{A8833D37-7AEF-43A6-94DB-1216CEBEEF6C}" destId="{C9DD0A48-87C9-4135-A6ED-288F09BB7C81}" srcOrd="0" destOrd="0" presId="urn:microsoft.com/office/officeart/2005/8/layout/vList5"/>
    <dgm:cxn modelId="{B7499E9B-8108-40C8-A889-972A104E58A2}" type="presParOf" srcId="{A8833D37-7AEF-43A6-94DB-1216CEBEEF6C}" destId="{4959DD90-1BB4-45B1-992D-C9E74A9013A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9DD90-1BB4-45B1-992D-C9E74A9013A9}">
      <dsp:nvSpPr>
        <dsp:cNvPr id="0" name=""/>
        <dsp:cNvSpPr/>
      </dsp:nvSpPr>
      <dsp:spPr>
        <a:xfrm rot="5400000">
          <a:off x="4946672" y="-1325648"/>
          <a:ext cx="3786080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“random three-letter combination that is pronounceable, and not actually used by any common UNIX command.  The fact that it is a mispronunciation of "get" may or may not be relevant.”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"global information tracker": you're in a good mood, and if it actually works for you. Angels sing, and a light suddenly fills the room.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"goddamn idiotic truckload of </a:t>
          </a:r>
          <a:r>
            <a:rPr lang="en-US" sz="2300" kern="1200" dirty="0" err="1"/>
            <a:t>sh</a:t>
          </a:r>
          <a:r>
            <a:rPr lang="en-US" sz="2300" kern="1200" dirty="0"/>
            <a:t>*t": when it breaks</a:t>
          </a:r>
        </a:p>
      </dsp:txBody>
      <dsp:txXfrm rot="-5400000">
        <a:off x="3621025" y="184820"/>
        <a:ext cx="6252555" cy="3416438"/>
      </dsp:txXfrm>
    </dsp:sp>
    <dsp:sp modelId="{C9DD0A48-87C9-4135-A6ED-288F09BB7C81}">
      <dsp:nvSpPr>
        <dsp:cNvPr id="0" name=""/>
        <dsp:cNvSpPr/>
      </dsp:nvSpPr>
      <dsp:spPr>
        <a:xfrm>
          <a:off x="0" y="0"/>
          <a:ext cx="3621024" cy="378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He described the tool </a:t>
          </a:r>
          <a:r>
            <a:rPr lang="en-US" sz="3200" u="sng" kern="1200"/>
            <a:t>as "the stupid content tracker“</a:t>
          </a:r>
          <a:r>
            <a:rPr lang="en-US" sz="3200" kern="1200"/>
            <a:t> and the name as (depending on your way): (</a:t>
          </a:r>
          <a:r>
            <a:rPr lang="en-US" sz="3200" i="1" kern="1200"/>
            <a:t>these are quotes</a:t>
          </a:r>
          <a:r>
            <a:rPr lang="en-US" sz="3200" kern="1200"/>
            <a:t>)</a:t>
          </a:r>
        </a:p>
      </dsp:txBody>
      <dsp:txXfrm>
        <a:off x="176764" y="176764"/>
        <a:ext cx="3267496" cy="3432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07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69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70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9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49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9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9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94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568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147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60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96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sktop.github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45F3E-B058-42AD-948D-25BE042EF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643467"/>
            <a:ext cx="6255026" cy="5054008"/>
          </a:xfrm>
        </p:spPr>
        <p:txBody>
          <a:bodyPr anchor="ctr">
            <a:normAutofit/>
          </a:bodyPr>
          <a:lstStyle/>
          <a:p>
            <a:pPr algn="r"/>
            <a:r>
              <a:rPr lang="en-US"/>
              <a:t>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80143-8288-4AB6-BEC3-20F089B37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995" y="643467"/>
            <a:ext cx="3341488" cy="5054008"/>
          </a:xfrm>
        </p:spPr>
        <p:txBody>
          <a:bodyPr anchor="ctr">
            <a:normAutofit/>
          </a:bodyPr>
          <a:lstStyle/>
          <a:p>
            <a:r>
              <a:rPr lang="en-US"/>
              <a:t>Getting Organized</a:t>
            </a:r>
          </a:p>
        </p:txBody>
      </p:sp>
      <p:cxnSp>
        <p:nvCxnSpPr>
          <p:cNvPr id="16" name="Straight Connector 9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1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52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FCCD3-EFB6-4CAA-815C-2C2C5030E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Github Page for 3211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906AA718-EDAA-CAB9-A0A4-7583A7434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999" y="1257659"/>
            <a:ext cx="6912217" cy="381900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BA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3E41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3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DBFB3-515B-4FBE-B33F-E0C5EBAB9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41EA9-F8FD-44E2-8D75-E8A028C103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It is a web-based hosting service for version control using Git.</a:t>
            </a:r>
          </a:p>
          <a:p>
            <a:r>
              <a:rPr lang="en-US" sz="2400" dirty="0"/>
              <a:t>It offers all the distributed version control and source code management (SCM) functionality of Git </a:t>
            </a:r>
          </a:p>
          <a:p>
            <a:r>
              <a:rPr lang="en-US" sz="2400" dirty="0"/>
              <a:t>It provides bug tracking, feature requests, task management, and wikis for every projects.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FC0C7-8CF6-123E-22D5-3D65C8CFAA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Wait … what is git?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Well… </a:t>
            </a:r>
            <a:r>
              <a:rPr lang="en-US" sz="2400" dirty="0">
                <a:solidFill>
                  <a:schemeClr val="tx1"/>
                </a:solidFill>
              </a:rPr>
              <a:t>it is a version-control system for tracking changes in computer files and coordinating work on those files among multiple people.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Take Home Message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Git is an open-source program that allows users to keep track of different versions of files and still collaborate while doing that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02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2995-7906-4041-B469-416136B45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Name “Git” -  From the creator Linus Torvalds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59A6A5-7B0A-CB90-CEBA-744D7FC585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458883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8563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230A27-1553-42F8-99D7-829868E13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2232D-B4D6-429F-B3D1-2D9891B85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1BB650-C839-43B8-BEFF-68E49EF4E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030" y="963997"/>
            <a:ext cx="3254691" cy="4938361"/>
          </a:xfrm>
        </p:spPr>
        <p:txBody>
          <a:bodyPr anchor="ctr">
            <a:normAutofit/>
          </a:bodyPr>
          <a:lstStyle/>
          <a:p>
            <a:pPr algn="r"/>
            <a:r>
              <a:rPr lang="en-US" sz="4400"/>
              <a:t>How will we use GitHub?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CC3441-26B3-4381-B3DF-8AE3C288B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920A4-70BB-43EC-8C09-7A5240C5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r>
              <a:rPr lang="en-US" sz="3200" dirty="0"/>
              <a:t>We’re going to be passing code back and forth, using GitHub will help</a:t>
            </a:r>
          </a:p>
          <a:p>
            <a:r>
              <a:rPr lang="en-US" sz="3200" dirty="0"/>
              <a:t>You can interface with GitHub in two ways:</a:t>
            </a:r>
          </a:p>
          <a:p>
            <a:pPr lvl="1"/>
            <a:r>
              <a:rPr lang="en-US" sz="3200" dirty="0"/>
              <a:t>Command line</a:t>
            </a:r>
          </a:p>
          <a:p>
            <a:pPr lvl="1"/>
            <a:r>
              <a:rPr lang="en-US" sz="3200" dirty="0"/>
              <a:t>Desktop App: </a:t>
            </a:r>
            <a:r>
              <a:rPr lang="en-US" sz="3200" dirty="0">
                <a:hlinkClick r:id="rId2"/>
              </a:rPr>
              <a:t>https://desktop.github.com/</a:t>
            </a:r>
            <a:endParaRPr lang="en-US" sz="32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476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89D5C594-F8E0-80AA-4138-05D2489521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5822"/>
          <a:stretch/>
        </p:blipFill>
        <p:spPr>
          <a:xfrm>
            <a:off x="5685" y="10"/>
            <a:ext cx="12186315" cy="685799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95B38FD6-641F-41BF-B466-C1C636642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48599" y="1238442"/>
            <a:ext cx="3635926" cy="4355751"/>
          </a:xfrm>
          <a:prstGeom prst="rect">
            <a:avLst/>
          </a:prstGeom>
          <a:solidFill>
            <a:srgbClr val="0000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67217-5AEA-44CD-9D14-FDEAC4143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47860" y="2777461"/>
            <a:ext cx="3084844" cy="2645032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The desktop app allows you to add local folders as repositories (</a:t>
            </a:r>
            <a:r>
              <a:rPr lang="en-US" sz="1600" i="1">
                <a:solidFill>
                  <a:srgbClr val="FFFFFF"/>
                </a:solidFill>
              </a:rPr>
              <a:t>repos</a:t>
            </a:r>
            <a:r>
              <a:rPr lang="en-US" sz="1600">
                <a:solidFill>
                  <a:srgbClr val="FFFFFF"/>
                </a:solidFill>
              </a:rPr>
              <a:t>)</a:t>
            </a:r>
          </a:p>
          <a:p>
            <a:r>
              <a:rPr lang="en-US" sz="1600">
                <a:solidFill>
                  <a:srgbClr val="FFFFFF"/>
                </a:solidFill>
              </a:rPr>
              <a:t>You can then update these files in the local folder and </a:t>
            </a:r>
            <a:r>
              <a:rPr lang="en-US" sz="1600" b="1" i="1">
                <a:solidFill>
                  <a:srgbClr val="FFFFFF"/>
                </a:solidFill>
              </a:rPr>
              <a:t>push</a:t>
            </a:r>
            <a:r>
              <a:rPr lang="en-US" sz="1600">
                <a:solidFill>
                  <a:srgbClr val="FFFFFF"/>
                </a:solidFill>
              </a:rPr>
              <a:t> them up to the GitHub site</a:t>
            </a:r>
          </a:p>
          <a:p>
            <a:r>
              <a:rPr lang="en-US" sz="1600">
                <a:solidFill>
                  <a:srgbClr val="FFFFFF"/>
                </a:solidFill>
              </a:rPr>
              <a:t>OR you can update these files on the GitHub site and </a:t>
            </a:r>
            <a:r>
              <a:rPr lang="en-US" sz="1600" b="1" i="1">
                <a:solidFill>
                  <a:srgbClr val="FFFFFF"/>
                </a:solidFill>
              </a:rPr>
              <a:t>pull</a:t>
            </a:r>
            <a:r>
              <a:rPr lang="en-US" sz="1600">
                <a:solidFill>
                  <a:srgbClr val="FFFFFF"/>
                </a:solidFill>
              </a:rPr>
              <a:t> them down to the local folder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7AA62-7829-4C8B-947C-CB5B6DB2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124" y="1419273"/>
            <a:ext cx="3153580" cy="13581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Desktop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FDAE799-CF89-4844-9410-D1C0F8CBC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48599" y="1240045"/>
            <a:ext cx="64008" cy="4352544"/>
          </a:xfrm>
          <a:prstGeom prst="rect">
            <a:avLst/>
          </a:prstGeom>
          <a:solidFill>
            <a:srgbClr val="EEA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2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diagram of a push pull command&#10;&#10;Description automatically generated">
            <a:extLst>
              <a:ext uri="{FF2B5EF4-FFF2-40B4-BE49-F238E27FC236}">
                <a16:creationId xmlns:a16="http://schemas.microsoft.com/office/drawing/2014/main" id="{052D4522-F590-C1FC-A4FC-236F2F242735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B5A8FCC-34D7-645A-8A1B-898E62DBA979}"/>
              </a:ext>
            </a:extLst>
          </p:cNvPr>
          <p:cNvSpPr/>
          <p:nvPr/>
        </p:nvSpPr>
        <p:spPr>
          <a:xfrm>
            <a:off x="4683512" y="3429000"/>
            <a:ext cx="2709747" cy="284356"/>
          </a:xfrm>
          <a:prstGeom prst="rect">
            <a:avLst/>
          </a:prstGeom>
          <a:solidFill>
            <a:srgbClr val="EBF9FA"/>
          </a:solidFill>
          <a:ln>
            <a:solidFill>
              <a:srgbClr val="EBF9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212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317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Retrospect</vt:lpstr>
      <vt:lpstr>Github</vt:lpstr>
      <vt:lpstr>Github Page for 3211</vt:lpstr>
      <vt:lpstr>What is GitHub</vt:lpstr>
      <vt:lpstr>Name “Git” -  From the creator Linus Torvalds </vt:lpstr>
      <vt:lpstr>How will we use GitHub?</vt:lpstr>
      <vt:lpstr>Desktop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</dc:title>
  <dc:creator>Kelley, Thomas</dc:creator>
  <cp:lastModifiedBy>Kelley, Tom</cp:lastModifiedBy>
  <cp:revision>6</cp:revision>
  <dcterms:created xsi:type="dcterms:W3CDTF">2021-01-25T19:30:46Z</dcterms:created>
  <dcterms:modified xsi:type="dcterms:W3CDTF">2026-01-13T16:46:17Z</dcterms:modified>
</cp:coreProperties>
</file>