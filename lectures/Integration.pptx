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5" r:id="rId8"/>
    <p:sldId id="263" r:id="rId9"/>
    <p:sldId id="264" r:id="rId10"/>
    <p:sldId id="266" r:id="rId11"/>
    <p:sldId id="260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6723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387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6296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414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437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774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386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805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352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124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601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7116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A1EA31-A746-48FA-BA0C-85DE551CB7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185BA8"/>
                </a:solidFill>
              </a:rPr>
              <a:t>Numerical Integration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35D26A-1802-47C4-B604-F03BEBFF6B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455621"/>
            <a:ext cx="6269347" cy="123861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Simpson to Quadrature</a:t>
            </a:r>
          </a:p>
        </p:txBody>
      </p:sp>
      <p:pic>
        <p:nvPicPr>
          <p:cNvPr id="5" name="Picture 4" descr="An abstract blue pattern with numbers">
            <a:extLst>
              <a:ext uri="{FF2B5EF4-FFF2-40B4-BE49-F238E27FC236}">
                <a16:creationId xmlns:a16="http://schemas.microsoft.com/office/drawing/2014/main" id="{08D1EC08-9A43-D4E1-DF4A-0160ECBF6C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215" r="21093"/>
          <a:stretch/>
        </p:blipFill>
        <p:spPr>
          <a:xfrm>
            <a:off x="-1" y="10"/>
            <a:ext cx="4635315" cy="68579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071" y="4343400"/>
            <a:ext cx="5636107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9483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26194-A0EB-4A80-B055-142100681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7D1BB-6076-4713-B7A2-B70A783A51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4569541" cy="3633047"/>
          </a:xfrm>
          <a:ln>
            <a:solidFill>
              <a:schemeClr val="tx1"/>
            </a:solidFill>
          </a:ln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/>
                </a:solidFill>
              </a:rPr>
              <a:t>Quadrature</a:t>
            </a:r>
            <a:r>
              <a:rPr lang="en-US" sz="2400" dirty="0"/>
              <a:t> –the process of finding a square equal in area to a given area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2"/>
                </a:solidFill>
              </a:rPr>
              <a:t>Many methods for finding these areas, we’ll concentrate on three:</a:t>
            </a:r>
          </a:p>
          <a:p>
            <a:r>
              <a:rPr lang="en-US" sz="2400" dirty="0"/>
              <a:t>Trapezoid Rule</a:t>
            </a:r>
          </a:p>
          <a:p>
            <a:r>
              <a:rPr lang="en-US" sz="2400" dirty="0"/>
              <a:t>Simpson Rule</a:t>
            </a:r>
          </a:p>
          <a:p>
            <a:r>
              <a:rPr lang="en-US" sz="2400" dirty="0"/>
              <a:t>Romberg Integration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A7AF065-E3F8-4207-A65C-3A2329B1818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096000" y="2228003"/>
                <a:ext cx="5514809" cy="3633047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The basis of all </a:t>
                </a:r>
                <a:r>
                  <a:rPr lang="en-US" i="1" dirty="0"/>
                  <a:t>Quadrature methods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grow m:val="on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nary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/>
                              <m:aln/>
                            </m:rP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i="0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</a:t>
                </a:r>
              </a:p>
              <a:p>
                <a:r>
                  <a:rPr lang="en-US" dirty="0"/>
                  <a:t>The </a:t>
                </a:r>
                <a:r>
                  <a:rPr lang="en-US" dirty="0">
                    <a:solidFill>
                      <a:schemeClr val="accent2"/>
                    </a:solidFill>
                  </a:rPr>
                  <a:t>number of steps </a:t>
                </a:r>
                <a:r>
                  <a:rPr lang="en-US" dirty="0"/>
                  <a:t>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</a:t>
                </a:r>
                <a:r>
                  <a:rPr lang="en-US" dirty="0">
                    <a:solidFill>
                      <a:schemeClr val="accent2"/>
                    </a:solidFill>
                  </a:rPr>
                  <a:t>step size </a:t>
                </a:r>
                <a:r>
                  <a:rPr lang="en-US" dirty="0"/>
                  <a:t>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A7AF065-E3F8-4207-A65C-3A2329B181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096000" y="2228003"/>
                <a:ext cx="5514809" cy="3633047"/>
              </a:xfrm>
              <a:blipFill>
                <a:blip r:embed="rId2"/>
                <a:stretch>
                  <a:fillRect l="-663" t="-48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5800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1F16C-596D-42D4-AD21-9F676A92B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Trapezoid Rule</a:t>
            </a:r>
          </a:p>
        </p:txBody>
      </p:sp>
      <p:pic>
        <p:nvPicPr>
          <p:cNvPr id="7" name="Content Placeholder 6" descr="A close up of a map&#10;&#10;Description generated with very high confidence">
            <a:extLst>
              <a:ext uri="{FF2B5EF4-FFF2-40B4-BE49-F238E27FC236}">
                <a16:creationId xmlns:a16="http://schemas.microsoft.com/office/drawing/2014/main" id="{E19301BD-0881-424E-B10E-1E260B9DD1A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57225" y="2696908"/>
            <a:ext cx="4962525" cy="297751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FB5C5DD-3E55-4F31-B0B4-A3847FF9F30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335807" y="1990714"/>
                <a:ext cx="5275001" cy="4045683"/>
              </a:xfrm>
            </p:spPr>
            <p:txBody>
              <a:bodyPr vert="horz" lIns="91440" tIns="45720" rIns="91440" bIns="45720" rtlCol="0" anchor="ctr">
                <a:normAutofit fontScale="85000" lnSpcReduction="10000"/>
              </a:bodyPr>
              <a:lstStyle/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dirty="0"/>
                  <a:t>Let’s draw trapezoids under the curve to find the integral: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>
                  <a:lnSpc>
                    <a:spcPct val="90000"/>
                  </a:lnSpc>
                </a:pPr>
                <a:r>
                  <a:rPr lang="en-US" dirty="0"/>
                  <a:t>The area of a trapezoid is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>
                  <a:lnSpc>
                    <a:spcPct val="90000"/>
                  </a:lnSpc>
                </a:pPr>
                <a:r>
                  <a:rPr lang="en-US" dirty="0"/>
                  <a:t>The area of the </a:t>
                </a:r>
                <a:r>
                  <a:rPr lang="en-US" i="1" dirty="0"/>
                  <a:t>kth </a:t>
                </a:r>
                <a:r>
                  <a:rPr lang="en-US" dirty="0"/>
                  <a:t>trapezoid is 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+(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−1)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𝑘h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90000"/>
                  </a:lnSpc>
                </a:pPr>
                <a:r>
                  <a:rPr lang="en-US" dirty="0"/>
                  <a:t>This makes the integral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>
                          <a:latin typeface="Cambria Math" panose="02040503050406030204" pitchFamily="18" charset="0"/>
                        </a:rPr>
                        <m:t>≅</m:t>
                      </m:r>
                      <m:f>
                        <m:f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>
                          <a:latin typeface="Cambria Math" panose="02040503050406030204" pitchFamily="18" charset="0"/>
                        </a:rPr>
                        <m:t>h</m:t>
                      </m:r>
                      <m:nary>
                        <m:naryPr>
                          <m:chr m:val="∑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)]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𝑘h</m:t>
                                  </m:r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FB5C5DD-3E55-4F31-B0B4-A3847FF9F3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335807" y="1990714"/>
                <a:ext cx="5275001" cy="4045683"/>
              </a:xfrm>
              <a:blipFill>
                <a:blip r:embed="rId3"/>
                <a:stretch>
                  <a:fillRect l="-693" t="-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2447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AC0B9-A5AF-4F13-B3F5-3ACDC27CE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Simpson Rule</a:t>
            </a:r>
          </a:p>
        </p:txBody>
      </p:sp>
      <p:pic>
        <p:nvPicPr>
          <p:cNvPr id="7" name="Content Placeholder 6" descr="A close up of a map&#10;&#10;Description generated with high confidence">
            <a:extLst>
              <a:ext uri="{FF2B5EF4-FFF2-40B4-BE49-F238E27FC236}">
                <a16:creationId xmlns:a16="http://schemas.microsoft.com/office/drawing/2014/main" id="{52E769EC-1841-4844-961E-891947D22DF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57225" y="2696908"/>
            <a:ext cx="4962525" cy="297751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2FC972B-CB42-4657-BAD1-48B593E0CDB2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335805" y="2180496"/>
                <a:ext cx="5275001" cy="4045683"/>
              </a:xfrm>
            </p:spPr>
            <p:txBody>
              <a:bodyPr vert="horz" lIns="91440" tIns="45720" rIns="91440" bIns="45720" rtlCol="0" anchor="t"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Let’s fit the function with a quadratic interpolation!</a:t>
                </a:r>
              </a:p>
              <a:p>
                <a:r>
                  <a:rPr lang="en-US" dirty="0"/>
                  <a:t>Consider three points,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,0,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, and fit a quadratic form using them,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Then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𝐵h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coefficients become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type m:val="skw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type m:val="skw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(0)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2FC972B-CB42-4657-BAD1-48B593E0CD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335805" y="2180496"/>
                <a:ext cx="5275001" cy="4045683"/>
              </a:xfrm>
              <a:blipFill>
                <a:blip r:embed="rId3"/>
                <a:stretch>
                  <a:fillRect l="-1039" t="-2564" b="-13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9729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89F3C-4BE8-4BD3-B6B0-7387CF205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Simpson Rule (In the Weeds)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1D4ABC4-F5AA-4746-8355-A742DABA00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9343" y="1845734"/>
                <a:ext cx="11283351" cy="4023360"/>
              </a:xfrm>
            </p:spPr>
            <p:txBody>
              <a:bodyPr anchor="t">
                <a:normAutofit/>
              </a:bodyPr>
              <a:lstStyle/>
              <a:p>
                <a:r>
                  <a:rPr lang="en-US" dirty="0"/>
                  <a:t>Looking at an integral of the form: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𝐶h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Generalizing the result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,⋯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+4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+3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+4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⋯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+4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+3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+4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+⋯ 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1D4ABC4-F5AA-4746-8355-A742DABA00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9343" y="1845734"/>
                <a:ext cx="11283351" cy="4023360"/>
              </a:xfrm>
              <a:blipFill>
                <a:blip r:embed="rId2"/>
                <a:stretch>
                  <a:fillRect l="-1351" t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0714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668BB-D9F3-4721-A660-DC6C2B707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Simpson Rule (Last of the math)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5410A8-82D7-4053-9153-4FE90F81D9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anchor="t"/>
              <a:lstStyle/>
              <a:p>
                <a:r>
                  <a:rPr lang="en-US" dirty="0"/>
                  <a:t>As the smoke clears, you see that the </a:t>
                </a:r>
                <a:r>
                  <a:rPr lang="en-US" dirty="0">
                    <a:solidFill>
                      <a:schemeClr val="accent2"/>
                    </a:solidFill>
                  </a:rPr>
                  <a:t>Simpson rule </a:t>
                </a:r>
                <a:r>
                  <a:rPr lang="en-US" dirty="0"/>
                  <a:t>is just a weighted sum of the function at different points, (</a:t>
                </a:r>
                <a:r>
                  <a:rPr lang="en-US" dirty="0">
                    <a:solidFill>
                      <a:srgbClr val="C00000"/>
                    </a:solidFill>
                  </a:rPr>
                  <a:t>working only for even </a:t>
                </a:r>
                <a:r>
                  <a:rPr lang="en-US" i="1" dirty="0">
                    <a:solidFill>
                      <a:srgbClr val="C00000"/>
                    </a:solidFill>
                  </a:rPr>
                  <a:t>N</a:t>
                </a:r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nary>
                            <m:naryPr>
                              <m:chr m:val="∑"/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𝑜𝑑𝑑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</m:e>
                          </m:nary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nary>
                            <m:naryPr>
                              <m:chr m:val="∑"/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𝑒𝑣𝑒𝑛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OR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+4</m:t>
                          </m:r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+(2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−1)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</m:e>
                          </m:nary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𝑘h</m:t>
                                  </m:r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5410A8-82D7-4053-9153-4FE90F81D9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21" t="-9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5A81205-A030-4460-971B-DD801BA0A1A9}"/>
              </a:ext>
            </a:extLst>
          </p:cNvPr>
          <p:cNvCxnSpPr>
            <a:cxnSpLocks/>
          </p:cNvCxnSpPr>
          <p:nvPr/>
        </p:nvCxnSpPr>
        <p:spPr>
          <a:xfrm flipV="1">
            <a:off x="1787683" y="3124200"/>
            <a:ext cx="661603" cy="10801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6E31E23-7981-4723-A6C2-42B8BFE3DCBF}"/>
              </a:ext>
            </a:extLst>
          </p:cNvPr>
          <p:cNvCxnSpPr>
            <a:cxnSpLocks/>
          </p:cNvCxnSpPr>
          <p:nvPr/>
        </p:nvCxnSpPr>
        <p:spPr>
          <a:xfrm>
            <a:off x="1787683" y="4204313"/>
            <a:ext cx="661603" cy="3023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2503F7A-5815-45A9-9907-736634B56B14}"/>
              </a:ext>
            </a:extLst>
          </p:cNvPr>
          <p:cNvSpPr txBox="1"/>
          <p:nvPr/>
        </p:nvSpPr>
        <p:spPr>
          <a:xfrm>
            <a:off x="341453" y="4019647"/>
            <a:ext cx="144623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Simpson Rule</a:t>
            </a:r>
          </a:p>
        </p:txBody>
      </p:sp>
    </p:spTree>
    <p:extLst>
      <p:ext uri="{BB962C8B-B14F-4D97-AF65-F5344CB8AC3E}">
        <p14:creationId xmlns:p14="http://schemas.microsoft.com/office/powerpoint/2010/main" val="4288868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E7F0D-A3B7-4842-8C78-CE4484109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Accurate are These Methods?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FCBCB2-54F3-44A6-B59A-A1E27C154CC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 anchor="t"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sz="3400" dirty="0"/>
                  <a:t>There are two sources of errors when using these integration methods</a:t>
                </a:r>
              </a:p>
              <a:p>
                <a:pPr marL="0" indent="0">
                  <a:buNone/>
                </a:pPr>
                <a:r>
                  <a:rPr lang="en-US" sz="3400" dirty="0">
                    <a:solidFill>
                      <a:schemeClr val="accent2"/>
                    </a:solidFill>
                  </a:rPr>
                  <a:t>Approximation Error</a:t>
                </a:r>
              </a:p>
              <a:p>
                <a:r>
                  <a:rPr lang="en-US" sz="3400" dirty="0">
                    <a:solidFill>
                      <a:schemeClr val="tx1"/>
                    </a:solidFill>
                  </a:rPr>
                  <a:t>Error from the fact that these integration rules are only an approximation of the true integral </a:t>
                </a:r>
              </a:p>
              <a:p>
                <a:pPr marL="0" indent="0">
                  <a:buNone/>
                </a:pPr>
                <a:r>
                  <a:rPr lang="en-US" sz="3400" dirty="0">
                    <a:solidFill>
                      <a:schemeClr val="accent2"/>
                    </a:solidFill>
                  </a:rPr>
                  <a:t>Rounding Error</a:t>
                </a:r>
              </a:p>
              <a:p>
                <a:r>
                  <a:rPr lang="en-US" sz="3400" dirty="0">
                    <a:solidFill>
                      <a:schemeClr val="tx1"/>
                    </a:solidFill>
                  </a:rPr>
                  <a:t>Error from the precision of the computer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sz="3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3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US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3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3400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3400" dirty="0">
                    <a:solidFill>
                      <a:schemeClr val="tx1"/>
                    </a:solidFill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sz="3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3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−16</m:t>
                        </m:r>
                      </m:sup>
                    </m:sSup>
                  </m:oMath>
                </a14:m>
                <a:endParaRPr lang="en-US" sz="3400" dirty="0">
                  <a:solidFill>
                    <a:schemeClr val="tx1"/>
                  </a:solidFill>
                </a:endParaRPr>
              </a:p>
              <a:p>
                <a:pPr lvl="1"/>
                <a:endParaRPr lang="en-US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FCBCB2-54F3-44A6-B59A-A1E27C154C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3704" t="-3485" b="-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 descr="A close up of a map&#10;&#10;Description generated with high confidence">
            <a:extLst>
              <a:ext uri="{FF2B5EF4-FFF2-40B4-BE49-F238E27FC236}">
                <a16:creationId xmlns:a16="http://schemas.microsoft.com/office/drawing/2014/main" id="{722ACF63-B979-4217-8EFD-15E0896D689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73165" y="1846263"/>
            <a:ext cx="4827270" cy="4022725"/>
          </a:xfr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6920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30599-AC37-41A9-96D7-BD4681D02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Errors in the Trapezoid Rule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6041E4-5E5E-4F06-B37C-2003B81DA3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anchor="t">
                <a:normAutofit fontScale="25000" lnSpcReduction="20000"/>
              </a:bodyPr>
              <a:lstStyle/>
              <a:p>
                <a:pPr marL="0" indent="0">
                  <a:buNone/>
                </a:pPr>
                <a:r>
                  <a:rPr lang="en-US" sz="8000" dirty="0"/>
                  <a:t>It can be shown (go read page 149-151 of </a:t>
                </a:r>
                <a:r>
                  <a:rPr lang="en-US" sz="8000" i="1" dirty="0"/>
                  <a:t>Computational Physics </a:t>
                </a:r>
                <a:r>
                  <a:rPr lang="en-US" sz="8000" dirty="0"/>
                  <a:t>for details) that the approximation error of the </a:t>
                </a:r>
                <a:r>
                  <a:rPr lang="en-US" sz="8000" dirty="0">
                    <a:solidFill>
                      <a:schemeClr val="accent2"/>
                    </a:solidFill>
                  </a:rPr>
                  <a:t>trapezoid method </a:t>
                </a:r>
                <a:r>
                  <a:rPr lang="en-US" sz="8000" dirty="0"/>
                  <a:t>is given by the </a:t>
                </a:r>
                <a:r>
                  <a:rPr lang="en-US" sz="8000" b="1" dirty="0"/>
                  <a:t>Euler-Maclaurin formula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sz="8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sz="8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80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sz="8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8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8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8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d>
                            <m:dPr>
                              <m:ctrlPr>
                                <a:rPr lang="en-US" sz="8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8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US" sz="8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8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sz="8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8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8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8000" b="0" dirty="0"/>
              </a:p>
              <a:p>
                <a:r>
                  <a:rPr lang="en-US" sz="8000" dirty="0"/>
                  <a:t>The fact that the trapezoid method is accurate to an order of </a:t>
                </a:r>
                <a14:m>
                  <m:oMath xmlns:m="http://schemas.openxmlformats.org/officeDocument/2006/math">
                    <m:r>
                      <a:rPr lang="en-US" sz="80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8000" dirty="0"/>
                  <a:t> and has an error of order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8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8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sz="8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8000" dirty="0"/>
                  <a:t> </a:t>
                </a:r>
                <a:r>
                  <a:rPr lang="en-US" sz="8000" b="0" dirty="0"/>
                  <a:t>means this method is a </a:t>
                </a:r>
                <a:r>
                  <a:rPr lang="en-US" sz="8000" b="0" i="1" dirty="0"/>
                  <a:t>first order method</a:t>
                </a:r>
              </a:p>
              <a:p>
                <a:r>
                  <a:rPr lang="en-US" sz="8000" b="0" dirty="0"/>
                  <a:t>The trapezoid rule will integrate </a:t>
                </a:r>
                <a:r>
                  <a:rPr lang="en-US" sz="8000" b="1" dirty="0">
                    <a:solidFill>
                      <a:schemeClr val="tx1"/>
                    </a:solidFill>
                  </a:rPr>
                  <a:t>exactly</a:t>
                </a:r>
                <a:r>
                  <a:rPr lang="en-US" sz="8000" b="0" dirty="0"/>
                  <a:t> any linear function</a:t>
                </a:r>
              </a:p>
              <a:p>
                <a:pPr marL="0" indent="0">
                  <a:buNone/>
                </a:pPr>
                <a:r>
                  <a:rPr lang="en-US" sz="8000" dirty="0"/>
                  <a:t>The trick is to choose a step size/number of steps that minimizes the combination of </a:t>
                </a:r>
                <a:r>
                  <a:rPr lang="en-US" sz="8000" dirty="0">
                    <a:solidFill>
                      <a:schemeClr val="accent2"/>
                    </a:solidFill>
                  </a:rPr>
                  <a:t>approximation error </a:t>
                </a:r>
                <a:r>
                  <a:rPr lang="en-US" sz="8000" dirty="0"/>
                  <a:t>and </a:t>
                </a:r>
                <a:r>
                  <a:rPr lang="en-US" sz="8000" dirty="0">
                    <a:solidFill>
                      <a:schemeClr val="accent2"/>
                    </a:solidFill>
                  </a:rPr>
                  <a:t>rounding error</a:t>
                </a:r>
                <a:r>
                  <a:rPr lang="en-US" sz="8000" b="0" dirty="0">
                    <a:solidFill>
                      <a:schemeClr val="accent2"/>
                    </a:solidFill>
                  </a:rPr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8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8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sz="8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8000" i="1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8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8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d>
                            <m:dPr>
                              <m:ctrlPr>
                                <a:rPr lang="en-US" sz="8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8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US" sz="8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8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80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sz="80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8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8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d>
                      <m:r>
                        <a:rPr lang="en-US" sz="8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sz="8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8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8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US" sz="8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8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8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8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8000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8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d>
                        <m:dPr>
                          <m:ctrlPr>
                            <a:rPr lang="en-US" sz="8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8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8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ad>
                        <m:radPr>
                          <m:degHide m:val="on"/>
                          <m:ctrlPr>
                            <a:rPr lang="en-US" sz="8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8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8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8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en-US" sz="8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8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8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en-US" sz="8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8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8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en-US" sz="8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8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8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8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12 </m:t>
                              </m:r>
                              <m:r>
                                <a:rPr lang="en-US" sz="8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  <m:d>
                                <m:dPr>
                                  <m:ctrlPr>
                                    <a:rPr lang="en-US" sz="8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8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8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8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a:rPr lang="en-US" sz="8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8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4200" b="0" dirty="0">
                  <a:solidFill>
                    <a:schemeClr val="tx1"/>
                  </a:solidFill>
                </a:endParaRPr>
              </a:p>
              <a:p>
                <a:pPr lvl="1"/>
                <a:endParaRPr lang="en-US" b="0" i="1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6041E4-5E5E-4F06-B37C-2003B81DA3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15" t="-2879"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6161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B5783-CB2C-4BF6-ABA4-7823C6913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Errors in Simpson’s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87EF73-2F05-4D04-96E8-4CF735DF8E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anchor="t"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It can be shown (with a more tedious calculation than for the trapezoid rule) that the approximation error of </a:t>
                </a:r>
                <a:r>
                  <a:rPr lang="en-US" dirty="0">
                    <a:solidFill>
                      <a:schemeClr val="accent2"/>
                    </a:solidFill>
                  </a:rPr>
                  <a:t>Simpson’s Rule </a:t>
                </a:r>
                <a:r>
                  <a:rPr lang="en-US" dirty="0"/>
                  <a:t>is given by </a:t>
                </a:r>
                <a:endParaRPr lang="en-US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90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′′′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Thus, Simpson’s rule is a third-order integration method, accurate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i="1" dirty="0"/>
              </a:p>
              <a:p>
                <a:pPr marL="0" indent="0">
                  <a:buNone/>
                </a:pPr>
                <a:r>
                  <a:rPr lang="en-US" dirty="0"/>
                  <a:t>The trick is to choose a step size/number of steps that minimizes the combination of </a:t>
                </a:r>
                <a:r>
                  <a:rPr lang="en-US" dirty="0">
                    <a:solidFill>
                      <a:schemeClr val="accent2"/>
                    </a:solidFill>
                  </a:rPr>
                  <a:t>approximation error </a:t>
                </a:r>
                <a:r>
                  <a:rPr lang="en-US" dirty="0"/>
                  <a:t>and </a:t>
                </a:r>
                <a:r>
                  <a:rPr lang="en-US" dirty="0">
                    <a:solidFill>
                      <a:schemeClr val="accent2"/>
                    </a:solidFill>
                  </a:rPr>
                  <a:t>rounding error </a:t>
                </a:r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ad>
                        <m:ra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g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′′′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′′′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90 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87EF73-2F05-4D04-96E8-4CF735DF8E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15" t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2255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31FF9-C516-420B-AE16-3B564CC3C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That’s all great, </a:t>
            </a:r>
            <a:r>
              <a:rPr lang="en-US" i="1" dirty="0"/>
              <a:t>IF we knew the function!!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C9214A-3E8D-454B-9DE3-A3DD903BAF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anchor="t"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US" sz="2900" dirty="0"/>
                  <a:t>What are we even doing here? You wouldn’t ever </a:t>
                </a:r>
                <a:r>
                  <a:rPr lang="en-US" sz="2900" i="1" dirty="0"/>
                  <a:t>calculate</a:t>
                </a:r>
                <a:r>
                  <a:rPr lang="en-US" sz="2900" dirty="0"/>
                  <a:t> the derivative to estimate errors in integration. There is a much easy way:</a:t>
                </a:r>
              </a:p>
              <a:p>
                <a:pPr marL="0" indent="0">
                  <a:buNone/>
                </a:pPr>
                <a:r>
                  <a:rPr lang="en-US" sz="2900" dirty="0"/>
                  <a:t>1. Calculate the integral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9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9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9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900" dirty="0"/>
                  <a:t> steps (in other words, step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9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9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9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900" dirty="0"/>
                  <a:t>), meaning that the true value of the integral </a:t>
                </a:r>
                <a:r>
                  <a:rPr lang="en-US" sz="2900" i="1" dirty="0"/>
                  <a:t>I</a:t>
                </a:r>
                <a:r>
                  <a:rPr lang="en-US" sz="2900" dirty="0"/>
                  <a:t> is the summation of the approximation and error (using the </a:t>
                </a:r>
                <a:r>
                  <a:rPr lang="en-US" sz="2900" dirty="0">
                    <a:solidFill>
                      <a:schemeClr val="accent2"/>
                    </a:solidFill>
                  </a:rPr>
                  <a:t>trapezoid rule </a:t>
                </a:r>
                <a:r>
                  <a:rPr lang="en-US" sz="2900" dirty="0"/>
                  <a:t>for example)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9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9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9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  <m:r>
                            <a:rPr lang="en-US" sz="29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9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9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9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900" i="1">
                          <a:latin typeface="Cambria Math" panose="02040503050406030204" pitchFamily="18" charset="0"/>
                        </a:rPr>
                        <m:t>𝑐</m:t>
                      </m:r>
                      <m:sSubSup>
                        <m:sSubSupPr>
                          <m:ctrlPr>
                            <a:rPr lang="en-US" sz="29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9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9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9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9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900" i="1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sz="2900" dirty="0"/>
              </a:p>
              <a:p>
                <a:pPr marL="0" indent="0">
                  <a:buNone/>
                </a:pPr>
                <a:r>
                  <a:rPr lang="en-US" sz="2900" dirty="0"/>
                  <a:t>2. Calculate the integral </a:t>
                </a:r>
                <a:r>
                  <a:rPr lang="en-US" sz="2900" b="1" dirty="0"/>
                  <a:t>using twice the number </a:t>
                </a:r>
                <a:r>
                  <a:rPr lang="en-US" sz="2900" dirty="0"/>
                  <a:t>of steps,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9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900" b="0" i="1" smtClean="0">
                        <a:latin typeface="Cambria Math" panose="02040503050406030204" pitchFamily="18" charset="0"/>
                      </a:rPr>
                      <m:t>=2</m:t>
                    </m:r>
                    <m:sSub>
                      <m:sSubPr>
                        <m:ctrlPr>
                          <a:rPr lang="en-US" sz="29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9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9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900" dirty="0"/>
                  <a:t> steps (in other words, </a:t>
                </a:r>
                <a:r>
                  <a:rPr lang="en-US" sz="2900" b="1" dirty="0"/>
                  <a:t>half</a:t>
                </a:r>
                <a:r>
                  <a:rPr lang="en-US" sz="2900" dirty="0"/>
                  <a:t> the step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9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9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skw"/>
                        <m:ctrlPr>
                          <a:rPr lang="en-US" sz="29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9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9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sz="29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9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9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900" dirty="0"/>
                  <a:t>),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9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9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9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9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  <m:r>
                            <a:rPr lang="en-US" sz="29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9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9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9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900" i="1">
                          <a:latin typeface="Cambria Math" panose="02040503050406030204" pitchFamily="18" charset="0"/>
                        </a:rPr>
                        <m:t>𝑐</m:t>
                      </m:r>
                      <m:sSubSup>
                        <m:sSubSupPr>
                          <m:ctrlPr>
                            <a:rPr lang="en-US" sz="29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9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9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9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9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900" i="1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sz="2900" dirty="0"/>
              </a:p>
              <a:p>
                <a:pPr marL="0" indent="0">
                  <a:buNone/>
                </a:pPr>
                <a:r>
                  <a:rPr lang="en-US" sz="2900" dirty="0"/>
                  <a:t>3. Then the error on the second calculation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9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9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9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900" i="1">
                          <a:latin typeface="Cambria Math" panose="02040503050406030204" pitchFamily="18" charset="0"/>
                        </a:rPr>
                        <m:t>𝑐</m:t>
                      </m:r>
                      <m:sSubSup>
                        <m:sSubSupPr>
                          <m:ctrlPr>
                            <a:rPr lang="en-US" sz="29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9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9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9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9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9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9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9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900" i="1">
                          <a:latin typeface="Cambria Math" panose="02040503050406030204" pitchFamily="18" charset="0"/>
                        </a:rPr>
                        <m:t>𝑐</m:t>
                      </m:r>
                      <m:sSubSup>
                        <m:sSubSupPr>
                          <m:ctrlPr>
                            <a:rPr lang="en-US" sz="29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9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9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9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29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9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29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9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9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9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9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9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9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9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9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9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9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9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9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900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900" dirty="0"/>
                  <a:t>(Trapezoid Rule) /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9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900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US" sz="29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9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900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900" dirty="0"/>
                  <a:t>(Simpson’s Rule)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342900" indent="-342900">
                  <a:buFont typeface="+mj-lt"/>
                  <a:buAutoNum type="arabicPeriod"/>
                </a:pPr>
                <a:endParaRPr lang="en-US" dirty="0"/>
              </a:p>
              <a:p>
                <a:pPr marL="342900" indent="-342900">
                  <a:buFont typeface="+mj-lt"/>
                  <a:buAutoNum type="arabicPeriod"/>
                </a:pPr>
                <a:endParaRPr lang="en-US" dirty="0"/>
              </a:p>
              <a:p>
                <a:pPr marL="342900" indent="-342900">
                  <a:buFont typeface="+mj-lt"/>
                  <a:buAutoNum type="arabicPeriod"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C9214A-3E8D-454B-9DE3-A3DD903BAF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4" t="-2576" r="-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0767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31FF9-C516-420B-AE16-3B564CC3C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error estimates to </a:t>
            </a:r>
            <a:r>
              <a:rPr lang="en-US"/>
              <a:t>our advantage</a:t>
            </a:r>
            <a:endParaRPr lang="en-US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C9214A-3E8D-454B-9DE3-A3DD903BAF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anchor="t">
                <a:normAutofit/>
              </a:bodyPr>
              <a:lstStyle/>
              <a:p>
                <a:r>
                  <a:rPr lang="en-US" dirty="0"/>
                  <a:t>Using the </a:t>
                </a:r>
                <a:r>
                  <a:rPr lang="en-US" dirty="0">
                    <a:solidFill>
                      <a:schemeClr val="accent2"/>
                    </a:solidFill>
                  </a:rPr>
                  <a:t>Trapezoid</a:t>
                </a:r>
                <a:r>
                  <a:rPr lang="en-US" dirty="0"/>
                  <a:t> or </a:t>
                </a:r>
                <a:r>
                  <a:rPr lang="en-US" dirty="0">
                    <a:solidFill>
                      <a:schemeClr val="accent2"/>
                    </a:solidFill>
                  </a:rPr>
                  <a:t>Simpson’s</a:t>
                </a:r>
                <a:r>
                  <a:rPr lang="en-US" dirty="0"/>
                  <a:t> method, we can calculate the error in the integral value by comparing the calculation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steps (step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) and then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steps (step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skw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), the errors are then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(Trapezoid Rule) </a:t>
                </a:r>
              </a:p>
              <a:p>
                <a:pPr marL="0" indent="0" algn="ctr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(Simpson’s Rule) </a:t>
                </a:r>
              </a:p>
              <a:p>
                <a:r>
                  <a:rPr lang="en-US" dirty="0"/>
                  <a:t>In general, you can iterate on this process until you calculate to a certain error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where (for the trapezoid rule)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But keep in mind that half the terms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are already in the quantity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342900" indent="-342900">
                  <a:buFont typeface="+mj-lt"/>
                  <a:buAutoNum type="arabicPeriod"/>
                </a:pPr>
                <a:endParaRPr lang="en-US" dirty="0"/>
              </a:p>
              <a:p>
                <a:pPr marL="342900" indent="-342900">
                  <a:buFont typeface="+mj-lt"/>
                  <a:buAutoNum type="arabicPeriod"/>
                </a:pPr>
                <a:endParaRPr lang="en-US" dirty="0"/>
              </a:p>
              <a:p>
                <a:pPr marL="342900" indent="-342900">
                  <a:buFont typeface="+mj-lt"/>
                  <a:buAutoNum type="arabicPeriod"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C9214A-3E8D-454B-9DE3-A3DD903BAF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21" t="-4146" r="-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5331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FCEE9-C230-4356-AD90-F59CDF786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Adaptive Integration </a:t>
            </a:r>
            <a:r>
              <a:rPr lang="en-US" dirty="0" err="1"/>
              <a:t>Techiniques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DF777E-C226-49B4-969F-9846D7F075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anchor="t">
                <a:normAutofit fontScale="92500"/>
              </a:bodyPr>
              <a:lstStyle/>
              <a:p>
                <a:r>
                  <a:rPr lang="en-US" dirty="0"/>
                  <a:t>In Mathematical terms, we can express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in terms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 to save computation time, where from the trapezoid rule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𝑒𝑣𝑒𝑛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𝑜𝑑𝑑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𝑒𝑣𝑒𝑛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DF777E-C226-49B4-969F-9846D7F075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31" t="-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9365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4BCD2-8316-4143-9E63-BC1AA4BB7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Adaptive Integration </a:t>
            </a:r>
            <a:r>
              <a:rPr lang="en-US" dirty="0" err="1"/>
              <a:t>Techiniques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31768C-C540-4FBE-87AA-6ED8B4C623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anchor="t">
                <a:normAutofit/>
              </a:bodyPr>
              <a:lstStyle/>
              <a:p>
                <a:r>
                  <a:rPr lang="en-US" dirty="0"/>
                  <a:t>The integral is then simplified to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𝑜𝑑𝑑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𝑜𝑑𝑑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Steps to Adaptive Integration: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Choose an initial number of steps and calculate the first approximation,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Double the number of steps and calculate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and the error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See if the error is within specified tolerance, otherwise repeat step 2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31768C-C540-4FBE-87AA-6ED8B4C623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76" t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6678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8620C-7201-405A-8F71-4EDD145AA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Adaptive Integration methods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832F0E-EF8C-4567-B382-0CE628C548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anchor="t"/>
              <a:lstStyle/>
              <a:p>
                <a:r>
                  <a:rPr lang="en-US" dirty="0"/>
                  <a:t>Using </a:t>
                </a:r>
                <a:r>
                  <a:rPr lang="en-US" dirty="0">
                    <a:solidFill>
                      <a:schemeClr val="accent2"/>
                    </a:solidFill>
                  </a:rPr>
                  <a:t>Simpson’s Rule</a:t>
                </a:r>
                <a:r>
                  <a:rPr lang="en-US" dirty="0"/>
                  <a:t>, we can find something similar – define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𝑒𝑣𝑒𝑛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𝑜𝑑𝑑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 and the integral at iteration </a:t>
                </a:r>
                <a:r>
                  <a:rPr lang="en-US" i="1" dirty="0" err="1"/>
                  <a:t>i</a:t>
                </a:r>
                <a:r>
                  <a:rPr lang="en-US" dirty="0"/>
                  <a:t> is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832F0E-EF8C-4567-B382-0CE628C548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42" t="-9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0732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56FED-5694-41A2-B6D0-6C7D47C5A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Romberg Integration - </a:t>
            </a:r>
            <a:r>
              <a:rPr lang="en-US" dirty="0">
                <a:solidFill>
                  <a:srgbClr val="C00000"/>
                </a:solidFill>
              </a:rPr>
              <a:t>We can do even better!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15E0A0-CD5B-4F6F-9D94-7547DFE63C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anchor="t"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From the trapezoid rule, the error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bSup>
                      <m:sSub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type m:val="skw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where the true value of the integral is </a:t>
                </a:r>
                <a:endParaRPr lang="en-US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type m:val="skw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chemeClr val="accent2"/>
                    </a:solidFill>
                  </a:rPr>
                  <a:t>Now this expression is accurate to third order, with a fourth order error!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Let’s refine our notation for this process –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,1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−1,1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,1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−1,1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15E0A0-CD5B-4F6F-9D94-7547DFE63C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21" t="-1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90DC4FC-9A97-437D-B11F-F999F5B92ADF}"/>
              </a:ext>
            </a:extLst>
          </p:cNvPr>
          <p:cNvCxnSpPr>
            <a:cxnSpLocks/>
          </p:cNvCxnSpPr>
          <p:nvPr/>
        </p:nvCxnSpPr>
        <p:spPr>
          <a:xfrm flipH="1">
            <a:off x="7772400" y="4658810"/>
            <a:ext cx="1360025" cy="3530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3CB240D-9247-4EA8-A4EF-52B4E36F1410}"/>
              </a:ext>
            </a:extLst>
          </p:cNvPr>
          <p:cNvSpPr txBox="1"/>
          <p:nvPr/>
        </p:nvSpPr>
        <p:spPr>
          <a:xfrm rot="12078706" flipV="1">
            <a:off x="9250235" y="4202148"/>
            <a:ext cx="1287552" cy="64633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Relates iterations </a:t>
            </a:r>
          </a:p>
        </p:txBody>
      </p:sp>
    </p:spTree>
    <p:extLst>
      <p:ext uri="{BB962C8B-B14F-4D97-AF65-F5344CB8AC3E}">
        <p14:creationId xmlns:p14="http://schemas.microsoft.com/office/powerpoint/2010/main" val="1191874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B7954-C257-4E4E-9852-8428A18B4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Romberg Integration – The process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16DF88-DD39-4521-A73D-2A15ECB1D6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anchor="t">
                <a:normAutofit/>
              </a:bodyPr>
              <a:lstStyle/>
              <a:p>
                <a:r>
                  <a:rPr lang="en-US" dirty="0"/>
                  <a:t>Using the fact that only even powers of the step size appear in the errors of the integrals –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bSup>
                        </m:e>
                      </m:d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−1,2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Combining these two equations and solving for the error, we can see that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−1,2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You can continue this process of doubling the number of steps and find the integral by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−1,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−1,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16DF88-DD39-4521-A73D-2A15ECB1D6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6" t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9405997-7B4F-4B80-AFF2-A46A3D6A8251}"/>
              </a:ext>
            </a:extLst>
          </p:cNvPr>
          <p:cNvCxnSpPr>
            <a:cxnSpLocks/>
          </p:cNvCxnSpPr>
          <p:nvPr/>
        </p:nvCxnSpPr>
        <p:spPr>
          <a:xfrm flipH="1">
            <a:off x="8337429" y="4804913"/>
            <a:ext cx="1306903" cy="1432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A4ACCDA-A5A0-4B09-86C6-ACE5B69DF659}"/>
              </a:ext>
            </a:extLst>
          </p:cNvPr>
          <p:cNvSpPr txBox="1"/>
          <p:nvPr/>
        </p:nvSpPr>
        <p:spPr>
          <a:xfrm rot="12078706" flipV="1">
            <a:off x="9647085" y="4703242"/>
            <a:ext cx="1287552" cy="64633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Relates iterations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F3414D6-CC23-4F94-96A8-7C74292129DB}"/>
              </a:ext>
            </a:extLst>
          </p:cNvPr>
          <p:cNvCxnSpPr>
            <a:cxnSpLocks/>
          </p:cNvCxnSpPr>
          <p:nvPr/>
        </p:nvCxnSpPr>
        <p:spPr>
          <a:xfrm>
            <a:off x="3168763" y="5213410"/>
            <a:ext cx="1238492" cy="2083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E599F12-975E-4F50-92E5-79CB2CC14964}"/>
              </a:ext>
            </a:extLst>
          </p:cNvPr>
          <p:cNvSpPr txBox="1"/>
          <p:nvPr/>
        </p:nvSpPr>
        <p:spPr>
          <a:xfrm rot="8988861" flipV="1">
            <a:off x="1808282" y="4897016"/>
            <a:ext cx="1287552" cy="64633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Best error estimate</a:t>
            </a:r>
          </a:p>
        </p:txBody>
      </p:sp>
    </p:spTree>
    <p:extLst>
      <p:ext uri="{BB962C8B-B14F-4D97-AF65-F5344CB8AC3E}">
        <p14:creationId xmlns:p14="http://schemas.microsoft.com/office/powerpoint/2010/main" val="1228686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0DF2751-8AC7-46A4-81CA-78A16531B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Romberg Integration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5B4BEF-8636-4027-84A4-DF95EC7136F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When using the Romberg Integration Method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Calculate the first two estimates of the integral using the regular trapezoid rule: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</m:oMath>
                </a14:m>
                <a:endParaRPr lang="en-US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From these, calculate the more accurate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2,2</m:t>
                        </m:r>
                      </m:sub>
                    </m:sSub>
                  </m:oMath>
                </a14:m>
                <a:r>
                  <a:rPr lang="en-US" dirty="0"/>
                  <a:t> (where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,2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Calculate the next trapezoidal rule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</m:oMath>
                </a14:m>
                <a:r>
                  <a:rPr lang="en-US" dirty="0"/>
                  <a:t>, and from this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3,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3,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Repeat step </a:t>
                </a:r>
                <a:r>
                  <a:rPr lang="en-US" dirty="0">
                    <a:solidFill>
                      <a:schemeClr val="accent2"/>
                    </a:solidFill>
                  </a:rPr>
                  <a:t>3</a:t>
                </a:r>
                <a:r>
                  <a:rPr lang="en-US" dirty="0"/>
                  <a:t>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</m:oMath>
                </a14:m>
                <a:endParaRPr lang="en-US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For each estimate </a:t>
                </a:r>
                <a:r>
                  <a:rPr lang="en-US" i="1" dirty="0" err="1"/>
                  <a:t>i</a:t>
                </a:r>
                <a:r>
                  <a:rPr lang="en-US" dirty="0"/>
                  <a:t> calculate the error, which allows us to stop the process when the error reaches some desired target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5B4BEF-8636-4027-84A4-DF95EC7136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3086" t="-2576" r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6CF6FC9F-B1AA-451C-B2AD-81B9A8261B0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88417" y="2228003"/>
                <a:ext cx="5422392" cy="3756108"/>
              </a:xfrm>
              <a:ln>
                <a:solidFill>
                  <a:schemeClr val="tx1"/>
                </a:solidFill>
              </a:ln>
            </p:spPr>
            <p:txBody>
              <a:bodyPr>
                <a:normAutofit fontScale="92500" lnSpcReduction="20000"/>
              </a:bodyPr>
              <a:lstStyle/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1,1</m:t>
                        </m:r>
                      </m:sub>
                    </m:sSub>
                  </m:oMath>
                </a14:m>
                <a:endParaRPr lang="en-US" sz="2000" b="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sz="2000" b="0" dirty="0"/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sz="2000" dirty="0"/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,2</m:t>
                        </m:r>
                      </m:sub>
                    </m:sSub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sz="2000" dirty="0"/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,2</m:t>
                        </m:r>
                      </m:sub>
                    </m:sSub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6CF6FC9F-B1AA-451C-B2AD-81B9A8261B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88417" y="2228003"/>
                <a:ext cx="5422392" cy="3756108"/>
              </a:xfrm>
              <a:blipFill>
                <a:blip r:embed="rId3"/>
                <a:stretch>
                  <a:fillRect l="-2578" t="-242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E153787-2B71-4382-BEBC-48126F397FDE}"/>
              </a:ext>
            </a:extLst>
          </p:cNvPr>
          <p:cNvCxnSpPr/>
          <p:nvPr/>
        </p:nvCxnSpPr>
        <p:spPr>
          <a:xfrm>
            <a:off x="7367284" y="2542814"/>
            <a:ext cx="381965" cy="506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56F47B0-83D4-4C45-8121-B9C8613D78E7}"/>
              </a:ext>
            </a:extLst>
          </p:cNvPr>
          <p:cNvCxnSpPr/>
          <p:nvPr/>
        </p:nvCxnSpPr>
        <p:spPr>
          <a:xfrm>
            <a:off x="7342898" y="3324477"/>
            <a:ext cx="381965" cy="506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33FA49B-64FB-4666-A9BD-C368351AF912}"/>
              </a:ext>
            </a:extLst>
          </p:cNvPr>
          <p:cNvCxnSpPr/>
          <p:nvPr/>
        </p:nvCxnSpPr>
        <p:spPr>
          <a:xfrm>
            <a:off x="7342896" y="4896447"/>
            <a:ext cx="381965" cy="506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E9A91D2-4534-4254-9DB8-240916FF9478}"/>
              </a:ext>
            </a:extLst>
          </p:cNvPr>
          <p:cNvCxnSpPr/>
          <p:nvPr/>
        </p:nvCxnSpPr>
        <p:spPr>
          <a:xfrm>
            <a:off x="8879342" y="4010701"/>
            <a:ext cx="381965" cy="506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8E9E920-4280-4594-8E90-ABC2DCEAB3BD}"/>
              </a:ext>
            </a:extLst>
          </p:cNvPr>
          <p:cNvCxnSpPr/>
          <p:nvPr/>
        </p:nvCxnSpPr>
        <p:spPr>
          <a:xfrm>
            <a:off x="8145879" y="4025933"/>
            <a:ext cx="381965" cy="506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0B993EC-9DD8-4968-A347-BE8E68ADE979}"/>
              </a:ext>
            </a:extLst>
          </p:cNvPr>
          <p:cNvCxnSpPr/>
          <p:nvPr/>
        </p:nvCxnSpPr>
        <p:spPr>
          <a:xfrm>
            <a:off x="7342897" y="4075244"/>
            <a:ext cx="381965" cy="506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59A1C83-96C6-4B03-9402-89178D158894}"/>
              </a:ext>
            </a:extLst>
          </p:cNvPr>
          <p:cNvCxnSpPr/>
          <p:nvPr/>
        </p:nvCxnSpPr>
        <p:spPr>
          <a:xfrm>
            <a:off x="9332866" y="4896447"/>
            <a:ext cx="381965" cy="506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13DE02D-C553-4BE2-9ECD-C97385B7A75F}"/>
              </a:ext>
            </a:extLst>
          </p:cNvPr>
          <p:cNvCxnSpPr/>
          <p:nvPr/>
        </p:nvCxnSpPr>
        <p:spPr>
          <a:xfrm>
            <a:off x="8647046" y="4896447"/>
            <a:ext cx="381965" cy="506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8F9E47C-1326-4E65-8EBD-66341C8337F0}"/>
              </a:ext>
            </a:extLst>
          </p:cNvPr>
          <p:cNvCxnSpPr/>
          <p:nvPr/>
        </p:nvCxnSpPr>
        <p:spPr>
          <a:xfrm>
            <a:off x="8041968" y="4896447"/>
            <a:ext cx="381965" cy="506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47F8DF2-9A76-0831-0AFC-12F85A9EB9BD}"/>
              </a:ext>
            </a:extLst>
          </p:cNvPr>
          <p:cNvCxnSpPr/>
          <p:nvPr/>
        </p:nvCxnSpPr>
        <p:spPr>
          <a:xfrm>
            <a:off x="8041968" y="3282094"/>
            <a:ext cx="381965" cy="506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3941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9287B-38E7-490C-8DEC-8BD737CDA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Higher order integration techniques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5F92D8-05F9-4778-BC01-17FFA2173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7343" y="2758322"/>
            <a:ext cx="3673798" cy="10359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CCBC1BE-C8C9-4992-86DE-E1E13EDD16C9}"/>
              </a:ext>
            </a:extLst>
          </p:cNvPr>
          <p:cNvSpPr txBox="1"/>
          <p:nvPr/>
        </p:nvSpPr>
        <p:spPr>
          <a:xfrm>
            <a:off x="6706802" y="1997038"/>
            <a:ext cx="390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Lagrange Interpolating Polynomial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059EA32-0403-45D3-B0A3-E8424781B9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93298" y="4138603"/>
            <a:ext cx="5422390" cy="1706613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73865C69-3891-4548-9080-3591DAF47835}"/>
              </a:ext>
            </a:extLst>
          </p:cNvPr>
          <p:cNvSpPr txBox="1">
            <a:spLocks/>
          </p:cNvSpPr>
          <p:nvPr/>
        </p:nvSpPr>
        <p:spPr>
          <a:xfrm>
            <a:off x="673610" y="1969796"/>
            <a:ext cx="5422390" cy="4337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dirty="0"/>
              <a:t>Given </a:t>
            </a:r>
            <a:r>
              <a:rPr lang="en-US" i="1" dirty="0"/>
              <a:t>N</a:t>
            </a:r>
            <a:r>
              <a:rPr lang="en-US" dirty="0"/>
              <a:t> points we can fit a (</a:t>
            </a:r>
            <a:r>
              <a:rPr lang="en-US" i="1" dirty="0"/>
              <a:t>N-1)</a:t>
            </a:r>
            <a:r>
              <a:rPr lang="en-US" i="1" dirty="0" err="1"/>
              <a:t>th</a:t>
            </a:r>
            <a:r>
              <a:rPr lang="en-US" i="1" dirty="0"/>
              <a:t> </a:t>
            </a:r>
            <a:r>
              <a:rPr lang="en-US" dirty="0"/>
              <a:t>degree polynomial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dirty="0">
                <a:solidFill>
                  <a:srgbClr val="C00000"/>
                </a:solidFill>
              </a:rPr>
              <a:t>Why don’t we just do that and then integrate that polynomial?</a:t>
            </a:r>
          </a:p>
          <a:p>
            <a:r>
              <a:rPr lang="en-US" dirty="0"/>
              <a:t>Good question! Such methods exist and are called </a:t>
            </a:r>
            <a:r>
              <a:rPr lang="en-US" i="1" dirty="0"/>
              <a:t>Newton-Cotes formulas </a:t>
            </a:r>
            <a:r>
              <a:rPr lang="en-US" dirty="0"/>
              <a:t>– the weightings for cubic and quartic curve fittings is on </a:t>
            </a:r>
            <a:r>
              <a:rPr lang="en-US" dirty="0" err="1"/>
              <a:t>pg</a:t>
            </a:r>
            <a:r>
              <a:rPr lang="en-US" dirty="0"/>
              <a:t> 164 of </a:t>
            </a:r>
            <a:r>
              <a:rPr lang="en-US" i="1" dirty="0"/>
              <a:t>Computational Physics </a:t>
            </a:r>
            <a:r>
              <a:rPr lang="en-US" dirty="0"/>
              <a:t>by Newman</a:t>
            </a:r>
            <a:endParaRPr lang="en-US" i="1" dirty="0"/>
          </a:p>
          <a:p>
            <a:r>
              <a:rPr lang="en-US" dirty="0"/>
              <a:t>There is also a method that allows you to vary the weights and evaluation positions to integrate a (2N-1)</a:t>
            </a:r>
            <a:r>
              <a:rPr lang="en-US" dirty="0" err="1"/>
              <a:t>th</a:t>
            </a:r>
            <a:r>
              <a:rPr lang="en-US" dirty="0"/>
              <a:t>-degree polynomial with just N evaluations called </a:t>
            </a:r>
            <a:r>
              <a:rPr lang="en-US" b="1" dirty="0"/>
              <a:t>Gaussian Quadrature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75180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479</TotalTime>
  <Words>1424</Words>
  <Application>Microsoft Office PowerPoint</Application>
  <PresentationFormat>Widescreen</PresentationFormat>
  <Paragraphs>163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Calibri</vt:lpstr>
      <vt:lpstr>Calibri Light</vt:lpstr>
      <vt:lpstr>Cambria Math</vt:lpstr>
      <vt:lpstr>Wingdings 2</vt:lpstr>
      <vt:lpstr>Retrospect</vt:lpstr>
      <vt:lpstr>Numerical Integration</vt:lpstr>
      <vt:lpstr>Quadrature</vt:lpstr>
      <vt:lpstr>Trapezoid Rule</vt:lpstr>
      <vt:lpstr>Simpson Rule</vt:lpstr>
      <vt:lpstr>Simpson Rule (In the Weeds)</vt:lpstr>
      <vt:lpstr>Simpson Rule (Last of the math)</vt:lpstr>
      <vt:lpstr>How Accurate are These Methods?</vt:lpstr>
      <vt:lpstr> Errors in the Trapezoid Rule</vt:lpstr>
      <vt:lpstr>Errors in Simpson’s Rule</vt:lpstr>
      <vt:lpstr>That’s all great, IF we knew the function!!</vt:lpstr>
      <vt:lpstr>Using the error estimates to our advantage</vt:lpstr>
      <vt:lpstr>Adaptive Integration Techiniques</vt:lpstr>
      <vt:lpstr>Adaptive Integration Techiniques</vt:lpstr>
      <vt:lpstr>Adaptive Integration methods</vt:lpstr>
      <vt:lpstr>Romberg Integration - We can do even better!</vt:lpstr>
      <vt:lpstr>Romberg Integration – The process</vt:lpstr>
      <vt:lpstr>Romberg Integration Algorithm</vt:lpstr>
      <vt:lpstr>Higher order integration techniques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Numerical Integration</dc:title>
  <dc:creator>Kelley, Thomas</dc:creator>
  <cp:lastModifiedBy>Kelley, Tom</cp:lastModifiedBy>
  <cp:revision>30</cp:revision>
  <dcterms:created xsi:type="dcterms:W3CDTF">2018-03-16T20:39:58Z</dcterms:created>
  <dcterms:modified xsi:type="dcterms:W3CDTF">2026-03-23T20:12:16Z</dcterms:modified>
</cp:coreProperties>
</file>