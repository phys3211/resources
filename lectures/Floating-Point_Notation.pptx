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25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21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868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7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7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03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6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89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5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0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51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C86FBD6-713C-43BE-8E95-82CC8BBFD8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9D1AEBB-AFB1-4337-98B6-1B920AE18C9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27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3EDB-2850-6411-D324-36CF2286F8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Floating-Point Notation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8CB58-34E6-E49F-5C3C-B63B76C87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Storing Real numbers since 1985 (2008) (2019)</a:t>
            </a:r>
          </a:p>
        </p:txBody>
      </p:sp>
    </p:spTree>
    <p:extLst>
      <p:ext uri="{BB962C8B-B14F-4D97-AF65-F5344CB8AC3E}">
        <p14:creationId xmlns:p14="http://schemas.microsoft.com/office/powerpoint/2010/main" val="3081423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8B6A92-54D8-D9B5-46EB-434EAB4DE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503941"/>
                </a:solidFill>
              </a:rPr>
              <a:t>Binary Storage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482B77E-8EB5-DD20-6343-81F94574A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77" r="47603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93805-E69C-8648-6B04-2940F49CE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 sz="2800" dirty="0"/>
              <a:t>N bits can store integers ranging from 0 to 2</a:t>
            </a:r>
            <a:r>
              <a:rPr lang="en-US" sz="2800" baseline="30000" dirty="0"/>
              <a:t>N</a:t>
            </a:r>
            <a:r>
              <a:rPr lang="en-US" sz="2800" dirty="0"/>
              <a:t> (0 to 2</a:t>
            </a:r>
            <a:r>
              <a:rPr lang="en-US" sz="2800" baseline="30000" dirty="0"/>
              <a:t>N-1</a:t>
            </a:r>
            <a:r>
              <a:rPr lang="en-US" sz="2800" dirty="0"/>
              <a:t> for signed integers)</a:t>
            </a:r>
          </a:p>
          <a:p>
            <a:r>
              <a:rPr lang="en-US" sz="2800" dirty="0"/>
              <a:t>Most languages contains 32-bit and 64-bit floats</a:t>
            </a:r>
          </a:p>
          <a:p>
            <a:r>
              <a:rPr lang="en-US" sz="2800" dirty="0"/>
              <a:t>Python has a 16, 32, or 64-bit float </a:t>
            </a:r>
          </a:p>
          <a:p>
            <a:r>
              <a:rPr lang="en-US" sz="2800" dirty="0"/>
              <a:t>Side note – Python will automatically assign integers as 32- of 64-bit type</a:t>
            </a:r>
          </a:p>
        </p:txBody>
      </p:sp>
    </p:spTree>
    <p:extLst>
      <p:ext uri="{BB962C8B-B14F-4D97-AF65-F5344CB8AC3E}">
        <p14:creationId xmlns:p14="http://schemas.microsoft.com/office/powerpoint/2010/main" val="3379525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9A2F-3014-107E-04AC-44CCE7B3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Storage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7A0140-FCC0-D048-0819-0C97BF1905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800" dirty="0"/>
                  <a:t>Let’s convert the title to the 15th episode of Star Trek: TNG “11001001” to base 10.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=201</m:t>
                    </m:r>
                  </m:oMath>
                </a14:m>
                <a:endParaRPr lang="en-US" sz="2800" dirty="0"/>
              </a:p>
              <a:p>
                <a:r>
                  <a:rPr lang="en-US" sz="2800" dirty="0">
                    <a:solidFill>
                      <a:srgbClr val="FF0000"/>
                    </a:solidFill>
                  </a:rPr>
                  <a:t>How do you represent non-integers?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7A0140-FCC0-D048-0819-0C97BF1905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2" t="-3485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lose-up of numbers&#10;&#10;Description automatically generated">
            <a:extLst>
              <a:ext uri="{FF2B5EF4-FFF2-40B4-BE49-F238E27FC236}">
                <a16:creationId xmlns:a16="http://schemas.microsoft.com/office/drawing/2014/main" id="{B0C8011D-BEF4-DF3C-90CF-0A9D16A4B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434" y="2641339"/>
            <a:ext cx="7373843" cy="206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35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230A27-1553-42F8-99D7-829868E13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2232D-B4D6-429F-B3D1-2D9891B85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55EF3-6484-421E-9CF1-AD6D22A5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030" y="963997"/>
            <a:ext cx="3254691" cy="4938361"/>
          </a:xfrm>
        </p:spPr>
        <p:txBody>
          <a:bodyPr anchor="ctr">
            <a:normAutofit/>
          </a:bodyPr>
          <a:lstStyle/>
          <a:p>
            <a:pPr algn="r"/>
            <a:r>
              <a:rPr lang="en-US" sz="4400" dirty="0"/>
              <a:t>Floating-Point Notation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CC3441-26B3-4381-B3DF-8AE3C288B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32F48-78BF-A9F1-4C5D-51DB10E200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34882" y="963507"/>
                <a:ext cx="6135097" cy="4938851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800" dirty="0"/>
                  <a:t>As of 1987, IEEE and ANSI adopted the IEEE-754 standard for floating-point arithmetic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800" b="0" i="1">
                        <a:latin typeface="Cambria Math" panose="02040503050406030204" pitchFamily="18" charset="0"/>
                      </a:rPr>
                      <m:t>×1.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𝑏𝑖𝑎𝑠</m:t>
                        </m:r>
                      </m:sup>
                    </m:sSup>
                  </m:oMath>
                </a14:m>
                <a:endParaRPr lang="en-US" sz="2800" b="0" dirty="0"/>
              </a:p>
              <a:p>
                <a:r>
                  <a:rPr lang="en-US" sz="2800" b="0" i="1" dirty="0"/>
                  <a:t>s</a:t>
                </a:r>
                <a:r>
                  <a:rPr lang="en-US" sz="2800" b="0" dirty="0"/>
                  <a:t> </a:t>
                </a:r>
                <a:r>
                  <a:rPr lang="en-US" sz="2800" dirty="0"/>
                  <a:t>= one-bit sign</a:t>
                </a:r>
              </a:p>
              <a:p>
                <a:r>
                  <a:rPr lang="en-US" sz="2800" b="0" i="1" dirty="0"/>
                  <a:t>f</a:t>
                </a:r>
                <a:r>
                  <a:rPr lang="en-US" sz="2800" dirty="0"/>
                  <a:t> = fraction (mantissa)</a:t>
                </a:r>
              </a:p>
              <a:p>
                <a:r>
                  <a:rPr lang="en-US" sz="2800" i="1" dirty="0"/>
                  <a:t>e</a:t>
                </a:r>
                <a:r>
                  <a:rPr lang="en-US" sz="2800" dirty="0"/>
                  <a:t> = exponent</a:t>
                </a:r>
              </a:p>
              <a:p>
                <a:r>
                  <a:rPr lang="en-US" sz="2800" b="0" i="1" dirty="0"/>
                  <a:t>bias</a:t>
                </a:r>
                <a:r>
                  <a:rPr lang="en-US" sz="2800" b="0" dirty="0"/>
                  <a:t> = </a:t>
                </a:r>
                <a:r>
                  <a:rPr lang="en-US" sz="2800" dirty="0"/>
                  <a:t>127 (32-bit), 1023 (64-bit)</a:t>
                </a:r>
                <a:endParaRPr lang="en-US" sz="28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32F48-78BF-A9F1-4C5D-51DB10E200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34882" y="963507"/>
                <a:ext cx="6135097" cy="4938851"/>
              </a:xfrm>
              <a:blipFill>
                <a:blip r:embed="rId2"/>
                <a:stretch>
                  <a:fillRect l="-1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61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F834F50-341F-42A5-8C78-91B137699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3EC967-C9F3-4E15-95C7-C2E77A1E1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8A9D3D4-1F89-47F0-A597-FE1A004D9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4837155-5FB8-4A96-864C-066D5C655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85918EE-77B5-4057-BB22-B9CE13905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542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7C097-E983-A65F-2A21-431195B9D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676" y="516835"/>
            <a:ext cx="3325125" cy="19661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IEEE floating point notation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4D548BC-8EF2-651D-B601-95B4C2F8B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9674" y="2516094"/>
            <a:ext cx="3325125" cy="3372877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Sign = stored in 1-bit</a:t>
            </a:r>
          </a:p>
          <a:p>
            <a:r>
              <a:rPr lang="en-US" sz="2400" dirty="0">
                <a:solidFill>
                  <a:srgbClr val="FFFFFF"/>
                </a:solidFill>
              </a:rPr>
              <a:t>Exponent = stored in 8/11 bits</a:t>
            </a:r>
          </a:p>
          <a:p>
            <a:r>
              <a:rPr lang="en-US" sz="2400" dirty="0">
                <a:solidFill>
                  <a:srgbClr val="FFFFFF"/>
                </a:solidFill>
              </a:rPr>
              <a:t>Fraction = stored in 23/52 bits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C7B070-A583-45C7-AF93-0E8F020EF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272" y="0"/>
            <a:ext cx="64008" cy="6858000"/>
          </a:xfrm>
          <a:prstGeom prst="rect">
            <a:avLst/>
          </a:prstGeom>
          <a:solidFill>
            <a:srgbClr val="A0FB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Content Placeholder 6" descr="A row of pink rectangular objects&#10;&#10;Description automatically generated">
            <a:extLst>
              <a:ext uri="{FF2B5EF4-FFF2-40B4-BE49-F238E27FC236}">
                <a16:creationId xmlns:a16="http://schemas.microsoft.com/office/drawing/2014/main" id="{33486C16-9EA3-5A15-17C9-BDAEA67B3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202" y="1368101"/>
            <a:ext cx="6182033" cy="1250411"/>
          </a:xfrm>
          <a:prstGeom prst="rect">
            <a:avLst/>
          </a:prstGeom>
        </p:spPr>
      </p:pic>
      <p:pic>
        <p:nvPicPr>
          <p:cNvPr id="9" name="Content Placeholder 8" descr="A black and pink rectangle with black lines&#10;&#10;Description automatically generated">
            <a:extLst>
              <a:ext uri="{FF2B5EF4-FFF2-40B4-BE49-F238E27FC236}">
                <a16:creationId xmlns:a16="http://schemas.microsoft.com/office/drawing/2014/main" id="{064CF2F7-8E60-0B19-89B8-3F8F5965D0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202" y="4252908"/>
            <a:ext cx="6182033" cy="125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80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C769-C551-8D8E-32F4-57B7ADE3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of Values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8EFB6F-CFF0-9C3E-94D8-42A9746E3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32-bit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3EFA-E95B-A5C8-1071-46F693A71A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i="1" dirty="0"/>
              <a:t>s = </a:t>
            </a:r>
            <a:r>
              <a:rPr lang="en-US" sz="2800" dirty="0"/>
              <a:t>[?]</a:t>
            </a:r>
          </a:p>
          <a:p>
            <a:r>
              <a:rPr lang="en-US" sz="2800" i="1" dirty="0"/>
              <a:t>e (8-bit)= [?]</a:t>
            </a:r>
          </a:p>
          <a:p>
            <a:r>
              <a:rPr lang="en-US" sz="2800" i="1" dirty="0"/>
              <a:t>f (23-bit) = [?]</a:t>
            </a:r>
          </a:p>
          <a:p>
            <a:r>
              <a:rPr lang="en-US" sz="2800" i="1" dirty="0"/>
              <a:t>bias=?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2A466C-7FF6-935E-F27E-D7FD992AB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64-bit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BF83F5-51F4-47D1-E38A-931888BCE55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800" i="1" dirty="0"/>
              <a:t>s = </a:t>
            </a:r>
            <a:r>
              <a:rPr lang="en-US" sz="2800" dirty="0"/>
              <a:t>[?]</a:t>
            </a:r>
          </a:p>
          <a:p>
            <a:r>
              <a:rPr lang="en-US" sz="2800" i="1" dirty="0"/>
              <a:t>e (11-bit)= [?]</a:t>
            </a:r>
          </a:p>
          <a:p>
            <a:r>
              <a:rPr lang="en-US" sz="2800" i="1" dirty="0"/>
              <a:t>f (52-bit) = [?]</a:t>
            </a:r>
          </a:p>
          <a:p>
            <a:r>
              <a:rPr lang="en-US" sz="2800" i="1" dirty="0"/>
              <a:t>bias=?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70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07B0A-0E47-E597-F3F2-81B47CEEF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2961800" cy="21114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Machine Precision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3182F3-6980-0410-1930-8B36B42445A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70934" y="2398080"/>
                <a:ext cx="3750316" cy="3471013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In general</a:t>
                </a:r>
              </a:p>
              <a:p>
                <a:pPr lvl="1"/>
                <a:r>
                  <a:rPr lang="en-US" sz="2000" dirty="0"/>
                  <a:t>Single precision is accurate up to 6 decimals</a:t>
                </a:r>
              </a:p>
              <a:p>
                <a:pPr lvl="1"/>
                <a:r>
                  <a:rPr lang="en-US" sz="2000" dirty="0"/>
                  <a:t>Double precision is accurate up to 15 decimals</a:t>
                </a:r>
              </a:p>
              <a:p>
                <a:r>
                  <a:rPr lang="en-US" dirty="0"/>
                  <a:t>Define machine precision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- the maximum number that can be added to a number without changing the value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1±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3182F3-6980-0410-1930-8B36B42445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70934" y="2398080"/>
                <a:ext cx="3750316" cy="3471013"/>
              </a:xfrm>
              <a:blipFill>
                <a:blip r:embed="rId2"/>
                <a:stretch>
                  <a:fillRect l="-1623" t="-1754" r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5CD81A87-5240-04CD-65B0-28523FDA01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446" y="2159766"/>
            <a:ext cx="6905511" cy="201478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19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67977-B549-EE91-1D8E-FB63F0163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4CD9A-A408-298F-C16F-2016279E0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6320" y="1845736"/>
            <a:ext cx="4937760" cy="4023359"/>
          </a:xfrm>
        </p:spPr>
        <p:txBody>
          <a:bodyPr>
            <a:normAutofit/>
          </a:bodyPr>
          <a:lstStyle/>
          <a:p>
            <a:r>
              <a:rPr lang="en-US" sz="2800" dirty="0"/>
              <a:t>Represent -7.54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403EA-DC83-F35E-A839-159AFD6CF0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Represent 10</a:t>
            </a:r>
            <a:r>
              <a:rPr lang="en-US" sz="2800" baseline="30000" dirty="0"/>
              <a:t>-7</a:t>
            </a:r>
          </a:p>
        </p:txBody>
      </p:sp>
    </p:spTree>
    <p:extLst>
      <p:ext uri="{BB962C8B-B14F-4D97-AF65-F5344CB8AC3E}">
        <p14:creationId xmlns:p14="http://schemas.microsoft.com/office/powerpoint/2010/main" val="50651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30A27-1553-42F8-99D7-829868E13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72232D-B4D6-429F-B3D1-2D9891B85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C4B47E-392A-9197-6B86-B3FD8D480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030" y="963997"/>
            <a:ext cx="3254691" cy="4938361"/>
          </a:xfrm>
        </p:spPr>
        <p:txBody>
          <a:bodyPr anchor="ctr">
            <a:normAutofit/>
          </a:bodyPr>
          <a:lstStyle/>
          <a:p>
            <a:pPr algn="r"/>
            <a:r>
              <a:rPr lang="en-US" sz="4400" dirty="0"/>
              <a:t>Special Cases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CC3441-26B3-4381-B3DF-8AE3C288B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A2E71F9-0C75-E4C1-A4F4-87361F59B9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34882" y="963507"/>
                <a:ext cx="6135097" cy="4938851"/>
              </a:xfrm>
            </p:spPr>
            <p:txBody>
              <a:bodyPr anchor="ctr">
                <a:normAutofit lnSpcReduction="10000"/>
              </a:bodyPr>
              <a:lstStyle/>
              <a:p>
                <a:r>
                  <a:rPr lang="en-US" sz="2400" dirty="0"/>
                  <a:t>Zero:</a:t>
                </a:r>
              </a:p>
              <a:p>
                <a:pPr lvl="1"/>
                <a:r>
                  <a:rPr lang="en-US" sz="2400" dirty="0"/>
                  <a:t>IEEE754 differentiates between -0 and +0</a:t>
                </a:r>
              </a:p>
              <a:p>
                <a:pPr lvl="1"/>
                <a:r>
                  <a:rPr lang="en-US" sz="2400" dirty="0"/>
                  <a:t>All bits of exponent and mantissa set to 0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sz="2400" b="0" dirty="0"/>
              </a:p>
              <a:p>
                <a:pPr lvl="1"/>
                <a:r>
                  <a:rPr lang="en-US" sz="2400" dirty="0"/>
                  <a:t>Sign can be 0 or 1</a:t>
                </a:r>
              </a:p>
              <a:p>
                <a:pPr lvl="1"/>
                <a:r>
                  <a:rPr lang="en-US" sz="2400" dirty="0"/>
                  <a:t>Exponent bits all set to 1</a:t>
                </a:r>
              </a:p>
              <a:p>
                <a:pPr lvl="1"/>
                <a:r>
                  <a:rPr lang="en-US" sz="2400" dirty="0"/>
                  <a:t>Mantissa bits set to 0</a:t>
                </a:r>
              </a:p>
              <a:p>
                <a:r>
                  <a:rPr lang="en-US" sz="2400" dirty="0" err="1"/>
                  <a:t>NaN</a:t>
                </a:r>
                <a:endParaRPr lang="en-US" sz="2400" dirty="0"/>
              </a:p>
              <a:p>
                <a:pPr lvl="1"/>
                <a:r>
                  <a:rPr lang="en-US" sz="2400" dirty="0"/>
                  <a:t>Sign can be 0 or 1 (but this is not meaningful for </a:t>
                </a:r>
                <a:r>
                  <a:rPr lang="en-US" sz="2400" dirty="0" err="1"/>
                  <a:t>NaN</a:t>
                </a:r>
                <a:r>
                  <a:rPr lang="en-US" sz="2400" dirty="0"/>
                  <a:t>)</a:t>
                </a:r>
              </a:p>
              <a:p>
                <a:pPr lvl="1"/>
                <a:r>
                  <a:rPr lang="en-US" sz="2400" dirty="0"/>
                  <a:t>Exponent bits set to 1</a:t>
                </a:r>
              </a:p>
              <a:p>
                <a:pPr lvl="1"/>
                <a:r>
                  <a:rPr lang="en-US" sz="2400" dirty="0"/>
                  <a:t>Mantissa bits nonzero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A2E71F9-0C75-E4C1-A4F4-87361F59B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34882" y="963507"/>
                <a:ext cx="6135097" cy="4938851"/>
              </a:xfrm>
              <a:blipFill>
                <a:blip r:embed="rId2"/>
                <a:stretch>
                  <a:fillRect l="-2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1660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ef6b79-3d69-44d3-a198-c6daed0edd7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5FFC3B65D96E47BE26BD5CDACF3F9C" ma:contentTypeVersion="13" ma:contentTypeDescription="Create a new document." ma:contentTypeScope="" ma:versionID="b59cff5f43b7353e5814e17a9e579c53">
  <xsd:schema xmlns:xsd="http://www.w3.org/2001/XMLSchema" xmlns:xs="http://www.w3.org/2001/XMLSchema" xmlns:p="http://schemas.microsoft.com/office/2006/metadata/properties" xmlns:ns3="8af3a97f-2df0-4fbf-8783-9b5cb7cf51bb" xmlns:ns4="84ef6b79-3d69-44d3-a198-c6daed0edd7a" targetNamespace="http://schemas.microsoft.com/office/2006/metadata/properties" ma:root="true" ma:fieldsID="cc6db1b5e703ec643d87dfe82f5f25a5" ns3:_="" ns4:_="">
    <xsd:import namespace="8af3a97f-2df0-4fbf-8783-9b5cb7cf51bb"/>
    <xsd:import namespace="84ef6b79-3d69-44d3-a198-c6daed0edd7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f3a97f-2df0-4fbf-8783-9b5cb7cf51b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ef6b79-3d69-44d3-a198-c6daed0edd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0A5794-D240-4A1C-9978-16866FF4826D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metadata/properties"/>
    <ds:schemaRef ds:uri="8af3a97f-2df0-4fbf-8783-9b5cb7cf51bb"/>
    <ds:schemaRef ds:uri="http://schemas.microsoft.com/office/2006/documentManagement/types"/>
    <ds:schemaRef ds:uri="84ef6b79-3d69-44d3-a198-c6daed0edd7a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1CCF36E-78A0-4C75-B419-C0D5656ECD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f3a97f-2df0-4fbf-8783-9b5cb7cf51bb"/>
    <ds:schemaRef ds:uri="84ef6b79-3d69-44d3-a198-c6daed0edd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7E56F8-4E58-4890-AF96-1597CCFE6DD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1071</TotalTime>
  <Words>323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Cambria Math</vt:lpstr>
      <vt:lpstr>Retrospect</vt:lpstr>
      <vt:lpstr>Floating-Point Notation </vt:lpstr>
      <vt:lpstr>Binary Storage</vt:lpstr>
      <vt:lpstr>Binary Storage</vt:lpstr>
      <vt:lpstr>Floating-Point Notation</vt:lpstr>
      <vt:lpstr>IEEE floating point notation</vt:lpstr>
      <vt:lpstr>Range of Values</vt:lpstr>
      <vt:lpstr>Machine Precision</vt:lpstr>
      <vt:lpstr>Examples</vt:lpstr>
      <vt:lpstr>Special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5</cp:revision>
  <dcterms:created xsi:type="dcterms:W3CDTF">2025-01-02T17:42:58Z</dcterms:created>
  <dcterms:modified xsi:type="dcterms:W3CDTF">2026-02-03T03:30:15Z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0x0101005D5FFC3B65D96E47BE26BD5CDACF3F9C</vt:lpwstr>
  </property>
</Properties>
</file>