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4"/>
  </p:sldMasterIdLst>
  <p:sldIdLst>
    <p:sldId id="256" r:id="rId5"/>
    <p:sldId id="257" r:id="rId6"/>
    <p:sldId id="262" r:id="rId7"/>
    <p:sldId id="260" r:id="rId8"/>
    <p:sldId id="259" r:id="rId9"/>
    <p:sldId id="258" r:id="rId10"/>
    <p:sldId id="261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3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presProps" Target="pres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tableStyles" Target="tableStyles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1" y="6334316"/>
            <a:ext cx="12192000" cy="6648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1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327048-329D-4BF8-96FD-A12EC8F45445}" type="datetimeFigureOut">
              <a:rPr lang="en-US" smtClean="0"/>
              <a:t>2/18/2026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DF62C-61C6-4FA4-8B93-06E05A0314EF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594662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327048-329D-4BF8-96FD-A12EC8F45445}" type="datetimeFigureOut">
              <a:rPr lang="en-US" smtClean="0"/>
              <a:t>2/18/2026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DF62C-61C6-4FA4-8B93-06E05A0314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243958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327048-329D-4BF8-96FD-A12EC8F45445}" type="datetimeFigureOut">
              <a:rPr lang="en-US" smtClean="0"/>
              <a:t>2/18/2026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DF62C-61C6-4FA4-8B93-06E05A0314EF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73356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80" y="1845734"/>
            <a:ext cx="4937760" cy="402335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327048-329D-4BF8-96FD-A12EC8F45445}" type="datetimeFigureOut">
              <a:rPr lang="en-US" smtClean="0"/>
              <a:t>2/18/2026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DF62C-61C6-4FA4-8B93-06E05A0314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321883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5"/>
            <a:ext cx="4937760" cy="32867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2867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327048-329D-4BF8-96FD-A12EC8F45445}" type="datetimeFigureOut">
              <a:rPr lang="en-US" smtClean="0"/>
              <a:t>2/18/2026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DF62C-61C6-4FA4-8B93-06E05A0314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71420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327048-329D-4BF8-96FD-A12EC8F45445}" type="datetimeFigureOut">
              <a:rPr lang="en-US" smtClean="0"/>
              <a:t>2/18/2026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DF62C-61C6-4FA4-8B93-06E05A0314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041896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327048-329D-4BF8-96FD-A12EC8F45445}" type="datetimeFigureOut">
              <a:rPr lang="en-US" smtClean="0"/>
              <a:t>2/18/2026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DF62C-61C6-4FA4-8B93-06E05A0314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436006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2B327048-329D-4BF8-96FD-A12EC8F45445}" type="datetimeFigureOut">
              <a:rPr lang="en-US" smtClean="0"/>
              <a:t>2/18/2026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8A7DF62C-61C6-4FA4-8B93-06E05A0314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459597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645" cy="822960"/>
          </a:xfrm>
        </p:spPr>
        <p:txBody>
          <a:bodyPr tIns="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solidFill>
            <a:schemeClr val="bg2">
              <a:lumMod val="90000"/>
            </a:schemeClr>
          </a:solidFill>
        </p:spPr>
        <p:txBody>
          <a:bodyPr lIns="457200" tIns="45720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4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327048-329D-4BF8-96FD-A12EC8F45445}" type="datetimeFigureOut">
              <a:rPr lang="en-US" smtClean="0"/>
              <a:t>2/18/2026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DF62C-61C6-4FA4-8B93-06E05A0314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334013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327048-329D-4BF8-96FD-A12EC8F45445}" type="datetimeFigureOut">
              <a:rPr lang="en-US" smtClean="0"/>
              <a:t>2/18/2026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DF62C-61C6-4FA4-8B93-06E05A0314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61030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2302"/>
            <a:ext cx="2628900" cy="575989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2302"/>
            <a:ext cx="7734300" cy="5759898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327048-329D-4BF8-96FD-A12EC8F45445}" type="datetimeFigureOut">
              <a:rPr lang="en-US" smtClean="0"/>
              <a:t>2/18/2026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DF62C-61C6-4FA4-8B93-06E05A0314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95759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2B327048-329D-4BF8-96FD-A12EC8F45445}" type="datetimeFigureOut">
              <a:rPr lang="en-US" smtClean="0"/>
              <a:t>2/18/2026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8A7DF62C-61C6-4FA4-8B93-06E05A0314EF}" type="slidenum">
              <a:rPr lang="en-US" smtClean="0"/>
              <a:t>‹#›</a:t>
            </a:fld>
            <a:endParaRPr lang="en-US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58399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F3B3B6C5-748F-437C-AE76-DB11FEA99E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97CEB5D-9BB2-475C-BA8D-AC88BB8C97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ltGray">
          <a:xfrm>
            <a:off x="321564" y="320040"/>
            <a:ext cx="11548872" cy="6217920"/>
          </a:xfrm>
          <a:prstGeom prst="rect">
            <a:avLst/>
          </a:prstGeom>
          <a:solidFill>
            <a:schemeClr val="bg2"/>
          </a:solidFill>
          <a:ln w="127000" cap="sq" cmpd="thinThick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CDB3AF2-ADC0-0F26-026D-A08C13AF2C5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380588" y="965199"/>
            <a:ext cx="6766078" cy="4927601"/>
          </a:xfrm>
        </p:spPr>
        <p:txBody>
          <a:bodyPr anchor="ctr">
            <a:normAutofit/>
          </a:bodyPr>
          <a:lstStyle/>
          <a:p>
            <a:r>
              <a:rPr lang="en-US" sz="5400"/>
              <a:t>Orbital Mechanics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F7EB3B9-A431-65E2-F04D-14C95186041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23257" y="965198"/>
            <a:ext cx="2707937" cy="4927602"/>
          </a:xfrm>
        </p:spPr>
        <p:txBody>
          <a:bodyPr anchor="ctr">
            <a:normAutofit/>
          </a:bodyPr>
          <a:lstStyle/>
          <a:p>
            <a:pPr algn="r"/>
            <a:r>
              <a:rPr lang="en-US" sz="2000"/>
              <a:t>planetary motion, satellite trajectories, and space exploration</a:t>
            </a:r>
          </a:p>
          <a:p>
            <a:pPr algn="r"/>
            <a:endParaRPr lang="en-US" sz="2000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BB14AD1F-ADD5-46E7-966F-4C0290232FF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055891" y="2057399"/>
            <a:ext cx="0" cy="2743200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5724543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311973C2-EB8B-452A-A698-4A252FD3AE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2000" cy="6857999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8" name="Rectangle 17">
            <a:extLst>
              <a:ext uri="{FF2B5EF4-FFF2-40B4-BE49-F238E27FC236}">
                <a16:creationId xmlns:a16="http://schemas.microsoft.com/office/drawing/2014/main" id="{10162E77-11AD-44A7-84EC-40C59EEFBD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1" cy="633431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72C0D14-551F-631B-16D1-849ECA64CB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81601" y="634946"/>
            <a:ext cx="6368142" cy="1450757"/>
          </a:xfrm>
        </p:spPr>
        <p:txBody>
          <a:bodyPr>
            <a:normAutofit/>
          </a:bodyPr>
          <a:lstStyle/>
          <a:p>
            <a:r>
              <a:rPr lang="en-US" sz="5400">
                <a:solidFill>
                  <a:srgbClr val="745E57"/>
                </a:solidFill>
              </a:rPr>
              <a:t>Orbital Mechanics</a:t>
            </a:r>
          </a:p>
        </p:txBody>
      </p:sp>
      <p:pic>
        <p:nvPicPr>
          <p:cNvPr id="5" name="Picture 4" descr="A swirling meteorite">
            <a:extLst>
              <a:ext uri="{FF2B5EF4-FFF2-40B4-BE49-F238E27FC236}">
                <a16:creationId xmlns:a16="http://schemas.microsoft.com/office/drawing/2014/main" id="{FFA7D483-A3E2-EF2E-298B-6CB9C78F962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0004" r="26131" b="2"/>
          <a:stretch/>
        </p:blipFill>
        <p:spPr>
          <a:xfrm>
            <a:off x="20" y="-12128"/>
            <a:ext cx="4654276" cy="6870127"/>
          </a:xfrm>
          <a:prstGeom prst="rect">
            <a:avLst/>
          </a:prstGeom>
        </p:spPr>
      </p:pic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5AB158E9-1B40-4CD6-95F0-95CA11DF7B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287617" y="2085703"/>
            <a:ext cx="6170686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  <a:alpha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6F1E5C5-B431-D7A0-1AF5-F7E70C308BD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5181601" y="2198914"/>
                <a:ext cx="6368142" cy="3670180"/>
              </a:xfrm>
            </p:spPr>
            <p:txBody>
              <a:bodyPr>
                <a:normAutofit fontScale="92500" lnSpcReduction="10000"/>
              </a:bodyPr>
              <a:lstStyle/>
              <a:p>
                <a:r>
                  <a:rPr lang="en-US" dirty="0"/>
                  <a:t>Orbital mechanics (or celestial mechanics) studies the motion of objects in space under gravitational influence.</a:t>
                </a:r>
              </a:p>
              <a:p>
                <a:r>
                  <a:rPr lang="en-US" dirty="0"/>
                  <a:t>Universal Law of Gravitation: </a:t>
                </a:r>
              </a:p>
              <a:p>
                <a:pPr algn="ctr"/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</m:acc>
                    <m:r>
                      <a:rPr lang="en-US" sz="2400" b="0" i="1" dirty="0" smtClean="0">
                        <a:latin typeface="Cambria Math" panose="02040503050406030204" pitchFamily="18" charset="0"/>
                      </a:rPr>
                      <m:t>=−</m:t>
                    </m:r>
                    <m:f>
                      <m:fPr>
                        <m:ctrlPr>
                          <a:rPr lang="en-US" sz="2400" b="0" i="1" dirty="0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b="0" i="1" dirty="0" smtClean="0">
                            <a:latin typeface="Cambria Math" panose="02040503050406030204" pitchFamily="18" charset="0"/>
                          </a:rPr>
                          <m:t>𝐺𝑀𝑚</m:t>
                        </m:r>
                      </m:num>
                      <m:den>
                        <m:sSup>
                          <m:sSupPr>
                            <m:ctrlPr>
                              <a:rPr lang="en-US" sz="2400" b="0" i="1" dirty="0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400" b="0" i="1" dirty="0" smtClean="0"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  <m:sup>
                            <m:r>
                              <a:rPr lang="en-US" sz="2400" b="0" i="1" dirty="0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a:rPr lang="en-US" sz="2400" b="0" i="1" dirty="0" smtClean="0">
                        <a:latin typeface="Cambria Math" panose="02040503050406030204" pitchFamily="18" charset="0"/>
                      </a:rPr>
                      <m:t> </m:t>
                    </m:r>
                    <m:acc>
                      <m:accPr>
                        <m:chr m:val="̂"/>
                        <m:ctrlPr>
                          <a:rPr lang="en-US" sz="2400" b="0" i="1" dirty="0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2400" b="0" i="1" dirty="0" smtClean="0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</m:acc>
                  </m:oMath>
                </a14:m>
                <a:endParaRPr lang="en-US" sz="2400" dirty="0"/>
              </a:p>
              <a:p>
                <a:pPr algn="ctr"/>
                <a:r>
                  <a:rPr lang="en-US" dirty="0"/>
                  <a:t>The two-body problem can be reduced to a 1-body problem using the reduced mass,</a:t>
                </a:r>
              </a:p>
              <a:p>
                <a:pPr algn="ctr"/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𝜇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𝑀𝑚</m:t>
                        </m:r>
                      </m:num>
                      <m:den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𝑀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</m:den>
                    </m:f>
                  </m:oMath>
                </a14:m>
                <a:endParaRPr lang="en-US" sz="2400" dirty="0"/>
              </a:p>
              <a:p>
                <a:r>
                  <a:rPr lang="en-US" sz="2400" dirty="0">
                    <a:solidFill>
                      <a:srgbClr val="C00000"/>
                    </a:solidFill>
                  </a:rPr>
                  <a:t>But for must planetary systems we are concerned with, we don’t need this.</a:t>
                </a:r>
              </a:p>
              <a:p>
                <a:pPr algn="ctr"/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6F1E5C5-B431-D7A0-1AF5-F7E70C308BD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5181601" y="2198914"/>
                <a:ext cx="6368142" cy="3670180"/>
              </a:xfrm>
              <a:blipFill>
                <a:blip r:embed="rId3"/>
                <a:stretch>
                  <a:fillRect l="-1244" t="-2159" r="-306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395732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800634-025C-B9A0-33BD-85CAA5DEDA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Equations of motion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E6B1B0E-9277-527D-DC1E-2723B126A91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Computationally, it is convenient to express the equations of motion in a gravitational field in cartesian coordinates,</a:t>
                </a:r>
              </a:p>
              <a:p>
                <a:pPr algn="ctr"/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𝑚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𝑑</m:t>
                            </m:r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𝑟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𝑑</m:t>
                        </m:r>
                        <m:sSup>
                          <m:s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a:rPr lang="en-US" b="0" i="1" smtClean="0">
                        <a:latin typeface="Cambria Math" panose="02040503050406030204" pitchFamily="18" charset="0"/>
                      </a:rPr>
                      <m:t>=−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𝐺𝑀𝑚</m:t>
                        </m:r>
                      </m:num>
                      <m:den>
                        <m:sSup>
                          <m:s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</m:oMath>
                </a14:m>
                <a:endParaRPr lang="en-US" b="0" dirty="0"/>
              </a:p>
              <a:p>
                <a:pPr algn="ctr"/>
                <a14:m>
                  <m:oMath xmlns:m="http://schemas.openxmlformats.org/officeDocument/2006/math"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𝑑</m:t>
                            </m:r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𝑑</m:t>
                        </m:r>
                        <m:sSup>
                          <m:s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a:rPr lang="en-US" b="0" i="1" smtClean="0">
                        <a:latin typeface="Cambria Math" panose="02040503050406030204" pitchFamily="18" charset="0"/>
                      </a:rPr>
                      <m:t>=−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𝐺𝑀</m:t>
                        </m:r>
                      </m:num>
                      <m:den>
                        <m:sSup>
                          <m:s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US" b="0" i="1" smtClean="0">
                        <a:latin typeface="Cambria Math" panose="02040503050406030204" pitchFamily="18" charset="0"/>
                      </a:rPr>
                      <m:t>cos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=−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𝐺𝑀</m:t>
                        </m:r>
                      </m:num>
                      <m:den>
                        <m:sSup>
                          <m:s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</m:den>
                    </m:f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endParaRPr lang="en-US" b="0" dirty="0"/>
              </a:p>
              <a:p>
                <a:pPr algn="ctr"/>
                <a14:m>
                  <m:oMath xmlns:m="http://schemas.openxmlformats.org/officeDocument/2006/math"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𝑑</m:t>
                            </m:r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𝑑</m:t>
                        </m:r>
                        <m:sSup>
                          <m:s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>
                            <a:latin typeface="Cambria Math" panose="02040503050406030204" pitchFamily="18" charset="0"/>
                          </a:rPr>
                          <m:t>𝐺𝑀</m:t>
                        </m:r>
                      </m:num>
                      <m:den>
                        <m:sSup>
                          <m:s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  <m:sup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a:rPr lang="en-US" b="0" i="1" smtClean="0">
                        <a:latin typeface="Cambria Math" panose="02040503050406030204" pitchFamily="18" charset="0"/>
                      </a:rPr>
                      <m:t>𝑠𝑖𝑛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=−</m:t>
                    </m:r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>
                            <a:latin typeface="Cambria Math" panose="02040503050406030204" pitchFamily="18" charset="0"/>
                          </a:rPr>
                          <m:t>𝐺𝑀</m:t>
                        </m:r>
                      </m:num>
                      <m:den>
                        <m:sSup>
                          <m:s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  <m:sup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</m:den>
                    </m:f>
                    <m:r>
                      <a:rPr lang="en-US" b="0" i="1" smtClean="0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Where for circular orbits, &lt;time to work it out&gt;</a:t>
                </a:r>
              </a:p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𝑣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𝐺𝑀</m:t>
                                  </m:r>
                                </m:num>
                                <m:den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𝑟</m:t>
                                  </m:r>
                                </m:den>
                              </m:f>
                            </m:e>
                          </m:d>
                        </m:e>
                        <m:sup>
                          <m:f>
                            <m:f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</m:sup>
                      </m:sSup>
                    </m:oMath>
                  </m:oMathPara>
                </a14:m>
                <a:endParaRPr lang="en-US" dirty="0"/>
              </a:p>
              <a:p>
                <a:pPr algn="ctr"/>
                <a:endParaRPr lang="en-US" b="0" dirty="0"/>
              </a:p>
              <a:p>
                <a:pPr algn="ctr"/>
                <a:endParaRPr lang="en-US" b="0" dirty="0"/>
              </a:p>
              <a:p>
                <a:pPr algn="ctr"/>
                <a:endParaRPr lang="en-US" b="0" dirty="0"/>
              </a:p>
              <a:p>
                <a:pPr algn="ctr"/>
                <a:endParaRPr lang="en-US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E6B1B0E-9277-527D-DC1E-2723B126A91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515" t="-1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8154289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7DE3B1B8-DC38-48E8-8C31-EF790659B5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9E63FFFE-1DB2-4A0F-B495-35782F1622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32BB9A07-8AB8-4D82-B3BC-B500DDEC79A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0AB6E427-3F73-4C06-A5D5-AE52C3883B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6315" cy="6858000"/>
          </a:xfrm>
          <a:prstGeom prst="rect">
            <a:avLst/>
          </a:prstGeom>
          <a:ln>
            <a:noFill/>
          </a:ln>
        </p:spPr>
        <p:style>
          <a:lnRef idx="2">
            <a:schemeClr val="accent6">
              <a:shade val="50000"/>
            </a:schemeClr>
          </a:lnRef>
          <a:fillRef idx="1001">
            <a:schemeClr val="lt1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D8C9BDAA-0390-4B39-9B5C-BC95E5120D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rgbClr val="4E5E4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F01DC8A-A06B-BED9-9C2F-5072ED5428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2370" y="516835"/>
            <a:ext cx="3084844" cy="2103875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3600">
                <a:solidFill>
                  <a:srgbClr val="FFFFFF"/>
                </a:solidFill>
              </a:rPr>
              <a:t>Types of Orbits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EEAB86-B861-A311-9FC4-A30739146B2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92371" y="2653800"/>
            <a:ext cx="3084844" cy="3335519"/>
          </a:xfrm>
        </p:spPr>
        <p:txBody>
          <a:bodyPr vert="horz" lIns="0" tIns="45720" rIns="0" bIns="45720" rtlCol="0">
            <a:normAutofit/>
          </a:bodyPr>
          <a:lstStyle/>
          <a:p>
            <a:r>
              <a:rPr lang="en-US" sz="1500" dirty="0">
                <a:solidFill>
                  <a:srgbClr val="FFFFFF"/>
                </a:solidFill>
              </a:rPr>
              <a:t>The type of orbits are characterized by eccentricity and the energy</a:t>
            </a:r>
          </a:p>
          <a:p>
            <a:r>
              <a:rPr lang="en-US" sz="1500" dirty="0">
                <a:solidFill>
                  <a:srgbClr val="FFFFFF"/>
                </a:solidFill>
              </a:rPr>
              <a:t>Kepler’s First Law: planets orbit stars in elliptical orbits 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F9DB1FE5-9D46-433B-99D1-2F1B8DC798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rgbClr val="7078E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pic>
        <p:nvPicPr>
          <p:cNvPr id="6" name="Content Placeholder 5" descr="A diagram of an eye with text&#10;&#10;AI-generated content may be incorrect.">
            <a:extLst>
              <a:ext uri="{FF2B5EF4-FFF2-40B4-BE49-F238E27FC236}">
                <a16:creationId xmlns:a16="http://schemas.microsoft.com/office/drawing/2014/main" id="{59CF06EA-D8B1-C006-4652-EA5039427DC7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42017" y="1517039"/>
            <a:ext cx="6798082" cy="38239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9200861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7DE3B1B8-DC38-48E8-8C31-EF790659B5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9E63FFFE-1DB2-4A0F-B495-35782F1622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32BB9A07-8AB8-4D82-B3BC-B500DDEC79A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13BCCAE5-A35B-4B66-A4A7-E23C34A403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29FBBCF-A8B7-8C48-BA0A-A42F4C1820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dirty="0"/>
              <a:t>Conserved Quantities In Orbits</a:t>
            </a:r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6987BDFB-DE64-4B56-B44F-45FAE19FA94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25DE6DB-B79B-FB19-F79A-7920A60EFACC}"/>
                  </a:ext>
                </a:extLst>
              </p:cNvPr>
              <p:cNvSpPr>
                <a:spLocks noGrp="1"/>
              </p:cNvSpPr>
              <p:nvPr>
                <p:ph sz="half" idx="1"/>
              </p:nvPr>
            </p:nvSpPr>
            <p:spPr>
              <a:xfrm>
                <a:off x="1097279" y="1845734"/>
                <a:ext cx="6454987" cy="4023360"/>
              </a:xfrm>
            </p:spPr>
            <p:txBody>
              <a:bodyPr vert="horz" lIns="0" tIns="45720" rIns="0" bIns="45720" rtlCol="0">
                <a:normAutofit/>
              </a:bodyPr>
              <a:lstStyle/>
              <a:p>
                <a:r>
                  <a:rPr lang="en-US" dirty="0"/>
                  <a:t>Energy </a:t>
                </a:r>
              </a:p>
              <a:p>
                <a:pPr lvl="1"/>
                <a:r>
                  <a:rPr lang="en-US" dirty="0"/>
                  <a:t>Since gravitation is a conservative force, the total energy of the orbiting system is conserved</a:t>
                </a:r>
              </a:p>
              <a:p>
                <a:pPr algn="ctr"/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𝐸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lang="en-US" b="0" i="1" smtClean="0">
                        <a:latin typeface="Cambria Math" panose="02040503050406030204" pitchFamily="18" charset="0"/>
                      </a:rPr>
                      <m:t>𝑚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 −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𝐺𝑀𝑚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𝑟</m:t>
                        </m:r>
                      </m:den>
                    </m:f>
                  </m:oMath>
                </a14:m>
                <a:endParaRPr lang="en-US" b="0" dirty="0"/>
              </a:p>
              <a:p>
                <a:pPr lvl="1"/>
                <a:r>
                  <a:rPr lang="en-US" dirty="0"/>
                  <a:t>Using the Virial theorem, this can be simplified even more</a:t>
                </a:r>
              </a:p>
              <a:p>
                <a:r>
                  <a:rPr lang="en-US" dirty="0"/>
                  <a:t>Angular Momentum</a:t>
                </a:r>
              </a:p>
              <a:p>
                <a:pPr lvl="1"/>
                <a:r>
                  <a:rPr lang="en-US" dirty="0"/>
                  <a:t>Since gravitation is a central force, the angular momentum of the system should also be conserved, </a:t>
                </a:r>
              </a:p>
              <a:p>
                <a:pPr marL="201168" lvl="1" indent="0">
                  <a:buFont typeface="Calibri" panose="020F0502020204030204" pitchFamily="34" charset="0"/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⃗"/>
                          <m:ctrlPr>
                            <a:rPr lang="en-US" b="0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b="0" i="1">
                              <a:latin typeface="Cambria Math" panose="02040503050406030204" pitchFamily="18" charset="0"/>
                            </a:rPr>
                            <m:t>𝐿</m:t>
                          </m:r>
                        </m:e>
                      </m:acc>
                      <m:r>
                        <a:rPr lang="en-US" b="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>
                          <a:latin typeface="Cambria Math" panose="02040503050406030204" pitchFamily="18" charset="0"/>
                        </a:rPr>
                        <m:t>𝑚</m:t>
                      </m:r>
                      <m:r>
                        <a:rPr lang="en-US" b="0" i="1">
                          <a:latin typeface="Cambria Math" panose="02040503050406030204" pitchFamily="18" charset="0"/>
                        </a:rPr>
                        <m:t> </m:t>
                      </m:r>
                      <m:acc>
                        <m:accPr>
                          <m:chr m:val="⃗"/>
                          <m:ctrlPr>
                            <a:rPr lang="en-US" b="0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b="0" i="1">
                              <a:latin typeface="Cambria Math" panose="02040503050406030204" pitchFamily="18" charset="0"/>
                            </a:rPr>
                            <m:t>𝑟</m:t>
                          </m:r>
                        </m:e>
                      </m:acc>
                      <m:r>
                        <a:rPr lang="en-US" b="0" i="1">
                          <a:latin typeface="Cambria Math" panose="02040503050406030204" pitchFamily="18" charset="0"/>
                        </a:rPr>
                        <m:t>×</m:t>
                      </m:r>
                      <m:acc>
                        <m:accPr>
                          <m:chr m:val="⃗"/>
                          <m:ctrlPr>
                            <a:rPr lang="en-US" b="0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b="0" i="1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</m:acc>
                      <m:r>
                        <a:rPr lang="en-US" b="0" i="0"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b="0" i="0">
                          <a:latin typeface="Cambria Math" panose="02040503050406030204" pitchFamily="18" charset="0"/>
                        </a:rPr>
                        <m:t>constant</m:t>
                      </m:r>
                    </m:oMath>
                  </m:oMathPara>
                </a14:m>
                <a:endParaRPr lang="en-US" dirty="0"/>
              </a:p>
              <a:p>
                <a:pPr marL="201168" lvl="1" indent="0">
                  <a:buFont typeface="Calibri" panose="020F0502020204030204" pitchFamily="34" charset="0"/>
                  <a:buNone/>
                </a:pPr>
                <a:r>
                  <a:rPr lang="en-US" dirty="0">
                    <a:solidFill>
                      <a:srgbClr val="C00000"/>
                    </a:solidFill>
                  </a:rPr>
                  <a:t>How do we know that? </a:t>
                </a:r>
              </a:p>
              <a:p>
                <a:pPr marL="201168" lvl="1" indent="0">
                  <a:buFont typeface="Calibri" panose="020F0502020204030204" pitchFamily="34" charset="0"/>
                  <a:buNone/>
                </a:pPr>
                <a:r>
                  <a:rPr lang="en-US" dirty="0">
                    <a:solidFill>
                      <a:srgbClr val="C00000"/>
                    </a:solidFill>
                  </a:rPr>
                  <a:t>How does it relate to Kepler’s 2</a:t>
                </a:r>
                <a:r>
                  <a:rPr lang="en-US" baseline="30000" dirty="0">
                    <a:solidFill>
                      <a:srgbClr val="C00000"/>
                    </a:solidFill>
                  </a:rPr>
                  <a:t>nd</a:t>
                </a:r>
                <a:r>
                  <a:rPr lang="en-US" dirty="0">
                    <a:solidFill>
                      <a:srgbClr val="C00000"/>
                    </a:solidFill>
                  </a:rPr>
                  <a:t> Law?</a:t>
                </a: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25DE6DB-B79B-FB19-F79A-7920A60EFAC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1"/>
              </p:nvPr>
            </p:nvSpPr>
            <p:spPr>
              <a:xfrm>
                <a:off x="1097279" y="1845734"/>
                <a:ext cx="6454987" cy="4023360"/>
              </a:xfrm>
              <a:blipFill>
                <a:blip r:embed="rId2"/>
                <a:stretch>
                  <a:fillRect l="-944" t="-1667" r="-255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Content Placeholder 5" descr="A diagram of the month of the sun&#10;&#10;AI-generated content may be incorrect.">
            <a:extLst>
              <a:ext uri="{FF2B5EF4-FFF2-40B4-BE49-F238E27FC236}">
                <a16:creationId xmlns:a16="http://schemas.microsoft.com/office/drawing/2014/main" id="{D7126248-E49E-7377-E7AE-01C6FEAAA730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20570" y="2631222"/>
            <a:ext cx="3135109" cy="2041204"/>
          </a:xfrm>
          <a:prstGeom prst="rect">
            <a:avLst/>
          </a:prstGeom>
        </p:spPr>
      </p:pic>
      <p:sp>
        <p:nvSpPr>
          <p:cNvPr id="21" name="Rectangle 20">
            <a:extLst>
              <a:ext uri="{FF2B5EF4-FFF2-40B4-BE49-F238E27FC236}">
                <a16:creationId xmlns:a16="http://schemas.microsoft.com/office/drawing/2014/main" id="{BD7A74B5-8367-4A83-ABEC-0FCDDE97B1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" y="6334316"/>
            <a:ext cx="12191985" cy="6648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2CC184B0-C2C6-4BF0-B078-816C7AF9597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937767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8E6018-57DE-3073-C70C-076258658B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Kepler’s 3</a:t>
            </a:r>
            <a:r>
              <a:rPr lang="en-US" baseline="30000"/>
              <a:t>rd</a:t>
            </a:r>
            <a:r>
              <a:rPr lang="en-US"/>
              <a:t> </a:t>
            </a:r>
            <a:r>
              <a:rPr lang="en-US" dirty="0"/>
              <a:t>Law of Motion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8610B12-B529-2C83-8DEE-C3E5FF879812}"/>
                  </a:ext>
                </a:extLst>
              </p:cNvPr>
              <p:cNvSpPr>
                <a:spLocks noGrp="1"/>
              </p:cNvSpPr>
              <p:nvPr>
                <p:ph sz="half"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sz="2400" dirty="0"/>
                  <a:t>See how we arrive at Kepler’s 2</a:t>
                </a:r>
                <a:r>
                  <a:rPr lang="en-US" sz="2400" baseline="30000" dirty="0"/>
                  <a:t>nd</a:t>
                </a:r>
                <a:r>
                  <a:rPr lang="en-US" sz="2400" dirty="0"/>
                  <a:t> law of motion, reveals a very nice insight into the units we can (and should) be using for orbital motion.</a:t>
                </a:r>
              </a:p>
              <a:p>
                <a:pPr lvl="1"/>
                <a:r>
                  <a:rPr lang="en-US" sz="2000" dirty="0"/>
                  <a:t>Law states that the orbiting bodies’ period of motion should be proportional to the radius of motion to the 3/2 power, or </a:t>
                </a:r>
              </a:p>
              <a:p>
                <a:pPr algn="ctr"/>
                <a14:m>
                  <m:oMath xmlns:m="http://schemas.openxmlformats.org/officeDocument/2006/math">
                    <m:sSup>
                      <m:sSupPr>
                        <m:ctrlPr>
                          <a:rPr lang="en-US" sz="2400" b="0" i="1" smtClean="0">
                            <a:solidFill>
                              <a:schemeClr val="accent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b="0" i="1" smtClean="0">
                            <a:solidFill>
                              <a:schemeClr val="accent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p>
                        <m:r>
                          <a:rPr lang="en-US" sz="2400" b="0" i="1" smtClean="0">
                            <a:solidFill>
                              <a:schemeClr val="accent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sz="2400" b="0" i="1" smtClean="0">
                        <a:solidFill>
                          <a:schemeClr val="accent2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400" b="0" i="1" smtClean="0">
                        <a:solidFill>
                          <a:schemeClr val="accent2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𝛼</m:t>
                    </m:r>
                    <m:r>
                      <a:rPr lang="en-US" sz="2400" b="0" i="1" smtClean="0">
                        <a:solidFill>
                          <a:schemeClr val="accent2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 </m:t>
                    </m:r>
                    <m:sSup>
                      <m:sSupPr>
                        <m:ctrlPr>
                          <a:rPr lang="en-US" sz="2400" b="0" i="1" smtClean="0">
                            <a:solidFill>
                              <a:schemeClr val="accent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b="0" i="1" smtClean="0">
                            <a:solidFill>
                              <a:schemeClr val="accent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US" sz="2400" b="0" i="1" smtClean="0">
                            <a:solidFill>
                              <a:schemeClr val="accent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</m:oMath>
                </a14:m>
                <a:endParaRPr lang="en-US" sz="2400" dirty="0">
                  <a:solidFill>
                    <a:schemeClr val="accent2">
                      <a:lumMod val="75000"/>
                    </a:schemeClr>
                  </a:solidFill>
                </a:endParaRPr>
              </a:p>
              <a:p>
                <a:r>
                  <a:rPr lang="en-US" sz="2400" dirty="0">
                    <a:solidFill>
                      <a:srgbClr val="C00000"/>
                    </a:solidFill>
                  </a:rPr>
                  <a:t>What is the proportionality constant??</a:t>
                </a:r>
              </a:p>
              <a:p>
                <a:r>
                  <a:rPr lang="en-US" sz="2400" dirty="0">
                    <a:solidFill>
                      <a:srgbClr val="C00000"/>
                    </a:solidFill>
                  </a:rPr>
                  <a:t>&lt;Let’s work it out!&gt;</a:t>
                </a: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8610B12-B529-2C83-8DEE-C3E5FF87981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1"/>
              </p:nvPr>
            </p:nvSpPr>
            <p:spPr>
              <a:blipFill>
                <a:blip r:embed="rId2"/>
                <a:stretch>
                  <a:fillRect l="-1852" t="-2121" r="-209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Content Placeholder 5" descr="A graph with a line&#10;&#10;AI-generated content may be incorrect.">
            <a:extLst>
              <a:ext uri="{FF2B5EF4-FFF2-40B4-BE49-F238E27FC236}">
                <a16:creationId xmlns:a16="http://schemas.microsoft.com/office/drawing/2014/main" id="{47706897-0794-292D-7F84-A09A20E23958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18238" y="2094367"/>
            <a:ext cx="4937125" cy="3526517"/>
          </a:xfrm>
        </p:spPr>
      </p:pic>
    </p:spTree>
    <p:extLst>
      <p:ext uri="{BB962C8B-B14F-4D97-AF65-F5344CB8AC3E}">
        <p14:creationId xmlns:p14="http://schemas.microsoft.com/office/powerpoint/2010/main" val="35749918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19">
            <a:extLst>
              <a:ext uri="{FF2B5EF4-FFF2-40B4-BE49-F238E27FC236}">
                <a16:creationId xmlns:a16="http://schemas.microsoft.com/office/drawing/2014/main" id="{7DE3B1B8-DC38-48E8-8C31-EF790659B5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9E63FFFE-1DB2-4A0F-B495-35782F1622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32BB9A07-8AB8-4D82-B3BC-B500DDEC79A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26" name="Rectangle 25">
            <a:extLst>
              <a:ext uri="{FF2B5EF4-FFF2-40B4-BE49-F238E27FC236}">
                <a16:creationId xmlns:a16="http://schemas.microsoft.com/office/drawing/2014/main" id="{08CB54FC-0B2A-4107-9A70-958B90B765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1" cy="633431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7FF2C1C-40C7-9085-6849-8F855F98B9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11685" y="634946"/>
            <a:ext cx="5127171" cy="1450757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dirty="0"/>
              <a:t>Elliptical Orbit Parameters</a:t>
            </a:r>
          </a:p>
        </p:txBody>
      </p:sp>
      <p:pic>
        <p:nvPicPr>
          <p:cNvPr id="15" name="Content Placeholder 14" descr="A diagram of a circle with a red triangle&#10;&#10;AI-generated content may be incorrect.">
            <a:extLst>
              <a:ext uri="{FF2B5EF4-FFF2-40B4-BE49-F238E27FC236}">
                <a16:creationId xmlns:a16="http://schemas.microsoft.com/office/drawing/2014/main" id="{201ADD0C-6C9D-ACE8-E334-06C96F656C37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3192" y="1066522"/>
            <a:ext cx="5451627" cy="4404914"/>
          </a:xfrm>
          <a:prstGeom prst="rect">
            <a:avLst/>
          </a:prstGeom>
        </p:spPr>
      </p:pic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7855A9B5-1710-4B19-B0F1-CDFDD4ED5B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6411684" y="2086188"/>
            <a:ext cx="4748808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  <a:alpha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2B01732F-43C8-8FF9-9880-31F45B71D2EB}"/>
                  </a:ext>
                </a:extLst>
              </p:cNvPr>
              <p:cNvSpPr>
                <a:spLocks noGrp="1"/>
              </p:cNvSpPr>
              <p:nvPr>
                <p:ph sz="half" idx="1"/>
              </p:nvPr>
            </p:nvSpPr>
            <p:spPr>
              <a:xfrm>
                <a:off x="6411684" y="2198914"/>
                <a:ext cx="5127172" cy="3670180"/>
              </a:xfrm>
            </p:spPr>
            <p:txBody>
              <a:bodyPr vert="horz" lIns="0" tIns="45720" rIns="0" bIns="45720" rtlCol="0">
                <a:normAutofit/>
              </a:bodyPr>
              <a:lstStyle/>
              <a:p>
                <a:r>
                  <a:rPr lang="en-US" dirty="0"/>
                  <a:t>Elliptical orbits can be mathematically described by relating their distance from the focal points and an angle measured from the aphelion.</a:t>
                </a:r>
              </a:p>
              <a:p>
                <a:r>
                  <a:rPr lang="en-US" dirty="0"/>
                  <a:t>a = semi-major axis</a:t>
                </a:r>
              </a:p>
              <a:p>
                <a:r>
                  <a:rPr lang="en-US" dirty="0"/>
                  <a:t>b =semi-minor axis</a:t>
                </a:r>
              </a:p>
              <a:p>
                <a:r>
                  <a:rPr lang="en-US" dirty="0"/>
                  <a:t>You can derive many of the basic relations from the fact that </a:t>
                </a:r>
              </a:p>
              <a:p>
                <a:pPr algn="ctr"/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𝑟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=2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endParaRPr lang="en-US" dirty="0"/>
              </a:p>
            </p:txBody>
          </p:sp>
        </mc:Choice>
        <mc:Fallback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2B01732F-43C8-8FF9-9880-31F45B71D2E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1"/>
              </p:nvPr>
            </p:nvSpPr>
            <p:spPr>
              <a:xfrm>
                <a:off x="6411684" y="2198914"/>
                <a:ext cx="5127172" cy="3670180"/>
              </a:xfrm>
              <a:blipFill>
                <a:blip r:embed="rId3"/>
                <a:stretch>
                  <a:fillRect l="-1308" t="-1827" r="-297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0" name="Rectangle 29">
            <a:extLst>
              <a:ext uri="{FF2B5EF4-FFF2-40B4-BE49-F238E27FC236}">
                <a16:creationId xmlns:a16="http://schemas.microsoft.com/office/drawing/2014/main" id="{6587DBF8-5C50-4034-8B79-FE54A01A8E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" y="6334316"/>
            <a:ext cx="12191985" cy="66484"/>
          </a:xfrm>
          <a:prstGeom prst="rect">
            <a:avLst/>
          </a:prstGeom>
          <a:solidFill>
            <a:srgbClr val="FF003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14720853-E885-4BE5-BFE2-24004CEF69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3970919"/>
      </p:ext>
    </p:extLst>
  </p:cSld>
  <p:clrMapOvr>
    <a:masterClrMapping/>
  </p:clrMapOvr>
</p:sld>
</file>

<file path=ppt/theme/theme1.xml><?xml version="1.0" encoding="utf-8"?>
<a:theme xmlns:a="http://schemas.openxmlformats.org/drawingml/2006/main" name="Retrospect">
  <a:themeElements>
    <a:clrScheme name="Retrospect">
      <a:dk1>
        <a:sysClr val="windowText" lastClr="000000"/>
      </a:dk1>
      <a:lt1>
        <a:sysClr val="window" lastClr="FFFFFF"/>
      </a:lt1>
      <a:dk2>
        <a:srgbClr val="344068"/>
      </a:dk2>
      <a:lt2>
        <a:srgbClr val="D9E0E6"/>
      </a:lt2>
      <a:accent1>
        <a:srgbClr val="1CADE4"/>
      </a:accent1>
      <a:accent2>
        <a:srgbClr val="2683C6"/>
      </a:accent2>
      <a:accent3>
        <a:srgbClr val="28C4CC"/>
      </a:accent3>
      <a:accent4>
        <a:srgbClr val="42BA97"/>
      </a:accent4>
      <a:accent5>
        <a:srgbClr val="3E8853"/>
      </a:accent5>
      <a:accent6>
        <a:srgbClr val="62A39F"/>
      </a:accent6>
      <a:hlink>
        <a:srgbClr val="6EAC1C"/>
      </a:hlink>
      <a:folHlink>
        <a:srgbClr val="B26B02"/>
      </a:folHlink>
    </a:clrScheme>
    <a:fontScheme name="Retrospect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9CC26709-368C-4D72-9060-94E5B3FF3CD6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5D5FFC3B65D96E47BE26BD5CDACF3F9C" ma:contentTypeVersion="13" ma:contentTypeDescription="Create a new document." ma:contentTypeScope="" ma:versionID="b59cff5f43b7353e5814e17a9e579c53">
  <xsd:schema xmlns:xsd="http://www.w3.org/2001/XMLSchema" xmlns:xs="http://www.w3.org/2001/XMLSchema" xmlns:p="http://schemas.microsoft.com/office/2006/metadata/properties" xmlns:ns3="8af3a97f-2df0-4fbf-8783-9b5cb7cf51bb" xmlns:ns4="84ef6b79-3d69-44d3-a198-c6daed0edd7a" targetNamespace="http://schemas.microsoft.com/office/2006/metadata/properties" ma:root="true" ma:fieldsID="cc6db1b5e703ec643d87dfe82f5f25a5" ns3:_="" ns4:_="">
    <xsd:import namespace="8af3a97f-2df0-4fbf-8783-9b5cb7cf51bb"/>
    <xsd:import namespace="84ef6b79-3d69-44d3-a198-c6daed0edd7a"/>
    <xsd:element name="properties">
      <xsd:complexType>
        <xsd:sequence>
          <xsd:element name="documentManagement">
            <xsd:complexType>
              <xsd:all>
                <xsd:element ref="ns3:SharedWithUsers" minOccurs="0"/>
                <xsd:element ref="ns3:SharedWithDetails" minOccurs="0"/>
                <xsd:element ref="ns3:SharingHintHash" minOccurs="0"/>
                <xsd:element ref="ns4:MediaServiceMetadata" minOccurs="0"/>
                <xsd:element ref="ns4:MediaServiceFastMetadata" minOccurs="0"/>
                <xsd:element ref="ns4:MediaServiceAutoTags" minOccurs="0"/>
                <xsd:element ref="ns4:MediaServiceOCR" minOccurs="0"/>
                <xsd:element ref="ns4:MediaServiceGenerationTime" minOccurs="0"/>
                <xsd:element ref="ns4:MediaServiceEventHashCode" minOccurs="0"/>
                <xsd:element ref="ns4:_activity" minOccurs="0"/>
                <xsd:element ref="ns4:MediaServiceObjectDetectorVersions" minOccurs="0"/>
                <xsd:element ref="ns4:MediaServiceSearchProperties" minOccurs="0"/>
                <xsd:element ref="ns4:MediaServiceDateTake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af3a97f-2df0-4fbf-8783-9b5cb7cf51bb" elementFormDefault="qualified">
    <xsd:import namespace="http://schemas.microsoft.com/office/2006/documentManagement/types"/>
    <xsd:import namespace="http://schemas.microsoft.com/office/infopath/2007/PartnerControls"/>
    <xsd:element name="SharedWithUsers" ma:index="8" nillable="true" ma:displayName="Shared With" ma:description="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9" nillable="true" ma:displayName="Shared With Details" ma:description="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0" nillable="true" ma:displayName="Sharing Hint Hash" ma:description="" ma:hidden="true" ma:internalName="SharingHintHash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4ef6b79-3d69-44d3-a198-c6daed0edd7a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1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2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3" nillable="true" ma:displayName="Tags" ma:internalName="MediaServiceAutoTags" ma:readOnly="true">
      <xsd:simpleType>
        <xsd:restriction base="dms:Text"/>
      </xsd:simpleType>
    </xsd:element>
    <xsd:element name="MediaServiceOCR" ma:index="14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_activity" ma:index="17" nillable="true" ma:displayName="_activity" ma:hidden="true" ma:internalName="_activity">
      <xsd:simpleType>
        <xsd:restriction base="dms:Note"/>
      </xsd:simpleType>
    </xsd:element>
    <xsd:element name="MediaServiceObjectDetectorVersions" ma:index="18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1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20" nillable="true" ma:displayName="MediaServiceDateTaken" ma:hidden="true" ma:indexed="true" ma:internalName="MediaServiceDateTaken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84ef6b79-3d69-44d3-a198-c6daed0edd7a" xsi:nil="true"/>
  </documentManagement>
</p:properties>
</file>

<file path=customXml/itemProps1.xml><?xml version="1.0" encoding="utf-8"?>
<ds:datastoreItem xmlns:ds="http://schemas.openxmlformats.org/officeDocument/2006/customXml" ds:itemID="{260C7AC9-70C5-4515-B6CC-C88B1DF42A0D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E25EA1AF-D0D4-466D-92A0-48B6A3AD7BD1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8af3a97f-2df0-4fbf-8783-9b5cb7cf51bb"/>
    <ds:schemaRef ds:uri="84ef6b79-3d69-44d3-a198-c6daed0edd7a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62275944-22E7-4417-8717-9BBCB8B4C1C6}">
  <ds:schemaRefs>
    <ds:schemaRef ds:uri="http://www.w3.org/XML/1998/namespace"/>
    <ds:schemaRef ds:uri="http://purl.org/dc/dcmitype/"/>
    <ds:schemaRef ds:uri="http://purl.org/dc/terms/"/>
    <ds:schemaRef ds:uri="http://purl.org/dc/elements/1.1/"/>
    <ds:schemaRef ds:uri="http://schemas.microsoft.com/office/2006/documentManagement/types"/>
    <ds:schemaRef ds:uri="http://schemas.openxmlformats.org/package/2006/metadata/core-properties"/>
    <ds:schemaRef ds:uri="84ef6b79-3d69-44d3-a198-c6daed0edd7a"/>
    <ds:schemaRef ds:uri="http://schemas.microsoft.com/office/infopath/2007/PartnerControls"/>
    <ds:schemaRef ds:uri="8af3a97f-2df0-4fbf-8783-9b5cb7cf51bb"/>
    <ds:schemaRef ds:uri="http://schemas.microsoft.com/office/2006/metadata/properties"/>
  </ds:schemaRefs>
</ds:datastoreItem>
</file>

<file path=docMetadata/LabelInfo.xml><?xml version="1.0" encoding="utf-8"?>
<clbl:labelList xmlns:clbl="http://schemas.microsoft.com/office/2020/mipLabelMetadata">
  <clbl:label id="{7893ce20-a697-4fd6-a4da-14011f6a471d}" enabled="1" method="Standard" siteId="{a8eec281-aaa3-4dae-ac9b-9a398b9215e7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549</TotalTime>
  <Words>368</Words>
  <Application>Microsoft Office PowerPoint</Application>
  <PresentationFormat>Widescreen</PresentationFormat>
  <Paragraphs>43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Calibri</vt:lpstr>
      <vt:lpstr>Calibri Light</vt:lpstr>
      <vt:lpstr>Cambria Math</vt:lpstr>
      <vt:lpstr>Retrospect</vt:lpstr>
      <vt:lpstr>Orbital Mechanics</vt:lpstr>
      <vt:lpstr>Orbital Mechanics</vt:lpstr>
      <vt:lpstr>Equations of motion</vt:lpstr>
      <vt:lpstr>Types of Orbits</vt:lpstr>
      <vt:lpstr>Conserved Quantities In Orbits</vt:lpstr>
      <vt:lpstr>Kepler’s 3rd Law of Motion</vt:lpstr>
      <vt:lpstr>Elliptical Orbit Parameters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Kelley, Tom</dc:creator>
  <cp:lastModifiedBy>Kelley, Tom</cp:lastModifiedBy>
  <cp:revision>5</cp:revision>
  <dcterms:created xsi:type="dcterms:W3CDTF">2025-02-12T21:49:24Z</dcterms:created>
  <dcterms:modified xsi:type="dcterms:W3CDTF">2026-02-18T21:10:35Z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0x0101005D5FFC3B65D96E47BE26BD5CDACF3F9C</vt:lpwstr>
  </property>
</Properties>
</file>