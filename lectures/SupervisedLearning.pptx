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9" r:id="rId3"/>
    <p:sldId id="257" r:id="rId4"/>
    <p:sldId id="261" r:id="rId5"/>
    <p:sldId id="267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42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40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3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51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2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5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2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0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5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Neuron system in 3D rendering">
            <a:extLst>
              <a:ext uri="{FF2B5EF4-FFF2-40B4-BE49-F238E27FC236}">
                <a16:creationId xmlns:a16="http://schemas.microsoft.com/office/drawing/2014/main" id="{6C2A4087-D91C-146D-8657-D5B6BBFB5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9" b="513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DF5E2-6F96-F9C9-C4D6-3FB7E28CF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/>
              <a:t>Neural Networks for Classification and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20D68-D22B-1619-E3E0-776F0E6E6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6B779DF2-9C2C-2416-6AD3-A115ED41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5249" y="161365"/>
            <a:ext cx="6511640" cy="6508376"/>
          </a:xfrm>
          <a:prstGeom prst="frame">
            <a:avLst>
              <a:gd name="adj1" fmla="val 8000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72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651CD-0D12-2AC0-7E1D-1E22D550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do we need to know?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DC216A-56A3-82F8-0539-FE8F81501A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8" y="2776382"/>
            <a:ext cx="5639091" cy="31188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6DC1-B3ED-F9A4-37CB-D5CAA306B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7104" y="2304288"/>
            <a:ext cx="5129784" cy="40507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A </a:t>
            </a:r>
            <a:r>
              <a:rPr lang="en-US" sz="1700" b="1" dirty="0"/>
              <a:t>neural network</a:t>
            </a:r>
            <a:r>
              <a:rPr lang="en-US" sz="1700" dirty="0"/>
              <a:t> is a machine learning model inspired by the human brain. It consists of layers of artificial neurons that process information and learn patterns from data.</a:t>
            </a:r>
          </a:p>
          <a:p>
            <a:pPr>
              <a:lnSpc>
                <a:spcPct val="100000"/>
              </a:lnSpc>
            </a:pPr>
            <a:r>
              <a:rPr lang="en-US" sz="1700" b="1" dirty="0"/>
              <a:t>Key Components:</a:t>
            </a:r>
          </a:p>
          <a:p>
            <a:pPr lvl="1">
              <a:lnSpc>
                <a:spcPct val="100000"/>
              </a:lnSpc>
            </a:pPr>
            <a:r>
              <a:rPr lang="en-US" sz="1700" b="1" dirty="0"/>
              <a:t>Neurons (Nodes):</a:t>
            </a:r>
            <a:r>
              <a:rPr lang="en-US" sz="1700" dirty="0"/>
              <a:t> Basic processing units that apply mathematical functions.</a:t>
            </a:r>
          </a:p>
          <a:p>
            <a:pPr lvl="1">
              <a:lnSpc>
                <a:spcPct val="100000"/>
              </a:lnSpc>
            </a:pPr>
            <a:r>
              <a:rPr lang="en-US" sz="1700" b="1" dirty="0"/>
              <a:t>Layers:</a:t>
            </a:r>
            <a:endParaRPr lang="en-US" sz="1700" dirty="0"/>
          </a:p>
          <a:p>
            <a:pPr marL="1200150" lvl="2">
              <a:lnSpc>
                <a:spcPct val="100000"/>
              </a:lnSpc>
            </a:pPr>
            <a:r>
              <a:rPr lang="en-US" sz="1500" b="1" dirty="0"/>
              <a:t>Input Layer:</a:t>
            </a:r>
            <a:r>
              <a:rPr lang="en-US" sz="1500" dirty="0"/>
              <a:t> Receives raw data (e.g., images, text, or numerical data).</a:t>
            </a:r>
          </a:p>
          <a:p>
            <a:pPr marL="1200150" lvl="2">
              <a:lnSpc>
                <a:spcPct val="100000"/>
              </a:lnSpc>
            </a:pPr>
            <a:r>
              <a:rPr lang="en-US" sz="1500" b="1" dirty="0"/>
              <a:t>Hidden Layers:</a:t>
            </a:r>
            <a:r>
              <a:rPr lang="en-US" sz="1500" dirty="0"/>
              <a:t> Perform computations using weights and activation functions.</a:t>
            </a:r>
          </a:p>
          <a:p>
            <a:pPr marL="1200150" lvl="2">
              <a:lnSpc>
                <a:spcPct val="100000"/>
              </a:lnSpc>
            </a:pPr>
            <a:r>
              <a:rPr lang="en-US" sz="1500" b="1" dirty="0"/>
              <a:t>Output Layer:</a:t>
            </a:r>
            <a:r>
              <a:rPr lang="en-US" sz="1500" dirty="0"/>
              <a:t> Produces final predictions or classifications.</a:t>
            </a:r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7906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68BB3-E86D-9FA5-9182-0EC18C3E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14356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Supervised Learning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99E64-9500-2781-253B-B7A23BC51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414016"/>
            <a:ext cx="3200400" cy="39410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Supervised Learning: Trains a model on labeled data</a:t>
            </a:r>
          </a:p>
          <a:p>
            <a:pPr marL="0">
              <a:lnSpc>
                <a:spcPct val="100000"/>
              </a:lnSpc>
            </a:pPr>
            <a:r>
              <a:rPr lang="en-US" dirty="0"/>
              <a:t>Types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Classifications: Predict categories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Regression: Predict continuous values</a:t>
            </a:r>
          </a:p>
          <a:p>
            <a:pPr>
              <a:lnSpc>
                <a:spcPct val="100000"/>
              </a:lnSpc>
            </a:pPr>
            <a:r>
              <a:rPr lang="en-US" dirty="0"/>
              <a:t>Inputs = features</a:t>
            </a:r>
          </a:p>
          <a:p>
            <a:pPr>
              <a:lnSpc>
                <a:spcPct val="100000"/>
              </a:lnSpc>
            </a:pPr>
            <a:r>
              <a:rPr lang="en-US" dirty="0"/>
              <a:t>Outputs = labels (when training)</a:t>
            </a:r>
          </a:p>
        </p:txBody>
      </p:sp>
      <p:pic>
        <p:nvPicPr>
          <p:cNvPr id="6" name="Content Placeholder 5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B175D268-56EF-DAB6-A5D8-B254ACDC5F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" r="-2" b="-2"/>
          <a:stretch/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6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3FECE-BD34-4759-0C2A-CB7AC4D5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Classification Tasks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BBBE9-F021-6B53-FAAA-A55B8CD12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4672584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Input: 8x8 grayscale images of handwritten digits</a:t>
            </a:r>
          </a:p>
          <a:p>
            <a:r>
              <a:rPr lang="en-US" dirty="0"/>
              <a:t>Output: Predicted digit (0-9)</a:t>
            </a:r>
          </a:p>
          <a:p>
            <a:r>
              <a:rPr lang="en-US" dirty="0"/>
              <a:t>Model: Feedforward Neural Network</a:t>
            </a:r>
          </a:p>
          <a:p>
            <a:pPr lvl="1"/>
            <a:r>
              <a:rPr lang="en-US" dirty="0"/>
              <a:t>Input layer: 64 neurons</a:t>
            </a:r>
          </a:p>
          <a:p>
            <a:pPr lvl="1"/>
            <a:r>
              <a:rPr lang="en-US" dirty="0"/>
              <a:t>Hidden layer: 1 or more layers with </a:t>
            </a:r>
            <a:r>
              <a:rPr lang="en-US"/>
              <a:t>ReLU</a:t>
            </a:r>
            <a:r>
              <a:rPr lang="en-US" dirty="0"/>
              <a:t> activations</a:t>
            </a:r>
          </a:p>
          <a:p>
            <a:pPr lvl="1"/>
            <a:r>
              <a:rPr lang="en-US" dirty="0"/>
              <a:t>Output layer: 10 neurons + </a:t>
            </a:r>
            <a:r>
              <a:rPr lang="en-US"/>
              <a:t>softmax</a:t>
            </a:r>
            <a:r>
              <a:rPr lang="en-US" dirty="0"/>
              <a:t> (for probability)</a:t>
            </a:r>
          </a:p>
          <a:p>
            <a:r>
              <a:rPr lang="en-US" dirty="0"/>
              <a:t>Loss Function: Cross-Entropy Loss </a:t>
            </a:r>
          </a:p>
        </p:txBody>
      </p:sp>
      <p:pic>
        <p:nvPicPr>
          <p:cNvPr id="6" name="Content Placeholder 5" descr="A group of numbers in black squares&#10;&#10;AI-generated content may be incorrect.">
            <a:extLst>
              <a:ext uri="{FF2B5EF4-FFF2-40B4-BE49-F238E27FC236}">
                <a16:creationId xmlns:a16="http://schemas.microsoft.com/office/drawing/2014/main" id="{BDEC2F22-C593-4A7E-7306-0DDDC3E992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9" r="424" b="-1"/>
          <a:stretch/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8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C8EE-44DA-AA89-C4C0-6849D0FC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 with classifiers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A593E0-C578-2E67-A7BE-3B9E33A49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10" y="2578100"/>
            <a:ext cx="9254530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CF4185-8F1C-9D83-40C4-EEF509FD5C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21208" y="978408"/>
                <a:ext cx="11155680" cy="111556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Regression Task - </a:t>
                </a:r>
                <a14:m>
                  <m:oMath xmlns:m="http://schemas.openxmlformats.org/officeDocument/2006/math">
                    <m:r>
                      <a:rPr lang="en-US" b="1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𝒁</m:t>
                    </m:r>
                    <m:r>
                      <a:rPr lang="en-US" b="1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→</m:t>
                    </m:r>
                    <m:sSup>
                      <m:sSupPr>
                        <m:ctrlPr>
                          <a:rPr lang="en-US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pPr>
                      <m:e>
                        <m:r>
                          <a:rPr lang="en-US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𝒆</m:t>
                        </m:r>
                      </m:e>
                      <m:sup>
                        <m:r>
                          <a:rPr lang="en-US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en-US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pPr>
                      <m:e>
                        <m:r>
                          <a:rPr lang="en-US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𝒆</m:t>
                        </m:r>
                      </m:e>
                      <m:sup>
                        <m:r>
                          <a:rPr lang="en-US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Decays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CF4185-8F1C-9D83-40C4-EEF509FD5C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21208" y="978408"/>
                <a:ext cx="11155680" cy="1115568"/>
              </a:xfrm>
              <a:blipFill>
                <a:blip r:embed="rId2"/>
                <a:stretch>
                  <a:fillRect l="-2240" t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 descr="A comparison of a graph&#10;&#10;AI-generated content may be incorrect.">
            <a:extLst>
              <a:ext uri="{FF2B5EF4-FFF2-40B4-BE49-F238E27FC236}">
                <a16:creationId xmlns:a16="http://schemas.microsoft.com/office/drawing/2014/main" id="{DA115286-5FC3-3C0E-9BA7-45E95AB0D9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8" y="2750232"/>
            <a:ext cx="5639091" cy="31711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51C66-9C6E-8A40-2539-A3CF4FF42B7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547104" y="2304288"/>
                <a:ext cx="5129784" cy="4050792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dirty="0"/>
                  <a:t>Input: Kinematic features of electron and position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Output: Predicted invariant mass of Z boson</a:t>
                </a:r>
              </a:p>
              <a:p>
                <a:r>
                  <a:rPr lang="en-US" dirty="0"/>
                  <a:t>Model: Feedforward Neural Network</a:t>
                </a:r>
              </a:p>
              <a:p>
                <a:pPr lvl="1"/>
                <a:r>
                  <a:rPr lang="en-US" dirty="0"/>
                  <a:t>Input: 6 features</a:t>
                </a:r>
              </a:p>
              <a:p>
                <a:pPr lvl="1"/>
                <a:r>
                  <a:rPr lang="en-US" dirty="0"/>
                  <a:t>Hidden layers: </a:t>
                </a:r>
                <a:r>
                  <a:rPr lang="en-US"/>
                  <a:t>ReLU</a:t>
                </a:r>
                <a:r>
                  <a:rPr lang="en-US" dirty="0"/>
                  <a:t> activations</a:t>
                </a:r>
              </a:p>
              <a:p>
                <a:pPr lvl="1"/>
                <a:r>
                  <a:rPr lang="en-US" dirty="0"/>
                  <a:t>Output: mass</a:t>
                </a:r>
              </a:p>
              <a:p>
                <a:r>
                  <a:rPr lang="en-US" dirty="0"/>
                  <a:t>Loss function: Mean Squared Error (MSE)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051C66-9C6E-8A40-2539-A3CF4FF42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547104" y="2304288"/>
                <a:ext cx="5129784" cy="4050792"/>
              </a:xfrm>
              <a:blipFill>
                <a:blip r:embed="rId4"/>
                <a:stretch>
                  <a:fillRect l="-713" t="-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38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BB712-06E9-7429-5EFA-39132776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Activation Functions</a:t>
            </a:r>
          </a:p>
        </p:txBody>
      </p:sp>
      <p:pic>
        <p:nvPicPr>
          <p:cNvPr id="6" name="Content Placeholder 5" descr="A diagram of functions and functions&#10;&#10;AI-generated content may be incorrect.">
            <a:extLst>
              <a:ext uri="{FF2B5EF4-FFF2-40B4-BE49-F238E27FC236}">
                <a16:creationId xmlns:a16="http://schemas.microsoft.com/office/drawing/2014/main" id="{B981C86F-8BF3-606C-EBB6-8B4964E2AF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2180894"/>
            <a:ext cx="4959823" cy="2492311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BD2F0-2367-FA60-8F1A-9AA81D477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What they do</a:t>
            </a:r>
          </a:p>
          <a:p>
            <a:r>
              <a:rPr lang="en-US" dirty="0"/>
              <a:t>Break linearity so depth matters</a:t>
            </a:r>
          </a:p>
          <a:p>
            <a:r>
              <a:rPr lang="en-US" dirty="0"/>
              <a:t>Control gradient flow during backpropagation</a:t>
            </a:r>
          </a:p>
          <a:p>
            <a:r>
              <a:rPr lang="en-US" dirty="0"/>
              <a:t>Determine what each neuron "detects“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The Universal Approximation Theorem</a:t>
            </a:r>
          </a:p>
          <a:p>
            <a:r>
              <a:rPr lang="en-US" dirty="0"/>
              <a:t>Any non-polynomial activation can approximate any continuous function</a:t>
            </a:r>
          </a:p>
        </p:txBody>
      </p:sp>
    </p:spTree>
    <p:extLst>
      <p:ext uri="{BB962C8B-B14F-4D97-AF65-F5344CB8AC3E}">
        <p14:creationId xmlns:p14="http://schemas.microsoft.com/office/powerpoint/2010/main" val="406775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E3D14-025E-D4EE-05D1-1A61532E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 a Neural Network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FBE9852F-E111-6A16-ED18-A4F0C7C0BF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8" y="2890795"/>
            <a:ext cx="5639091" cy="28900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9050-902D-0A63-C36B-D0DB5E439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7104" y="2304288"/>
            <a:ext cx="5129784" cy="40507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Forward pass computes output from a batch of inputs</a:t>
            </a:r>
          </a:p>
          <a:p>
            <a:r>
              <a:rPr lang="en-US" dirty="0"/>
              <a:t>Compute loss and compare predictions to targets (known outcomes)</a:t>
            </a:r>
          </a:p>
          <a:p>
            <a:r>
              <a:rPr lang="en-US" dirty="0"/>
              <a:t>Backward pass computes gradients using backpropagation</a:t>
            </a:r>
          </a:p>
          <a:p>
            <a:r>
              <a:rPr lang="en-US" dirty="0"/>
              <a:t>Optimizer updates weights</a:t>
            </a:r>
          </a:p>
          <a:p>
            <a:r>
              <a:rPr lang="en-US" dirty="0"/>
              <a:t>Repeat for many epochs until loss decreases</a:t>
            </a:r>
          </a:p>
        </p:txBody>
      </p:sp>
    </p:spTree>
    <p:extLst>
      <p:ext uri="{BB962C8B-B14F-4D97-AF65-F5344CB8AC3E}">
        <p14:creationId xmlns:p14="http://schemas.microsoft.com/office/powerpoint/2010/main" val="34302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18B124-37F1-0663-97F2-E46A37A01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Scikit-learn and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7E4CB130-1BC5-3242-D6A5-59CB767A9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703901"/>
              </p:ext>
            </p:extLst>
          </p:nvPr>
        </p:nvGraphicFramePr>
        <p:xfrm>
          <a:off x="520700" y="2744959"/>
          <a:ext cx="11156951" cy="34334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30817">
                  <a:extLst>
                    <a:ext uri="{9D8B030D-6E8A-4147-A177-3AD203B41FA5}">
                      <a16:colId xmlns:a16="http://schemas.microsoft.com/office/drawing/2014/main" val="2139887386"/>
                    </a:ext>
                  </a:extLst>
                </a:gridCol>
                <a:gridCol w="3645194">
                  <a:extLst>
                    <a:ext uri="{9D8B030D-6E8A-4147-A177-3AD203B41FA5}">
                      <a16:colId xmlns:a16="http://schemas.microsoft.com/office/drawing/2014/main" val="3469598757"/>
                    </a:ext>
                  </a:extLst>
                </a:gridCol>
                <a:gridCol w="4080940">
                  <a:extLst>
                    <a:ext uri="{9D8B030D-6E8A-4147-A177-3AD203B41FA5}">
                      <a16:colId xmlns:a16="http://schemas.microsoft.com/office/drawing/2014/main" val="824759138"/>
                    </a:ext>
                  </a:extLst>
                </a:gridCol>
              </a:tblGrid>
              <a:tr h="57223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234094" marR="140456" marT="140456" marB="14045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scikit-learn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PyTorch</a:t>
                      </a:r>
                      <a:endParaRPr lang="en-US" sz="16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894018"/>
                  </a:ext>
                </a:extLst>
              </a:tr>
              <a:tr h="57223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Ease of use</a:t>
                      </a:r>
                    </a:p>
                  </a:txBody>
                  <a:tcPr marL="234094" marR="140456" marT="140456" marB="14045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High (great for beginners)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Medium (more manual setup)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952304"/>
                  </a:ext>
                </a:extLst>
              </a:tr>
              <a:tr h="57223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Customization</a:t>
                      </a:r>
                    </a:p>
                  </a:txBody>
                  <a:tcPr marL="234094" marR="140456" marT="140456" marB="14045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High (fully flexible)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36326"/>
                  </a:ext>
                </a:extLst>
              </a:tr>
              <a:tr h="57223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Neural networks</a:t>
                      </a:r>
                    </a:p>
                  </a:txBody>
                  <a:tcPr marL="234094" marR="140456" marT="140456" marB="14045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Basic (via MLPClassifier)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Full deep learning framework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937547"/>
                  </a:ext>
                </a:extLst>
              </a:tr>
              <a:tr h="57223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GPU acceleration</a:t>
                      </a:r>
                    </a:p>
                  </a:txBody>
                  <a:tcPr marL="234094" marR="140456" marT="140456" marB="14045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05881"/>
                  </a:ext>
                </a:extLst>
              </a:tr>
              <a:tr h="57223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Great for...</a:t>
                      </a:r>
                    </a:p>
                  </a:txBody>
                  <a:tcPr marL="234094" marR="140456" marT="140456" marB="14045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Classical ML, quick protos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Deep learning, full control</a:t>
                      </a:r>
                    </a:p>
                  </a:txBody>
                  <a:tcPr marL="234094" marR="140456" marT="140456" marB="14045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212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552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751444-BEF8-35EE-83FF-573C16E5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What?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D690F-6D93-7E08-C240-2C9B03E48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7A982-EC57-7F69-5AA0-8E9FBCD77A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Fast prototyping with standard models</a:t>
            </a:r>
          </a:p>
          <a:p>
            <a:r>
              <a:rPr lang="en-US" dirty="0"/>
              <a:t>Working with small and medium tabular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A183FE-5473-4766-E2DD-AA72F67CA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E0EF7E-C051-959F-F976-F9561C3888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Custom model architectures</a:t>
            </a:r>
          </a:p>
          <a:p>
            <a:r>
              <a:rPr lang="en-US" dirty="0"/>
              <a:t>Working with deep learning or large datasets</a:t>
            </a:r>
          </a:p>
          <a:p>
            <a:r>
              <a:rPr lang="en-US" dirty="0"/>
              <a:t>Want to explore the internal parameters of training </a:t>
            </a:r>
          </a:p>
        </p:txBody>
      </p:sp>
    </p:spTree>
    <p:extLst>
      <p:ext uri="{BB962C8B-B14F-4D97-AF65-F5344CB8AC3E}">
        <p14:creationId xmlns:p14="http://schemas.microsoft.com/office/powerpoint/2010/main" val="233811375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238</TotalTime>
  <Words>410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Bierstadt</vt:lpstr>
      <vt:lpstr>Cambria Math</vt:lpstr>
      <vt:lpstr>Neue Haas Grotesk Text Pro</vt:lpstr>
      <vt:lpstr>GestaltVTI</vt:lpstr>
      <vt:lpstr>Neural Networks for Classification and Regression</vt:lpstr>
      <vt:lpstr>What do we need to know?</vt:lpstr>
      <vt:lpstr>Supervised Learning</vt:lpstr>
      <vt:lpstr>Classification Tasks</vt:lpstr>
      <vt:lpstr>Trouble with classifiers </vt:lpstr>
      <vt:lpstr>Regression Task - Z→e^+ e^- Decays</vt:lpstr>
      <vt:lpstr>Activation Functions</vt:lpstr>
      <vt:lpstr>Training a Neural Network</vt:lpstr>
      <vt:lpstr>Scikit-learn and Pytorch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6</cp:revision>
  <dcterms:created xsi:type="dcterms:W3CDTF">2025-04-02T20:19:18Z</dcterms:created>
  <dcterms:modified xsi:type="dcterms:W3CDTF">2026-04-06T19:22:42Z</dcterms:modified>
</cp:coreProperties>
</file>