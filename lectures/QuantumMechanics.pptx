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4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41E34-1018-4836-A881-4D42F343CFB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00409-9B41-42BE-99C3-CB718FACB2F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4932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41E34-1018-4836-A881-4D42F343CFB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00409-9B41-42BE-99C3-CB718FACB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129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41E34-1018-4836-A881-4D42F343CFB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00409-9B41-42BE-99C3-CB718FACB2F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7895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41E34-1018-4836-A881-4D42F343CFB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00409-9B41-42BE-99C3-CB718FACB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889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41E34-1018-4836-A881-4D42F343CFB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00409-9B41-42BE-99C3-CB718FACB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359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41E34-1018-4836-A881-4D42F343CFB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00409-9B41-42BE-99C3-CB718FACB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17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41E34-1018-4836-A881-4D42F343CFB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00409-9B41-42BE-99C3-CB718FACB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390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7641E34-1018-4836-A881-4D42F343CFB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300409-9B41-42BE-99C3-CB718FACB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91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41E34-1018-4836-A881-4D42F343CFB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00409-9B41-42BE-99C3-CB718FACB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834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41E34-1018-4836-A881-4D42F343CFB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00409-9B41-42BE-99C3-CB718FACB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598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41E34-1018-4836-A881-4D42F343CFB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00409-9B41-42BE-99C3-CB718FACB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025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7641E34-1018-4836-A881-4D42F343CFBA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C300409-9B41-42BE-99C3-CB718FACB2F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895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C48B9-B737-CA6A-C1A1-C0D94D9E1F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Quantum Mechanics and Schoedinger’s Equation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2948D2-8D12-74A1-B42A-40EB0ACE9F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524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8CB54FC-0B2A-4107-9A70-958B90B76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7F6FD88-B70E-B288-28FD-50BFCD6FF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Quantum World</a:t>
            </a:r>
          </a:p>
        </p:txBody>
      </p:sp>
      <p:pic>
        <p:nvPicPr>
          <p:cNvPr id="8" name="Content Placeholder 7" descr="A black circle with a black dot&#10;&#10;AI-generated content may be incorrect.">
            <a:extLst>
              <a:ext uri="{FF2B5EF4-FFF2-40B4-BE49-F238E27FC236}">
                <a16:creationId xmlns:a16="http://schemas.microsoft.com/office/drawing/2014/main" id="{9A133B96-9596-A97B-4BF0-EE9787CA407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92" y="1756153"/>
            <a:ext cx="5451627" cy="3025652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855A9B5-1710-4B19-B0F1-CDFDD4ED5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9993E3-B253-F86E-FA91-CE1540D607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11684" y="2198914"/>
            <a:ext cx="5127172" cy="3670180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en-US" sz="2800" dirty="0"/>
              <a:t>Classical mechanics are deterministic</a:t>
            </a:r>
          </a:p>
          <a:p>
            <a:r>
              <a:rPr lang="en-US" sz="2800" dirty="0"/>
              <a:t>Quantum Mechanics describes the microscopic world in a probabilistic way</a:t>
            </a:r>
          </a:p>
          <a:p>
            <a:r>
              <a:rPr lang="en-US" sz="2800" dirty="0"/>
              <a:t>Wavefunctions describe the state of quantum systems, such as particles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87DBF8-5C50-4034-8B79-FE54A01A8E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720853-E885-4BE5-BFE2-24004CEF69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619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0861964-D86C-4A50-8F6D-B466384A6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94D0A2-D32F-9AC1-66F9-B258AE1DB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The Wavefunction</a:t>
            </a:r>
          </a:p>
        </p:txBody>
      </p:sp>
      <p:pic>
        <p:nvPicPr>
          <p:cNvPr id="6" name="Content Placeholder 5" descr="A chart of a diagram of a nuclear explosion&#10;&#10;AI-generated content may be incorrect.">
            <a:extLst>
              <a:ext uri="{FF2B5EF4-FFF2-40B4-BE49-F238E27FC236}">
                <a16:creationId xmlns:a16="http://schemas.microsoft.com/office/drawing/2014/main" id="{DFBEEF58-2C31-3DEB-AD1B-5B57BCA106F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976" y="640081"/>
            <a:ext cx="5845846" cy="5314406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54A678E-8F30-4E92-A5BF-F5D03D011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2A1FF9-6746-0112-C409-C38382C1B74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7859485" y="2198914"/>
                <a:ext cx="3690257" cy="3670180"/>
              </a:xfrm>
            </p:spPr>
            <p:txBody>
              <a:bodyPr vert="horz" lIns="0" tIns="45720" rIns="0" bIns="45720" rtlCol="0">
                <a:normAutofit fontScale="92500" lnSpcReduction="10000"/>
              </a:bodyPr>
              <a:lstStyle/>
              <a:p>
                <a:r>
                  <a:rPr lang="en-US" sz="2800" dirty="0"/>
                  <a:t>A complex-valued function</a:t>
                </a:r>
              </a:p>
              <a:p>
                <a:r>
                  <a:rPr lang="en-US" sz="2800" dirty="0"/>
                  <a:t>Contains all measurable information about a system</a:t>
                </a:r>
              </a:p>
              <a:p>
                <a:r>
                  <a:rPr lang="en-US" sz="2800" dirty="0" err="1"/>
                  <a:t>Born’s</a:t>
                </a:r>
                <a:r>
                  <a:rPr lang="en-US" sz="2800" dirty="0"/>
                  <a:t> Interpretation: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Ψ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/>
                  <a:t> represents the probability density</a:t>
                </a:r>
              </a:p>
              <a:p>
                <a:pPr lvl="1"/>
                <a:r>
                  <a:rPr lang="en-US" sz="2400" dirty="0"/>
                  <a:t>Measurements collapse wavefunctions to a definite state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2A1FF9-6746-0112-C409-C38382C1B7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859485" y="2198914"/>
                <a:ext cx="3690257" cy="3670180"/>
              </a:xfrm>
              <a:blipFill>
                <a:blip r:embed="rId3"/>
                <a:stretch>
                  <a:fillRect l="-2970" t="-3488" r="-4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02CE8509-9E93-4D74-BF24-661F111C7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FFA9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6E8BA98-E13C-403B-AC96-75E203799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5A25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473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80744D-37AA-2739-2B83-04AFD2A13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Schrödinger's Equation</a:t>
            </a:r>
          </a:p>
        </p:txBody>
      </p:sp>
      <p:pic>
        <p:nvPicPr>
          <p:cNvPr id="7" name="Content Placeholder 6" descr="A mathematical equation with black letters&#10;&#10;AI-generated content may be incorrect.">
            <a:extLst>
              <a:ext uri="{FF2B5EF4-FFF2-40B4-BE49-F238E27FC236}">
                <a16:creationId xmlns:a16="http://schemas.microsoft.com/office/drawing/2014/main" id="{F9F93D0A-A629-4C91-ACF6-1DA5EA5559B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432" y="2781356"/>
            <a:ext cx="3094997" cy="174093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92167B-A62C-60EE-3E08-B8429BD0700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639733" y="1845734"/>
                <a:ext cx="6515947" cy="4422098"/>
              </a:xfrm>
            </p:spPr>
            <p:txBody>
              <a:bodyPr vert="horz" lIns="0" tIns="45720" rIns="0" bIns="45720" rtlCol="0">
                <a:normAutofit fontScale="92500" lnSpcReduction="10000"/>
              </a:bodyPr>
              <a:lstStyle/>
              <a:p>
                <a:r>
                  <a:rPr lang="en-US" sz="2800" dirty="0"/>
                  <a:t>Schrödinger's Equation is expressed as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ℏ</m:t>
                    </m:r>
                    <m:f>
                      <m:fPr>
                        <m:ctrlPr>
                          <a:rPr lang="en-US" sz="28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sz="2800" b="0" i="0">
                            <a:latin typeface="Cambria Math" panose="02040503050406030204" pitchFamily="18" charset="0"/>
                          </a:rPr>
                          <m:t>Ψ</m:t>
                        </m:r>
                      </m:num>
                      <m:den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sz="2800" b="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800" b="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800" b="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0" i="1">
                                    <a:latin typeface="Cambria Math" panose="02040503050406030204" pitchFamily="18" charset="0"/>
                                  </a:rPr>
                                  <m:t>ℏ</m:t>
                                </m:r>
                              </m:e>
                              <m:sup>
                                <m:r>
                                  <a:rPr lang="en-US" sz="28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sSup>
                          <m:sSupPr>
                            <m:ctrlPr>
                              <a:rPr lang="en-US" sz="2800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800" b="0" i="0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p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lang="en-US" sz="28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2800" b="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b="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acc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US" sz="2800" b="0" i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US" sz="2800" b="0" i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  <a:p>
                <a:r>
                  <a:rPr lang="en-US" sz="2800" dirty="0"/>
                  <a:t>Which can put in operator terms</a:t>
                </a:r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m:rPr>
                        <m:sty m:val="p"/>
                      </m:rPr>
                      <a:rPr lang="en-US" sz="2800" b="0" i="0" dirty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US" sz="2800" b="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800" b="0" i="1" dirty="0">
                        <a:latin typeface="Cambria Math" panose="02040503050406030204" pitchFamily="18" charset="0"/>
                      </a:rPr>
                      <m:t>ℏ</m:t>
                    </m:r>
                    <m:f>
                      <m:fPr>
                        <m:ctrlPr>
                          <a:rPr lang="en-US" sz="2800" b="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sz="2800" b="0" i="0" dirty="0">
                            <a:latin typeface="Cambria Math" panose="02040503050406030204" pitchFamily="18" charset="0"/>
                          </a:rPr>
                          <m:t>Ψ</m:t>
                        </m:r>
                      </m:num>
                      <m:den>
                        <m:r>
                          <a:rPr lang="en-US" sz="2800" b="0" i="1" dirty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800" b="0" i="1" dirty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en-US" sz="2800" dirty="0"/>
              </a:p>
              <a:p>
                <a:r>
                  <a:rPr lang="en-US" sz="2800" dirty="0"/>
                  <a:t>Where the Hamiltonian is</a:t>
                </a:r>
              </a:p>
              <a:p>
                <a:pPr algn="ctr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r>
                      <a:rPr lang="en-US" sz="2800" b="0" i="1" dirty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800" b="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800" b="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dirty="0">
                                <a:latin typeface="Cambria Math" panose="02040503050406030204" pitchFamily="18" charset="0"/>
                              </a:rPr>
                              <m:t>ℏ</m:t>
                            </m:r>
                          </m:e>
                          <m:sup>
                            <m:r>
                              <a:rPr lang="en-US" sz="2800" b="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800" b="0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800" b="0" i="1" dirty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sSup>
                      <m:sSupPr>
                        <m:ctrlPr>
                          <a:rPr lang="en-US" sz="2800" b="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800" b="0" i="0" dirty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p>
                        <m:r>
                          <a:rPr lang="en-US" sz="2800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dirty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800" b="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800" b="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  <a:p>
                <a:pPr algn="ctr"/>
                <a:r>
                  <a:rPr lang="en-US" sz="2800" dirty="0">
                    <a:solidFill>
                      <a:srgbClr val="C00000"/>
                    </a:solidFill>
                  </a:rPr>
                  <a:t>Which other equation looks like this one?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92167B-A62C-60EE-3E08-B8429BD070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639733" y="1845734"/>
                <a:ext cx="6515947" cy="4422098"/>
              </a:xfrm>
              <a:blipFill>
                <a:blip r:embed="rId3"/>
                <a:stretch>
                  <a:fillRect l="-1684" t="-2759" b="-1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Rectangle 61">
            <a:extLst>
              <a:ext uri="{FF2B5EF4-FFF2-40B4-BE49-F238E27FC236}">
                <a16:creationId xmlns:a16="http://schemas.microsoft.com/office/drawing/2014/main" id="{77C34054-98F8-4229-885E-04C525969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515A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2AAB964-B835-4B93-A1F3-4A30D1F38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455A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342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A03258A-52C6-4288-AA56-C3262A0D2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D40791F6-715D-481A-9C4A-3645AECFD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715EB8-ECE7-DAA1-3BD3-D27F5D9D7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771" y="634946"/>
            <a:ext cx="6574972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The Free Particle Case (1D)</a:t>
            </a:r>
          </a:p>
        </p:txBody>
      </p:sp>
      <p:pic>
        <p:nvPicPr>
          <p:cNvPr id="6" name="Content Placeholder 5" descr="A grid with a grid and a blue light&#10;&#10;AI-generated content may be incorrect.">
            <a:extLst>
              <a:ext uri="{FF2B5EF4-FFF2-40B4-BE49-F238E27FC236}">
                <a16:creationId xmlns:a16="http://schemas.microsoft.com/office/drawing/2014/main" id="{48F8BF37-07A2-EF51-99E8-9EE250DE39B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46" r="13062"/>
          <a:stretch/>
        </p:blipFill>
        <p:spPr>
          <a:xfrm>
            <a:off x="633999" y="640081"/>
            <a:ext cx="4001315" cy="5314406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40F83A4-FAC4-4867-95A5-BBFD280C7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74770" y="2086188"/>
            <a:ext cx="608976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632374-9B15-AD8F-C2F8-8C1D54BE34D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4974769" y="2198914"/>
                <a:ext cx="6574973" cy="3670180"/>
              </a:xfrm>
            </p:spPr>
            <p:txBody>
              <a:bodyPr vert="horz" lIns="0" tIns="45720" rIns="0" bIns="45720" rtlCol="0">
                <a:normAutofit fontScale="85000" lnSpcReduction="10000"/>
              </a:bodyPr>
              <a:lstStyle/>
              <a:p>
                <a:r>
                  <a:rPr lang="en-US" sz="3200" dirty="0"/>
                  <a:t>For the </a:t>
                </a:r>
                <a:r>
                  <a:rPr lang="en-US" sz="3200" i="1" dirty="0"/>
                  <a:t>V(x) = 0 </a:t>
                </a:r>
                <a:r>
                  <a:rPr lang="en-US" sz="3200" dirty="0"/>
                  <a:t>case gives plane wave solutions</a:t>
                </a:r>
              </a:p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Ψ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𝑘𝑥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</m:oMath>
                </a14:m>
                <a:endParaRPr lang="en-US" sz="3200" b="0" dirty="0"/>
              </a:p>
              <a:p>
                <a:pPr algn="ctr"/>
                <a:r>
                  <a:rPr lang="en-US" sz="3200" b="0" dirty="0">
                    <a:solidFill>
                      <a:srgbClr val="C00000"/>
                    </a:solidFill>
                  </a:rPr>
                  <a:t>Is this </a:t>
                </a:r>
                <a:r>
                  <a:rPr lang="en-US" sz="3200" b="0" dirty="0" err="1">
                    <a:solidFill>
                      <a:srgbClr val="C00000"/>
                    </a:solidFill>
                  </a:rPr>
                  <a:t>Normalizable</a:t>
                </a:r>
                <a:r>
                  <a:rPr lang="en-US" sz="3200" b="0" dirty="0">
                    <a:solidFill>
                      <a:srgbClr val="C00000"/>
                    </a:solidFill>
                  </a:rPr>
                  <a:t>?</a:t>
                </a:r>
              </a:p>
              <a:p>
                <a:r>
                  <a:rPr lang="en-US" sz="3200" dirty="0"/>
                  <a:t>With momentum and energy relations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=ℏ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sz="3200" b="0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sz="3200" b="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3200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200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>
                                <a:latin typeface="Cambria Math" panose="02040503050406030204" pitchFamily="18" charset="0"/>
                              </a:rPr>
                              <m:t>ℏ</m:t>
                            </m:r>
                          </m:e>
                          <m:sup>
                            <m:r>
                              <a:rPr lang="en-US" sz="32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sz="3200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3200" b="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sz="32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3200" b="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3200" b="0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632374-9B15-AD8F-C2F8-8C1D54BE34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974769" y="2198914"/>
                <a:ext cx="6574973" cy="3670180"/>
              </a:xfrm>
              <a:blipFill>
                <a:blip r:embed="rId3"/>
                <a:stretch>
                  <a:fillRect l="-1761" t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CADA4CA0-9A57-4FBE-A9E5-24DFC23C3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11CBAFA-D7E0-40A7-BB94-2C05304B4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693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4554BF-4B7C-A5A5-6FC9-99759FC98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2961800" cy="211147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More Complicated </a:t>
            </a:r>
            <a:r>
              <a:rPr lang="en-US" sz="4000" i="1"/>
              <a:t>V(x)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74DD7E-7141-E4BB-8A9A-B96E6ECA98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6432" y="2398080"/>
            <a:ext cx="2944817" cy="3471013"/>
          </a:xfrm>
        </p:spPr>
        <p:txBody>
          <a:bodyPr vert="horz" lIns="0" tIns="45720" rIns="0" bIns="45720" rtlCol="0">
            <a:normAutofit lnSpcReduction="10000"/>
          </a:bodyPr>
          <a:lstStyle/>
          <a:p>
            <a:r>
              <a:rPr lang="en-US" sz="2800" dirty="0"/>
              <a:t>For complicated problems, we need to solve Schoedinger’s equation with numerical methods</a:t>
            </a:r>
          </a:p>
          <a:p>
            <a:pPr algn="ctr"/>
            <a:r>
              <a:rPr lang="en-US" sz="2800" dirty="0">
                <a:solidFill>
                  <a:srgbClr val="C00000"/>
                </a:solidFill>
              </a:rPr>
              <a:t>What makes this different from the heat equation?</a:t>
            </a:r>
          </a:p>
        </p:txBody>
      </p:sp>
      <p:pic>
        <p:nvPicPr>
          <p:cNvPr id="6" name="Content Placeholder 5" descr="A diagram of a function&#10;&#10;AI-generated content may be incorrect.">
            <a:extLst>
              <a:ext uri="{FF2B5EF4-FFF2-40B4-BE49-F238E27FC236}">
                <a16:creationId xmlns:a16="http://schemas.microsoft.com/office/drawing/2014/main" id="{248565BB-2C75-7FE4-ED54-132598176EE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884" y="643467"/>
            <a:ext cx="6136635" cy="504738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7C34054-98F8-4229-885E-04C525969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30F4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2AAB964-B835-4B93-A1F3-4A30D1F38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4C63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261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80861964-D86C-4A50-8F6D-B466384A6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EDBA46-3C63-178A-767F-9AD0A4C0A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6487" y="634946"/>
            <a:ext cx="4833255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/>
              <a:t>Evolution of the Wavefunction</a:t>
            </a:r>
          </a:p>
        </p:txBody>
      </p:sp>
      <p:pic>
        <p:nvPicPr>
          <p:cNvPr id="6" name="Content Placeholder 5" descr="A red lines with arrows and formulas&#10;&#10;AI-generated content may be incorrect.">
            <a:extLst>
              <a:ext uri="{FF2B5EF4-FFF2-40B4-BE49-F238E27FC236}">
                <a16:creationId xmlns:a16="http://schemas.microsoft.com/office/drawing/2014/main" id="{0B5B40C4-632F-6212-F6C4-6717D92C666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00" y="1837589"/>
            <a:ext cx="5788571" cy="2453401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54A678E-8F30-4E92-A5BF-F5D03D011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92143" y="2085703"/>
            <a:ext cx="35661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6BF2C0-2F1F-93CD-B879-C67C32FBBEB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716487" y="2198914"/>
                <a:ext cx="4833256" cy="3670180"/>
              </a:xfrm>
            </p:spPr>
            <p:txBody>
              <a:bodyPr vert="horz" lIns="0" tIns="45720" rIns="0" bIns="45720" rtlCol="0">
                <a:normAutofit fontScale="92500" lnSpcReduction="20000"/>
              </a:bodyPr>
              <a:lstStyle/>
              <a:p>
                <a:r>
                  <a:rPr lang="en-US" sz="2800" dirty="0"/>
                  <a:t>We know that the wavefunction evolves according to the Schoedinger Equation, but we can express this with operators,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Ψ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Ψ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endParaRPr lang="en-US" sz="2800" b="0" dirty="0"/>
              </a:p>
              <a:p>
                <a:r>
                  <a:rPr lang="en-US" sz="2800" dirty="0"/>
                  <a:t>Where the time-evolution propagator is defined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acc>
                          <m:accPr>
                            <m:chr m:val="̂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</m:acc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sz="2800" b="0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𝑈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6BF2C0-2F1F-93CD-B879-C67C32FBBE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716487" y="2198914"/>
                <a:ext cx="4833256" cy="3670180"/>
              </a:xfrm>
              <a:blipFill>
                <a:blip r:embed="rId3"/>
                <a:stretch>
                  <a:fillRect l="-2270" t="-4319" r="-18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02CE8509-9E93-4D74-BF24-661F111C7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rgbClr val="FFB1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6E8BA98-E13C-403B-AC96-75E203799C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404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887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9B1311-5735-B091-9050-1EA6B8B69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7457" y="634946"/>
            <a:ext cx="7402286" cy="1450757"/>
          </a:xfrm>
        </p:spPr>
        <p:txBody>
          <a:bodyPr>
            <a:normAutofit/>
          </a:bodyPr>
          <a:lstStyle/>
          <a:p>
            <a:r>
              <a:rPr lang="en-US" sz="5000" dirty="0"/>
              <a:t>Discretizing the Equation</a:t>
            </a:r>
          </a:p>
        </p:txBody>
      </p:sp>
      <p:pic>
        <p:nvPicPr>
          <p:cNvPr id="5" name="Picture 4" descr="A calculus formula">
            <a:extLst>
              <a:ext uri="{FF2B5EF4-FFF2-40B4-BE49-F238E27FC236}">
                <a16:creationId xmlns:a16="http://schemas.microsoft.com/office/drawing/2014/main" id="{E879E2C6-2260-9213-E46A-4B28B8FD53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67" r="30412" b="1"/>
          <a:stretch/>
        </p:blipFill>
        <p:spPr>
          <a:xfrm>
            <a:off x="20" y="-12128"/>
            <a:ext cx="3820866" cy="687012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B3BAAE-9A26-4B3A-F4A4-E8B9273162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47457" y="2198914"/>
                <a:ext cx="7402286" cy="367018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sz="3200" dirty="0"/>
                  <a:t>We can directly discretize Schoedinger’s equation</a:t>
                </a:r>
              </a:p>
              <a:p>
                <a:r>
                  <a:rPr lang="en-US" sz="3200" dirty="0"/>
                  <a:t>We can also step through with the operator expansion</a:t>
                </a:r>
              </a:p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𝑖𝐻𝑡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𝑖𝐻</m:t>
                        </m:r>
                        <m:r>
                          <m:rPr>
                            <m:sty m:val="p"/>
                          </m:rPr>
                          <a:rPr lang="en-US" sz="32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𝑖𝐻</m:t>
                        </m:r>
                        <m:r>
                          <m:rPr>
                            <m:sty m:val="p"/>
                          </m:rPr>
                          <a:rPr lang="en-US" sz="32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… </m:t>
                    </m:r>
                  </m:oMath>
                </a14:m>
                <a:endParaRPr lang="en-US" sz="32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32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32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US" sz="3200" b="0" i="1" dirty="0">
                  <a:latin typeface="Cambria Math" panose="02040503050406030204" pitchFamily="18" charset="0"/>
                </a:endParaRPr>
              </a:p>
              <a:p>
                <a:r>
                  <a:rPr lang="en-US" sz="3200" b="0" dirty="0"/>
                  <a:t> 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𝑖𝐻</m:t>
                        </m:r>
                        <m:r>
                          <m:rPr>
                            <m:sty m:val="p"/>
                          </m:rPr>
                          <a:rPr lang="en-US" sz="32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𝑖𝐻</m:t>
                        </m:r>
                        <m:r>
                          <m:rPr>
                            <m:sty m:val="p"/>
                          </m:rPr>
                          <a:rPr lang="en-US" sz="32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…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US" sz="32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5B3BAAE-9A26-4B3A-F4A4-E8B9273162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47457" y="2198914"/>
                <a:ext cx="7402286" cy="3670180"/>
              </a:xfrm>
              <a:blipFill>
                <a:blip r:embed="rId3"/>
                <a:stretch>
                  <a:fillRect l="-1893" t="-43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9465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EB923-E592-6230-F7C2-F2BBCD203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>
                <a:solidFill>
                  <a:schemeClr val="tx1">
                    <a:lumMod val="85000"/>
                    <a:lumOff val="15000"/>
                  </a:schemeClr>
                </a:solidFill>
              </a:rPr>
              <a:t>What do we get?</a:t>
            </a:r>
          </a:p>
        </p:txBody>
      </p:sp>
      <p:pic>
        <p:nvPicPr>
          <p:cNvPr id="7" name="Content Placeholder 6" descr="Complex math formulas on a blackboard">
            <a:extLst>
              <a:ext uri="{FF2B5EF4-FFF2-40B4-BE49-F238E27FC236}">
                <a16:creationId xmlns:a16="http://schemas.microsoft.com/office/drawing/2014/main" id="{CD1055A9-9D09-5A49-2645-EE107D3CED8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1096963" y="2057455"/>
            <a:ext cx="4938712" cy="360034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845DE-1DDC-85E7-1050-343DDE82DBD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i="1" dirty="0">
                    <a:latin typeface="Cambria Math" panose="02040503050406030204" pitchFamily="18" charset="0"/>
                  </a:rPr>
                  <a:t>Start here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ℏ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Ψ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ℏ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</m:acc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Ψ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OR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Ψ</m:t>
                    </m:r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Ψ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𝑖𝐻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A845DE-1DDC-85E7-1050-343DDE82DB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3086" t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5897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B8A1B5F-0801-4AFF-A489-335B6A851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201B52-6441-4DBA-BACE-235977581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9DF3DBB-17DD-4058-A944-5578E18A0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C6C779-7384-A752-217B-D70662632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1" y="643467"/>
            <a:ext cx="6255026" cy="50540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8000">
                <a:solidFill>
                  <a:schemeClr val="tx1">
                    <a:lumMod val="85000"/>
                    <a:lumOff val="15000"/>
                  </a:schemeClr>
                </a:solidFill>
              </a:rPr>
              <a:t>How do we calculate Energy?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9525C9A-1972-4836-BA7A-706C946E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391367"/>
            <a:ext cx="0" cy="355820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A549DE7-671D-4575-AF43-858FD999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2D9B36-9BE7-472B-8808-7E0D68107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0942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581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09A461A-ABB7-8E0F-A400-8F9A81D3F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Energy Calculation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20852254-9E6D-740D-C109-1F95204B7B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latin typeface="Cambria Math" panose="02040503050406030204" pitchFamily="18" charset="0"/>
                  </a:rPr>
                  <a:t>Everyone remembers the old trick!</a:t>
                </a:r>
                <a:endParaRPr lang="en-US" b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d>
                      <m:dPr>
                        <m:begChr m:val="|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|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acc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begChr m:val="|"/>
                        <m:endChr m:val="⟩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∫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∫⟨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begChr m:val="|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d>
                      <m:dPr>
                        <m:begChr m:val="⟨"/>
                        <m:endChr m:val="⟩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'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</m:acc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d>
                      <m:dPr>
                        <m:begChr m:val="⟨"/>
                        <m:endChr m:val="⟩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 =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∫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⟩⟨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⟩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∫∫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ℏ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 =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∫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∫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ℏ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∫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∫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ℏ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𝑑𝑥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20852254-9E6D-740D-C109-1F95204B7B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15" t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95796E2-D6D2-0E59-C50F-5D97820ACF28}"/>
              </a:ext>
            </a:extLst>
          </p:cNvPr>
          <p:cNvCxnSpPr>
            <a:cxnSpLocks/>
          </p:cNvCxnSpPr>
          <p:nvPr/>
        </p:nvCxnSpPr>
        <p:spPr>
          <a:xfrm flipH="1">
            <a:off x="5054600" y="4706719"/>
            <a:ext cx="3162300" cy="646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E75032D-C2B2-9380-8124-BF4716419984}"/>
              </a:ext>
            </a:extLst>
          </p:cNvPr>
          <p:cNvSpPr txBox="1"/>
          <p:nvPr/>
        </p:nvSpPr>
        <p:spPr>
          <a:xfrm>
            <a:off x="8216900" y="4451350"/>
            <a:ext cx="30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Integration? How do we do that numerically?</a:t>
            </a:r>
          </a:p>
        </p:txBody>
      </p:sp>
    </p:spTree>
    <p:extLst>
      <p:ext uri="{BB962C8B-B14F-4D97-AF65-F5344CB8AC3E}">
        <p14:creationId xmlns:p14="http://schemas.microsoft.com/office/powerpoint/2010/main" val="3294875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655</TotalTime>
  <Words>407</Words>
  <Application>Microsoft Office PowerPoint</Application>
  <PresentationFormat>Widescreen</PresentationFormat>
  <Paragraphs>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Calibri Light</vt:lpstr>
      <vt:lpstr>Cambria Math</vt:lpstr>
      <vt:lpstr>Retrospect</vt:lpstr>
      <vt:lpstr>Quantum Mechanics and Schoedinger’s Equation</vt:lpstr>
      <vt:lpstr>Quantum World</vt:lpstr>
      <vt:lpstr>The Wavefunction</vt:lpstr>
      <vt:lpstr>Schrödinger's Equation</vt:lpstr>
      <vt:lpstr>The Free Particle Case (1D)</vt:lpstr>
      <vt:lpstr>More Complicated V(x)</vt:lpstr>
      <vt:lpstr>Evolution of the Wavefunction</vt:lpstr>
      <vt:lpstr>Discretizing the Equation</vt:lpstr>
      <vt:lpstr>What do we get?</vt:lpstr>
      <vt:lpstr>How do we calculate Energy?</vt:lpstr>
      <vt:lpstr>Energy Calculation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Kelley, Tom</dc:creator>
  <cp:lastModifiedBy>Kelley, Tom</cp:lastModifiedBy>
  <cp:revision>6</cp:revision>
  <dcterms:created xsi:type="dcterms:W3CDTF">2025-03-06T20:04:48Z</dcterms:created>
  <dcterms:modified xsi:type="dcterms:W3CDTF">2026-03-19T20:31:15Z</dcterms:modified>
</cp:coreProperties>
</file>