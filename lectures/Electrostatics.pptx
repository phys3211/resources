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01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6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02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0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3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2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2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2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1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6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6362848-78FD-42FD-8E0F-28CAD8729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30A1164-5895-408E-A2F4-521EA76E8CE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067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74451-9119-D2EC-57F0-2E440650B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anchor="ctr">
            <a:normAutofit/>
          </a:bodyPr>
          <a:lstStyle/>
          <a:p>
            <a:pPr algn="r"/>
            <a:r>
              <a:rPr lang="en-US" dirty="0"/>
              <a:t>Laplace’s Equation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33A1-B518-AC3D-A427-53942EE8B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995" y="643467"/>
            <a:ext cx="3341488" cy="5054008"/>
          </a:xfrm>
        </p:spPr>
        <p:txBody>
          <a:bodyPr anchor="ctr">
            <a:normAutofit/>
          </a:bodyPr>
          <a:lstStyle/>
          <a:p>
            <a:r>
              <a:rPr lang="en-US"/>
              <a:t>And to a lesser extent Poisson’s equation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12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8A30F-8743-1D54-6CB6-4D66FB2F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Fundamentals</a:t>
            </a:r>
          </a:p>
        </p:txBody>
      </p:sp>
      <p:pic>
        <p:nvPicPr>
          <p:cNvPr id="6" name="Content Placeholder 5" descr="A diagram of a complex equation&#10;&#10;AI-generated content may be incorrect.">
            <a:extLst>
              <a:ext uri="{FF2B5EF4-FFF2-40B4-BE49-F238E27FC236}">
                <a16:creationId xmlns:a16="http://schemas.microsoft.com/office/drawing/2014/main" id="{9A501B37-16C5-0629-CEBD-B2584446C5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89" r="30189" b="1"/>
          <a:stretch/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81CC0-1489-0F9F-0540-ADEB9CAF286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</p:spPr>
            <p:txBody>
              <a:bodyPr vert="horz" lIns="0" tIns="45720" rIns="0" bIns="45720" rtlCol="0">
                <a:normAutofit lnSpcReduction="10000"/>
              </a:bodyPr>
              <a:lstStyle/>
              <a:p>
                <a:r>
                  <a:rPr lang="en-US" dirty="0"/>
                  <a:t>Electric fields arise from charge distributions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  (Gauss’s law)</a:t>
                </a:r>
              </a:p>
              <a:p>
                <a:r>
                  <a:rPr lang="en-US" dirty="0"/>
                  <a:t>Electrostatic fields are conservative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Because electrostatic fields are conservative, we can specify a scalar potential that relates to the electric field,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b="0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81CC0-1489-0F9F-0540-ADEB9CAF28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  <a:blipFill>
                <a:blip r:embed="rId3"/>
                <a:stretch>
                  <a:fillRect l="-927" t="-2492" r="-1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CADA4CA0-9A57-4FBE-A9E5-24DFC23C3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87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199F-83EF-467F-4737-5B9DF31A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Poisson’s and Laplace’s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BC2EA-DCE0-824D-401F-0E9A5C1E57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The direct relation between the scalar potential and the charge distribution is given by Poisson’s Equation: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In cases, where no charge distribution exists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What does the 2D discretized equation look like?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BC2EA-DCE0-824D-401F-0E9A5C1E57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3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of a function&#10;&#10;AI-generated content may be incorrect.">
            <a:extLst>
              <a:ext uri="{FF2B5EF4-FFF2-40B4-BE49-F238E27FC236}">
                <a16:creationId xmlns:a16="http://schemas.microsoft.com/office/drawing/2014/main" id="{ACC25416-BA5E-B5A9-864B-45173A7225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143125"/>
            <a:ext cx="4572000" cy="3429000"/>
          </a:xfrm>
        </p:spPr>
      </p:pic>
    </p:spTree>
    <p:extLst>
      <p:ext uri="{BB962C8B-B14F-4D97-AF65-F5344CB8AC3E}">
        <p14:creationId xmlns:p14="http://schemas.microsoft.com/office/powerpoint/2010/main" val="92010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766EF-4CE0-CC06-11B4-AB860C8B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Numerically Solving Equations</a:t>
            </a:r>
          </a:p>
        </p:txBody>
      </p:sp>
      <p:pic>
        <p:nvPicPr>
          <p:cNvPr id="6" name="Content Placeholder 5" descr="A grid with black lines and dots&#10;&#10;AI-generated content may be incorrect.">
            <a:extLst>
              <a:ext uri="{FF2B5EF4-FFF2-40B4-BE49-F238E27FC236}">
                <a16:creationId xmlns:a16="http://schemas.microsoft.com/office/drawing/2014/main" id="{E77354A0-2368-A655-1E47-26EA506B7E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327408"/>
            <a:ext cx="5451627" cy="388314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30FA4B-4264-1C49-DC7F-580844B98E5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Analytic solutions only exist for simple geometries</a:t>
                </a:r>
              </a:p>
              <a:p>
                <a:r>
                  <a:rPr lang="en-US" dirty="0"/>
                  <a:t>Discretized, Laplace’s equation becomes an averaging exercise that can work even in </a:t>
                </a:r>
                <a:r>
                  <a:rPr lang="en-US" i="1" dirty="0"/>
                  <a:t>Excel</a:t>
                </a:r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Generating solutions to Laplace’s equation requires iterative processes</a:t>
                </a:r>
              </a:p>
              <a:p>
                <a:pPr lvl="1"/>
                <a:r>
                  <a:rPr lang="en-US" dirty="0"/>
                  <a:t>Jacobi method</a:t>
                </a:r>
              </a:p>
              <a:p>
                <a:pPr lvl="1"/>
                <a:r>
                  <a:rPr lang="en-US" dirty="0"/>
                  <a:t>Gauss-Seidel method</a:t>
                </a:r>
              </a:p>
              <a:p>
                <a:pPr lvl="1"/>
                <a:r>
                  <a:rPr lang="en-US" dirty="0"/>
                  <a:t>Successive Over-Relaxation method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30FA4B-4264-1C49-DC7F-580844B98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  <a:blipFill>
                <a:blip r:embed="rId3"/>
                <a:stretch>
                  <a:fillRect l="-1308" t="-1827" b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F0E63-3533-1CDC-0A86-5EEA012F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Jacobi Method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36CF29-A2F9-5B51-C58C-758ACB5D2E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999" y="1468219"/>
            <a:ext cx="6909801" cy="3658129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52D23-D8AA-1DC3-79DB-EBE4EB2C14F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305575" y="2198914"/>
                <a:ext cx="4244167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All updates use values of the </a:t>
                </a:r>
                <a:r>
                  <a:rPr lang="en-US" i="1" dirty="0"/>
                  <a:t>previous</a:t>
                </a:r>
                <a:r>
                  <a:rPr lang="en-US" dirty="0"/>
                  <a:t> iteration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endParaRPr lang="en-US" sz="1800" dirty="0"/>
              </a:p>
              <a:p>
                <a:r>
                  <a:rPr lang="en-US" dirty="0"/>
                  <a:t>Requires keeping two copies of the grid (say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Notes:</a:t>
                </a:r>
              </a:p>
              <a:p>
                <a:pPr lvl="1"/>
                <a:r>
                  <a:rPr lang="en-US" dirty="0"/>
                  <a:t>Easiest to parallelize</a:t>
                </a:r>
              </a:p>
              <a:p>
                <a:pPr lvl="1"/>
                <a:r>
                  <a:rPr lang="en-US" dirty="0"/>
                  <a:t>Slowest to converge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52D23-D8AA-1DC3-79DB-EBE4EB2C1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305575" y="2198914"/>
                <a:ext cx="4244167" cy="3670180"/>
              </a:xfrm>
              <a:blipFill>
                <a:blip r:embed="rId3"/>
                <a:stretch>
                  <a:fillRect l="-1435" t="-1827" r="-2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5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14FD5-693F-19E7-C31F-77BF6255F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Gauss-Seidel method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6DF844-5828-BD51-76DC-1AF17298E9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999" y="1468219"/>
            <a:ext cx="6909801" cy="365812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46AACE-EF62-BE91-F18B-54B80B202FB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543801" y="2198914"/>
                <a:ext cx="4005942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sz="1700" dirty="0"/>
                  <a:t>Updates are done in-place. As soon as a new value is computed, it is used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bSup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p>
                        </m:sSubSup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𝑒𝑤</m:t>
                            </m:r>
                          </m:sup>
                        </m:sSubSup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p>
                        </m:sSubSup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p>
                        </m:sSubSup>
                      </m:e>
                    </m:d>
                  </m:oMath>
                </a14:m>
                <a:endParaRPr lang="en-US" sz="1700" dirty="0"/>
              </a:p>
              <a:p>
                <a:r>
                  <a:rPr lang="en-US" sz="1700" dirty="0"/>
                  <a:t>No second array needed</a:t>
                </a:r>
              </a:p>
              <a:p>
                <a:r>
                  <a:rPr lang="en-US" sz="1700" dirty="0"/>
                  <a:t>Notes:</a:t>
                </a:r>
              </a:p>
              <a:p>
                <a:pPr lvl="1"/>
                <a:r>
                  <a:rPr lang="en-US" sz="1700" dirty="0"/>
                  <a:t>Converges faster than Jacobi method</a:t>
                </a:r>
              </a:p>
              <a:p>
                <a:pPr lvl="1"/>
                <a:r>
                  <a:rPr lang="en-US" sz="1700" dirty="0"/>
                  <a:t>Order dependent</a:t>
                </a:r>
              </a:p>
              <a:p>
                <a:pPr lvl="1"/>
                <a:r>
                  <a:rPr lang="en-US" sz="1700" dirty="0"/>
                  <a:t>Hard to parallelize</a:t>
                </a:r>
              </a:p>
              <a:p>
                <a:endParaRPr lang="en-US" sz="1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46AACE-EF62-BE91-F18B-54B80B202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543801" y="2198914"/>
                <a:ext cx="4005942" cy="3670180"/>
              </a:xfrm>
              <a:blipFill>
                <a:blip r:embed="rId3"/>
                <a:stretch>
                  <a:fillRect l="-1065" t="-1329" r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CC38C-3165-08C1-46A0-AD3DDFC8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SOR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E7DE1CC-A2DF-02B2-632B-7BCFB880E3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999" y="1366604"/>
            <a:ext cx="6909801" cy="386135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5A05A-AE7A-23DB-DC93-883F2EC92CB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543801" y="2198914"/>
                <a:ext cx="4005942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sz="1700" dirty="0"/>
                  <a:t>Take the Gauss-Seidel update and overshoot it by a factor of </a:t>
                </a:r>
                <a14:m>
                  <m:oMath xmlns:m="http://schemas.openxmlformats.org/officeDocument/2006/math">
                    <m:r>
                      <a:rPr lang="en-US" sz="1700" b="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700" dirty="0"/>
                  <a:t> to accelerate convergence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bSup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sSubSup>
                      <m:sSubSup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𝑜𝑙𝑑</m:t>
                        </m:r>
                      </m:sup>
                    </m:sSubSup>
                    <m:r>
                      <a:rPr lang="en-US" sz="1700" b="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p>
                        </m:sSubSup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𝑒𝑤</m:t>
                            </m:r>
                          </m:sup>
                        </m:sSubSup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p>
                        </m:sSubSup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𝑒𝑤</m:t>
                            </m:r>
                          </m:sup>
                        </m:sSubSup>
                      </m:e>
                    </m:d>
                  </m:oMath>
                </a14:m>
                <a:endParaRPr lang="en-US" sz="1700" dirty="0"/>
              </a:p>
              <a:p>
                <a:r>
                  <a:rPr lang="en-US" sz="1700" dirty="0"/>
                  <a:t>The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700" dirty="0"/>
                  <a:t> parameter controls the converging behavior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&lt;1</m:t>
                    </m:r>
                    <m:r>
                      <a:rPr lang="en-US" sz="1700" b="0" i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700" i="1" dirty="0"/>
                  <a:t> </a:t>
                </a:r>
                <a:r>
                  <a:rPr lang="en-US" sz="1700" dirty="0"/>
                  <a:t>slower convergence</a:t>
                </a:r>
                <a:endParaRPr lang="en-US" sz="170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700" dirty="0"/>
                  <a:t>: recovers the Gauss-Seidel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700" b="0" i="1">
                        <a:latin typeface="Cambria Math" panose="02040503050406030204" pitchFamily="18" charset="0"/>
                      </a:rPr>
                      <m:t>1&lt;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US" sz="1700" dirty="0"/>
                  <a:t>: faster convergence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&gt;2: </m:t>
                    </m:r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5A05A-AE7A-23DB-DC93-883F2EC92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543801" y="2198914"/>
                <a:ext cx="4005942" cy="3670180"/>
              </a:xfrm>
              <a:blipFill>
                <a:blip r:embed="rId3"/>
                <a:stretch>
                  <a:fillRect l="-1065" t="-1329" r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4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01550E-1753-C1B4-D6A7-6643E5618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961800" cy="2111477"/>
          </a:xfrm>
        </p:spPr>
        <p:txBody>
          <a:bodyPr>
            <a:normAutofit/>
          </a:bodyPr>
          <a:lstStyle/>
          <a:p>
            <a:r>
              <a:rPr lang="en-US" sz="4000" dirty="0"/>
              <a:t>Using Excel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7728B6B-FD2C-AA93-A7AB-8BCD07FB3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432" y="2398080"/>
            <a:ext cx="2944817" cy="3471013"/>
          </a:xfrm>
        </p:spPr>
        <p:txBody>
          <a:bodyPr>
            <a:normAutofit/>
          </a:bodyPr>
          <a:lstStyle/>
          <a:p>
            <a:r>
              <a:rPr lang="en-US" dirty="0"/>
              <a:t>Look at </a:t>
            </a:r>
            <a:r>
              <a:rPr lang="en-US" i="1" dirty="0"/>
              <a:t>LaplaceEqu.xlsx</a:t>
            </a:r>
          </a:p>
        </p:txBody>
      </p:sp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5D6DE290-31DB-768D-CEA9-D73E2BE66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558" y="643467"/>
            <a:ext cx="6641286" cy="504738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2A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75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01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8282A8-D7D9-651B-BEBF-AABFFD610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6BE9D6-8352-5851-FAA1-30CE72AB2E2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80" y="1845734"/>
                <a:ext cx="6006164" cy="4023359"/>
              </a:xfrm>
            </p:spPr>
            <p:txBody>
              <a:bodyPr/>
              <a:lstStyle/>
              <a:p>
                <a:r>
                  <a:rPr lang="en-US" dirty="0"/>
                  <a:t>Of course, you can solve Laplace’s </a:t>
                </a:r>
                <a:r>
                  <a:rPr lang="en-US" dirty="0" err="1"/>
                  <a:t>equ</a:t>
                </a:r>
                <a:r>
                  <a:rPr lang="en-US" dirty="0"/>
                  <a:t> or Poisson’s </a:t>
                </a:r>
                <a:r>
                  <a:rPr lang="en-US" dirty="0" err="1"/>
                  <a:t>equ</a:t>
                </a:r>
                <a:r>
                  <a:rPr lang="en-US" dirty="0"/>
                  <a:t> with a linear algebra approach.</a:t>
                </a:r>
              </a:p>
              <a:p>
                <a:r>
                  <a:rPr lang="en-US" dirty="0"/>
                  <a:t>We can take the discrete equation,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And transform it into a linear system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i="1" dirty="0"/>
                  <a:t>The challenge using this method is setting the boundary conditions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6BE9D6-8352-5851-FAA1-30CE72AB2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80" y="1845734"/>
                <a:ext cx="6006164" cy="4023359"/>
              </a:xfrm>
              <a:blipFill>
                <a:blip r:embed="rId2"/>
                <a:stretch>
                  <a:fillRect l="-1015" t="-1667" r="-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number and numbers on a white background&#10;&#10;AI-generated content may be incorrect.">
            <a:extLst>
              <a:ext uri="{FF2B5EF4-FFF2-40B4-BE49-F238E27FC236}">
                <a16:creationId xmlns:a16="http://schemas.microsoft.com/office/drawing/2014/main" id="{BF0AF9D8-3FD8-866C-C098-CE253897B3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715" y="2327197"/>
            <a:ext cx="3302170" cy="3060857"/>
          </a:xfrm>
        </p:spPr>
      </p:pic>
    </p:spTree>
    <p:extLst>
      <p:ext uri="{BB962C8B-B14F-4D97-AF65-F5344CB8AC3E}">
        <p14:creationId xmlns:p14="http://schemas.microsoft.com/office/powerpoint/2010/main" val="208086640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230</TotalTime>
  <Words>362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Cambria Math</vt:lpstr>
      <vt:lpstr>Retrospect</vt:lpstr>
      <vt:lpstr>Laplace’s Equation</vt:lpstr>
      <vt:lpstr>Fundamentals</vt:lpstr>
      <vt:lpstr>Poisson’s and Laplace’s Equation</vt:lpstr>
      <vt:lpstr>Numerically Solving Equations</vt:lpstr>
      <vt:lpstr>Jacobi Method</vt:lpstr>
      <vt:lpstr>Gauss-Seidel method</vt:lpstr>
      <vt:lpstr>SOR</vt:lpstr>
      <vt:lpstr>Using Excel</vt:lpstr>
      <vt:lpstr>Linear Algebra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6</cp:revision>
  <dcterms:created xsi:type="dcterms:W3CDTF">2025-02-26T20:54:01Z</dcterms:created>
  <dcterms:modified xsi:type="dcterms:W3CDTF">2026-03-17T02:16:10Z</dcterms:modified>
</cp:coreProperties>
</file>