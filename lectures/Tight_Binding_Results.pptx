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305C65-F6AB-4F68-8484-2B51F7ED4C7E}" v="2" dt="2026-02-02T19:57:09.7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9197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45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129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811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711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461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552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479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506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15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53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A229DE2-AAF9-430D-A91F-948815C05FCC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D59882B-1342-4FB7-A37D-A1EE3E6C28C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059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29B87-623E-9E03-B57D-B82A7B7E0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Tight Binding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3B816B-A359-7619-743D-2AD7CAF7FC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122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A1500-6C66-8FB7-9FCB-20D4AA6AF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 Results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671DBD-8B2C-2984-1845-4EEC7AE62D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8379180"/>
              </p:ext>
            </p:extLst>
          </p:nvPr>
        </p:nvGraphicFramePr>
        <p:xfrm>
          <a:off x="1066800" y="2874963"/>
          <a:ext cx="100584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130316823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7141994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364214636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416047558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0818964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Parallel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Speedup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Bottleneck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1152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4.67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1.97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Overhead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14206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399.93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200.1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2.0x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Memory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52833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2355.12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857.53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2.75x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Computation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178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784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9BF09-08AD-1E05-283C-0E4A5C2ED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What’s Happening with Speedup?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E70664-5FB7-37B8-CD7E-3FFAFFEC5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45720" rIns="0" bIns="45720" rtlCol="0">
            <a:normAutofit/>
          </a:bodyPr>
          <a:lstStyle/>
          <a:p>
            <a:r>
              <a:rPr lang="en-US" dirty="0"/>
              <a:t>1. Small N: Overhead-limited</a:t>
            </a:r>
          </a:p>
          <a:p>
            <a:pPr lvl="1"/>
            <a:r>
              <a:rPr lang="en-US" dirty="0"/>
              <a:t>Time per matrix ~2 </a:t>
            </a:r>
            <a:r>
              <a:rPr lang="en-US" dirty="0" err="1"/>
              <a:t>ms</a:t>
            </a:r>
            <a:r>
              <a:rPr lang="en-US" dirty="0"/>
              <a:t> (serial) to 0.8 </a:t>
            </a:r>
            <a:r>
              <a:rPr lang="en-US" dirty="0" err="1"/>
              <a:t>ms</a:t>
            </a:r>
            <a:r>
              <a:rPr lang="en-US" dirty="0"/>
              <a:t> (parallel)</a:t>
            </a:r>
          </a:p>
          <a:p>
            <a:pPr lvl="1"/>
            <a:r>
              <a:rPr lang="en-US" dirty="0"/>
              <a:t>Very fast tasks</a:t>
            </a:r>
          </a:p>
          <a:p>
            <a:pPr lvl="1"/>
            <a:r>
              <a:rPr lang="en-US" dirty="0"/>
              <a:t>Overhead is 5-10% of total time</a:t>
            </a:r>
          </a:p>
          <a:p>
            <a:r>
              <a:rPr lang="en-US" dirty="0"/>
              <a:t>2. Medium N: Memory-limited</a:t>
            </a:r>
          </a:p>
          <a:p>
            <a:pPr lvl="1"/>
            <a:r>
              <a:rPr lang="en-US" dirty="0"/>
              <a:t>160 </a:t>
            </a:r>
            <a:r>
              <a:rPr lang="en-US" dirty="0" err="1"/>
              <a:t>ms</a:t>
            </a:r>
            <a:r>
              <a:rPr lang="en-US" dirty="0"/>
              <a:t> to 80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8 cores x 2 MB/matrix = 16 MB saturates L3 cache (peak cache thrashing)</a:t>
            </a:r>
          </a:p>
          <a:p>
            <a:pPr lvl="1"/>
            <a:r>
              <a:rPr lang="en-US" dirty="0"/>
              <a:t>Reaches maximum memory bandwidth</a:t>
            </a:r>
          </a:p>
          <a:p>
            <a:r>
              <a:rPr lang="en-US" dirty="0"/>
              <a:t>3. Large N: Compute-Limited</a:t>
            </a:r>
          </a:p>
          <a:p>
            <a:pPr lvl="1"/>
            <a:r>
              <a:rPr lang="en-US" dirty="0"/>
              <a:t>Time per matrix: 942 </a:t>
            </a:r>
            <a:r>
              <a:rPr lang="en-US" dirty="0" err="1"/>
              <a:t>ms</a:t>
            </a:r>
            <a:r>
              <a:rPr lang="en-US" dirty="0"/>
              <a:t> to 343 </a:t>
            </a:r>
            <a:r>
              <a:rPr lang="en-US" dirty="0" err="1"/>
              <a:t>ms</a:t>
            </a:r>
            <a:endParaRPr lang="en-US" dirty="0"/>
          </a:p>
          <a:p>
            <a:pPr lvl="1"/>
            <a:r>
              <a:rPr lang="en-US" dirty="0"/>
              <a:t>Long tasks reduces switching overhead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67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78D9A-5F6F-6AAF-3DC0-F69B4A473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531809"/>
                </a:solidFill>
              </a:rPr>
              <a:t>Complexity scaling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C1288-AE30-F44C-A8A7-9DDA809FDB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752" r="14197" b="2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74B94-52AF-57C9-121D-7B901E7926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Eigenvalue decomposition requires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operations</a:t>
                </a:r>
              </a:p>
              <a:p>
                <a:r>
                  <a:rPr lang="en-US" dirty="0"/>
                  <a:t>Memory access requires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per matrix</a:t>
                </a:r>
              </a:p>
              <a:p>
                <a:r>
                  <a:rPr lang="en-US" dirty="0"/>
                  <a:t>As N grows:</a:t>
                </a:r>
              </a:p>
              <a:p>
                <a:pPr lvl="1"/>
                <a:r>
                  <a:rPr lang="en-US" dirty="0"/>
                  <a:t>Computational time grows faster than memory requirements</a:t>
                </a:r>
              </a:p>
              <a:p>
                <a:pPr lvl="1"/>
                <a:r>
                  <a:rPr lang="en-US" dirty="0"/>
                  <a:t>Memory bandwidth saturates before CPU does</a:t>
                </a:r>
              </a:p>
              <a:p>
                <a:pPr lvl="1"/>
                <a:r>
                  <a:rPr lang="en-US" dirty="0"/>
                  <a:t>More time spent moving data around than computing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𝑆𝑝𝑒𝑒𝑑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𝑠𝑒𝑟𝑖𝑎𝑙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𝑝𝑎𝑟𝑎𝑙𝑙𝑒𝑙</m:t>
                            </m:r>
                          </m:sub>
                        </m:sSub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𝑐𝑜𝑚𝑝𝑢𝑡𝑒</m:t>
                            </m:r>
                          </m:sub>
                        </m:sSub>
                      </m:num>
                      <m:den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𝑐𝑜𝑚𝑝𝑢𝑡𝑒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𝑐𝑜𝑟𝑒𝑠</m:t>
                                </m:r>
                              </m:sub>
                            </m:sSub>
                          </m:den>
                        </m:f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𝑜𝑣𝑒𝑟h𝑒𝑎𝑑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𝑚𝑒𝑚𝑜𝑟𝑦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201168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774B94-52AF-57C9-121D-7B901E7926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181601" y="2198914"/>
                <a:ext cx="6368142" cy="3670180"/>
              </a:xfrm>
              <a:blipFill>
                <a:blip r:embed="rId3"/>
                <a:stretch>
                  <a:fillRect l="-957" t="-18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557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32EBA-3E8E-FB73-1864-C8A89614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Physics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54F9C4-00FA-30F7-7D7A-81328B7655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6963" y="2064628"/>
            <a:ext cx="10058400" cy="3585995"/>
          </a:xfrm>
        </p:spPr>
      </p:pic>
    </p:spTree>
    <p:extLst>
      <p:ext uri="{BB962C8B-B14F-4D97-AF65-F5344CB8AC3E}">
        <p14:creationId xmlns:p14="http://schemas.microsoft.com/office/powerpoint/2010/main" val="33913116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11973C2-EB8B-452A-A698-4A252FD3A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0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0162E77-11AD-44A7-84EC-40C59EEFBD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B11D08-BAE5-EB39-9079-5CF15A1F76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1" y="634946"/>
            <a:ext cx="6368142" cy="1450757"/>
          </a:xfrm>
        </p:spPr>
        <p:txBody>
          <a:bodyPr>
            <a:normAutofit/>
          </a:bodyPr>
          <a:lstStyle/>
          <a:p>
            <a:r>
              <a:rPr lang="en-US" sz="5400">
                <a:solidFill>
                  <a:srgbClr val="2D4F74"/>
                </a:solidFill>
              </a:rPr>
              <a:t>Takeaways</a:t>
            </a:r>
          </a:p>
        </p:txBody>
      </p:sp>
      <p:pic>
        <p:nvPicPr>
          <p:cNvPr id="5" name="Picture 4" descr="Circuit board background">
            <a:extLst>
              <a:ext uri="{FF2B5EF4-FFF2-40B4-BE49-F238E27FC236}">
                <a16:creationId xmlns:a16="http://schemas.microsoft.com/office/drawing/2014/main" id="{D409BACA-09E0-CD4A-4001-8F896191E1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51" r="44699" b="2"/>
          <a:stretch>
            <a:fillRect/>
          </a:stretch>
        </p:blipFill>
        <p:spPr>
          <a:xfrm>
            <a:off x="20" y="-12128"/>
            <a:ext cx="4654276" cy="6870127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AB158E9-1B40-4CD6-95F0-95CA11DF7B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87617" y="2085703"/>
            <a:ext cx="6170686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054D9F-4CAE-F154-B94F-A0DEB9A8F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1601" y="2198914"/>
            <a:ext cx="6368142" cy="3670180"/>
          </a:xfrm>
        </p:spPr>
        <p:txBody>
          <a:bodyPr>
            <a:normAutofit/>
          </a:bodyPr>
          <a:lstStyle/>
          <a:p>
            <a:r>
              <a:rPr lang="en-US" dirty="0"/>
              <a:t>Parallelization is always better at all scales. Different bottlenecks for different problems</a:t>
            </a:r>
          </a:p>
          <a:p>
            <a:pPr lvl="1"/>
            <a:r>
              <a:rPr lang="en-US" dirty="0"/>
              <a:t>Small N: overhead matters</a:t>
            </a:r>
          </a:p>
          <a:p>
            <a:pPr lvl="1"/>
            <a:r>
              <a:rPr lang="en-US" dirty="0"/>
              <a:t>Intermediate N: memory becomes an issue </a:t>
            </a:r>
          </a:p>
          <a:p>
            <a:pPr lvl="1"/>
            <a:r>
              <a:rPr lang="en-US" dirty="0"/>
              <a:t>Large N: compute time dominates</a:t>
            </a:r>
          </a:p>
          <a:p>
            <a:r>
              <a:rPr lang="en-US" dirty="0"/>
              <a:t>Real Considerations</a:t>
            </a:r>
          </a:p>
          <a:p>
            <a:pPr lvl="1"/>
            <a:r>
              <a:rPr lang="en-US" dirty="0"/>
              <a:t>Memory architecture matters as much as CPU count</a:t>
            </a:r>
          </a:p>
          <a:p>
            <a:pPr lvl="1"/>
            <a:r>
              <a:rPr lang="en-US" dirty="0"/>
              <a:t>Supercomputers worried as much about interconnect speed as FLOPS</a:t>
            </a:r>
          </a:p>
          <a:p>
            <a:pPr lvl="1"/>
            <a:r>
              <a:rPr lang="en-US" dirty="0"/>
              <a:t>GPUs are partially more effective because of high memory bandwidth</a:t>
            </a:r>
          </a:p>
        </p:txBody>
      </p:sp>
    </p:spTree>
    <p:extLst>
      <p:ext uri="{BB962C8B-B14F-4D97-AF65-F5344CB8AC3E}">
        <p14:creationId xmlns:p14="http://schemas.microsoft.com/office/powerpoint/2010/main" val="408230033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5FFC3B65D96E47BE26BD5CDACF3F9C" ma:contentTypeVersion="14" ma:contentTypeDescription="Create a new document." ma:contentTypeScope="" ma:versionID="f187e27b240ecfea6ab34a66fbb66d33">
  <xsd:schema xmlns:xsd="http://www.w3.org/2001/XMLSchema" xmlns:xs="http://www.w3.org/2001/XMLSchema" xmlns:p="http://schemas.microsoft.com/office/2006/metadata/properties" xmlns:ns3="8af3a97f-2df0-4fbf-8783-9b5cb7cf51bb" xmlns:ns4="84ef6b79-3d69-44d3-a198-c6daed0edd7a" targetNamespace="http://schemas.microsoft.com/office/2006/metadata/properties" ma:root="true" ma:fieldsID="4e66ad952080a2fae04bb081d9e86a64" ns3:_="" ns4:_="">
    <xsd:import namespace="8af3a97f-2df0-4fbf-8783-9b5cb7cf51bb"/>
    <xsd:import namespace="84ef6b79-3d69-44d3-a198-c6daed0edd7a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  <xsd:element ref="ns4:MediaServiceDateTaken" minOccurs="0"/>
                <xsd:element ref="ns4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f3a97f-2df0-4fbf-8783-9b5cb7cf51b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description="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ef6b79-3d69-44d3-a198-c6daed0edd7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4ef6b79-3d69-44d3-a198-c6daed0edd7a" xsi:nil="true"/>
  </documentManagement>
</p:properties>
</file>

<file path=customXml/itemProps1.xml><?xml version="1.0" encoding="utf-8"?>
<ds:datastoreItem xmlns:ds="http://schemas.openxmlformats.org/officeDocument/2006/customXml" ds:itemID="{F90E360F-6312-443F-8B70-8E346E26B10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F36E23-B3BB-4221-808D-6E14746973F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f3a97f-2df0-4fbf-8783-9b5cb7cf51bb"/>
    <ds:schemaRef ds:uri="84ef6b79-3d69-44d3-a198-c6daed0edd7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B3A0ACD-6F22-4906-A54E-BC83752511E1}">
  <ds:schemaRefs>
    <ds:schemaRef ds:uri="http://purl.org/dc/dcmitype/"/>
    <ds:schemaRef ds:uri="84ef6b79-3d69-44d3-a198-c6daed0edd7a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purl.org/dc/terms/"/>
    <ds:schemaRef ds:uri="http://www.w3.org/XML/1998/namespace"/>
    <ds:schemaRef ds:uri="8af3a97f-2df0-4fbf-8783-9b5cb7cf51bb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63</TotalTime>
  <Words>230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Calibri Light</vt:lpstr>
      <vt:lpstr>Cambria Math</vt:lpstr>
      <vt:lpstr>Retrospect</vt:lpstr>
      <vt:lpstr>Tight Binding Results</vt:lpstr>
      <vt:lpstr>Parallelization Results</vt:lpstr>
      <vt:lpstr>What’s Happening with Speedup? </vt:lpstr>
      <vt:lpstr>Complexity scaling</vt:lpstr>
      <vt:lpstr>The Physics</vt:lpstr>
      <vt:lpstr>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Kelley, Tom</dc:creator>
  <cp:lastModifiedBy>Kelley, Tom</cp:lastModifiedBy>
  <cp:revision>2</cp:revision>
  <dcterms:created xsi:type="dcterms:W3CDTF">2026-02-02T18:53:55Z</dcterms:created>
  <dcterms:modified xsi:type="dcterms:W3CDTF">2026-02-03T16:21:03Z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0x0101005D5FFC3B65D96E47BE26BD5CDACF3F9C</vt:lpwstr>
  </property>
</Properties>
</file>