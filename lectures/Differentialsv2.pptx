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8"/>
  </p:notesMasterIdLst>
  <p:sldIdLst>
    <p:sldId id="256" r:id="rId2"/>
    <p:sldId id="257" r:id="rId3"/>
    <p:sldId id="269" r:id="rId4"/>
    <p:sldId id="258" r:id="rId5"/>
    <p:sldId id="259" r:id="rId6"/>
    <p:sldId id="270" r:id="rId7"/>
    <p:sldId id="260" r:id="rId8"/>
    <p:sldId id="271" r:id="rId9"/>
    <p:sldId id="261" r:id="rId10"/>
    <p:sldId id="262" r:id="rId11"/>
    <p:sldId id="263" r:id="rId12"/>
    <p:sldId id="265" r:id="rId13"/>
    <p:sldId id="264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3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420A1-5CE7-42F5-8E01-9DA7DF685BB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44B7D2-A160-46AF-8BBB-5A76CB8D3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69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392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58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02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83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842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572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60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785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02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376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161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58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87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3B3B6C5-748F-437C-AE76-DB11FEA99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7CEB5D-9BB2-475C-BA8D-AC88BB8C9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2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0B8D7C-8451-4C04-87A1-13DA8B225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0588" y="965199"/>
            <a:ext cx="6766078" cy="4927601"/>
          </a:xfrm>
        </p:spPr>
        <p:txBody>
          <a:bodyPr anchor="ctr">
            <a:normAutofit/>
          </a:bodyPr>
          <a:lstStyle/>
          <a:p>
            <a:r>
              <a:rPr lang="en-US" sz="5400"/>
              <a:t>Differentials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B3FEB-B946-4D74-AFAA-B560D74BE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3257" y="965198"/>
            <a:ext cx="2707937" cy="4927602"/>
          </a:xfrm>
        </p:spPr>
        <p:txBody>
          <a:bodyPr anchor="ctr">
            <a:normAutofit/>
          </a:bodyPr>
          <a:lstStyle/>
          <a:p>
            <a:pPr algn="r"/>
            <a:r>
              <a:rPr lang="en-US" sz="2000"/>
              <a:t>Material taken from </a:t>
            </a:r>
            <a:r>
              <a:rPr lang="en-US" sz="2000" i="1"/>
              <a:t>Computation Physics </a:t>
            </a:r>
            <a:r>
              <a:rPr lang="en-US" sz="2000"/>
              <a:t>by Mark Newman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14AD1F-ADD5-46E7-966F-4C0290232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32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8A393-FB7C-4D37-B6C0-10C6BFC53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Forward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0832C8-3A77-42BB-9BD9-1A54991CE39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429294" y="1871509"/>
                <a:ext cx="7105481" cy="4284335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Who remembers the formula for a derivative?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From a Taylor expansion of </a:t>
                </a:r>
                <a:r>
                  <a:rPr lang="en-US" i="1" dirty="0"/>
                  <a:t>f(x),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342900" indent="-342900"/>
                <a:r>
                  <a:rPr lang="en-US" dirty="0">
                    <a:solidFill>
                      <a:schemeClr val="accent2"/>
                    </a:solidFill>
                  </a:rPr>
                  <a:t>Approximation error </a:t>
                </a:r>
                <a:r>
                  <a:rPr lang="en-US" dirty="0"/>
                  <a:t>goes as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/>
              </a:p>
              <a:p>
                <a:pPr marL="342900" indent="-342900"/>
                <a:r>
                  <a:rPr lang="en-US" dirty="0"/>
                  <a:t>But if </a:t>
                </a:r>
                <a:r>
                  <a:rPr lang="en-US" i="1" dirty="0"/>
                  <a:t>h</a:t>
                </a:r>
                <a:r>
                  <a:rPr lang="en-US" dirty="0"/>
                  <a:t> is too small,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</a:t>
                </a:r>
                <a:r>
                  <a:rPr lang="en-US" dirty="0">
                    <a:solidFill>
                      <a:schemeClr val="accent2"/>
                    </a:solidFill>
                  </a:rPr>
                  <a:t>rounding error </a:t>
                </a:r>
                <a:r>
                  <a:rPr lang="en-US" dirty="0"/>
                  <a:t>becomes large, where we can calculate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0832C8-3A77-42BB-9BD9-1A54991CE3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429294" y="1871509"/>
                <a:ext cx="7105481" cy="4284335"/>
              </a:xfrm>
              <a:blipFill>
                <a:blip r:embed="rId2"/>
                <a:stretch>
                  <a:fillRect l="-944" t="-1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C78676F8-5CAE-4DBF-9BCA-112969E933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t="356" r="4" b="4"/>
          <a:stretch/>
        </p:blipFill>
        <p:spPr>
          <a:xfrm>
            <a:off x="657225" y="2361056"/>
            <a:ext cx="3305175" cy="36492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1D0384-C515-4693-812C-00B01C62238C}"/>
                  </a:ext>
                </a:extLst>
              </p:cNvPr>
              <p:cNvSpPr txBox="1"/>
              <p:nvPr/>
            </p:nvSpPr>
            <p:spPr>
              <a:xfrm>
                <a:off x="10460372" y="3709685"/>
                <a:ext cx="1624291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Error goes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1D0384-C515-4693-812C-00B01C622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0372" y="3709685"/>
                <a:ext cx="1624291" cy="369332"/>
              </a:xfrm>
              <a:prstGeom prst="rect">
                <a:avLst/>
              </a:prstGeom>
              <a:blipFill>
                <a:blip r:embed="rId4"/>
                <a:stretch>
                  <a:fillRect l="-2985" t="-806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796DB8-7768-4246-9A2F-5F8C17C756D6}"/>
              </a:ext>
            </a:extLst>
          </p:cNvPr>
          <p:cNvCxnSpPr>
            <a:cxnSpLocks/>
          </p:cNvCxnSpPr>
          <p:nvPr/>
        </p:nvCxnSpPr>
        <p:spPr>
          <a:xfrm flipH="1">
            <a:off x="9873206" y="4079017"/>
            <a:ext cx="587166" cy="504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78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1D8EC4-8163-48C9-89D6-8555E98AB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065197" y="5120640"/>
            <a:ext cx="10058400" cy="8229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Forward Difference Method</a:t>
            </a:r>
            <a:endParaRPr lang="en-US" sz="3600" spc="-5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age 0" descr="/home/claude/fd_images/forward_dif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420" y="34053"/>
            <a:ext cx="8245916" cy="48857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B7C6C2A-33C4-4D5D-8EB1-A8803DCB7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rgbClr val="04DF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E5D7D8-83C6-474E-9D5F-A4A34CA3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Error in the derivative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EEEFDD-984C-4805-B25C-E440AF560B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42016" y="605896"/>
                <a:ext cx="6413663" cy="5646208"/>
              </a:xfrm>
            </p:spPr>
            <p:txBody>
              <a:bodyPr anchor="t">
                <a:normAutofit fontScale="92500"/>
              </a:bodyPr>
              <a:lstStyle/>
              <a:p>
                <a:r>
                  <a:rPr lang="en-US" dirty="0"/>
                  <a:t>The total error in the derivative calculation, in the worst case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To minimize the error with respect to </a:t>
                </a:r>
                <a:r>
                  <a:rPr lang="en-US" i="1" dirty="0"/>
                  <a:t>h</a:t>
                </a:r>
                <a:br>
                  <a:rPr lang="en-US" i="1" dirty="0"/>
                </a:b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′′(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total error is then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EEEFDD-984C-4805-B25C-E440AF560B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42016" y="605896"/>
                <a:ext cx="6413663" cy="5646208"/>
              </a:xfrm>
              <a:blipFill>
                <a:blip r:embed="rId2"/>
                <a:stretch>
                  <a:fillRect l="-951" t="-1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810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87703-7476-4C59-A569-8F6D6CEA2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Backward Difference</a:t>
            </a:r>
          </a:p>
        </p:txBody>
      </p:sp>
      <p:pic>
        <p:nvPicPr>
          <p:cNvPr id="7" name="Content Placeholder 6" descr="A close up of text on a white background&#10;&#10;Description generated with very high confidence">
            <a:extLst>
              <a:ext uri="{FF2B5EF4-FFF2-40B4-BE49-F238E27FC236}">
                <a16:creationId xmlns:a16="http://schemas.microsoft.com/office/drawing/2014/main" id="{F92D5A8D-D808-4B38-8E19-0567BBCD27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82855" y="2361056"/>
            <a:ext cx="4111264" cy="36492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EE46411-79B7-4747-B942-611C5734A2D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335807" y="2110161"/>
                <a:ext cx="5275001" cy="4045683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2"/>
                    </a:solidFill>
                  </a:rPr>
                  <a:t>backward difference </a:t>
                </a:r>
                <a:r>
                  <a:rPr lang="en-US" dirty="0">
                    <a:solidFill>
                      <a:schemeClr val="tx1"/>
                    </a:solidFill>
                  </a:rPr>
                  <a:t>just calculates the derivatives with different points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It has the same error associated with it as the forward difference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EE46411-79B7-4747-B942-611C5734A2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335807" y="2110161"/>
                <a:ext cx="5275001" cy="404568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3859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1D8EC4-8163-48C9-89D6-8555E98AB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065197" y="5120640"/>
            <a:ext cx="10058400" cy="8229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Backward Difference Method</a:t>
            </a:r>
            <a:endParaRPr lang="en-US" sz="3600" spc="-5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age 0" descr="/home/claude/fd_images/backward_dif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08" y="140472"/>
            <a:ext cx="8003869" cy="474229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B7C6C2A-33C4-4D5D-8EB1-A8803DCB7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rgbClr val="07D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3FF0-5CB6-4154-B140-5AD58272E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5794B5-F2E9-450E-A66B-2141D6C001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>
                <a:normAutofit fontScale="92500" lnSpcReduction="20000"/>
              </a:bodyPr>
              <a:lstStyle/>
              <a:p>
                <a:r>
                  <a:rPr lang="en-US" dirty="0"/>
                  <a:t>The central difference calculates the derivative at </a:t>
                </a:r>
                <a:r>
                  <a:rPr lang="en-US" i="1" dirty="0"/>
                  <a:t>x</a:t>
                </a:r>
                <a:r>
                  <a:rPr lang="en-US" dirty="0"/>
                  <a:t> using 2 points symmetrical placed around </a:t>
                </a:r>
                <a:r>
                  <a:rPr lang="en-US" i="1" dirty="0"/>
                  <a:t>x,</a:t>
                </a:r>
                <a:br>
                  <a:rPr lang="en-US" i="1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Taylor expansions are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48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48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5794B5-F2E9-450E-A66B-2141D6C001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5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C59A48-D5BB-483A-9FE9-760993A50A43}"/>
                  </a:ext>
                </a:extLst>
              </p:cNvPr>
              <p:cNvSpPr txBox="1"/>
              <p:nvPr/>
            </p:nvSpPr>
            <p:spPr>
              <a:xfrm>
                <a:off x="9120851" y="5971178"/>
                <a:ext cx="1731628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Error goes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C59A48-D5BB-483A-9FE9-760993A50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851" y="5971178"/>
                <a:ext cx="1731628" cy="369332"/>
              </a:xfrm>
              <a:prstGeom prst="rect">
                <a:avLst/>
              </a:prstGeom>
              <a:blipFill>
                <a:blip r:embed="rId3"/>
                <a:stretch>
                  <a:fillRect l="-2448" t="-806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8061E9-2FB9-474A-AE33-288B37A411E6}"/>
              </a:ext>
            </a:extLst>
          </p:cNvPr>
          <p:cNvCxnSpPr/>
          <p:nvPr/>
        </p:nvCxnSpPr>
        <p:spPr>
          <a:xfrm flipH="1" flipV="1">
            <a:off x="8206451" y="5641300"/>
            <a:ext cx="914400" cy="329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09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1D8EC4-8163-48C9-89D6-8555E98AB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065197" y="5120640"/>
            <a:ext cx="10058400" cy="8229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Central Difference Method</a:t>
            </a:r>
            <a:endParaRPr lang="en-US" sz="3600" spc="-5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age 0" descr="/home/claude/fd_images/central_dif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737" y="89825"/>
            <a:ext cx="8151787" cy="482993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B7C6C2A-33C4-4D5D-8EB1-A8803DCB7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rgbClr val="853A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CDF5-DF70-4E9D-BDDF-45D68FEF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Minimizing the total error again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7764A-8D4B-4421-A7B8-A318F224DE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total error in the derivative calculation, in the worst case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24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′′′(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To minimize the error with respect to </a:t>
                </a:r>
                <a:r>
                  <a:rPr lang="en-US" i="1" dirty="0"/>
                  <a:t>h, </a:t>
                </a:r>
                <a:r>
                  <a:rPr lang="en-US" dirty="0"/>
                  <a:t>the step becomes</a:t>
                </a: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′′′(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total error is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f>
                            <m:fPr>
                              <m:type m:val="lin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′′′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The central difference tends to be more accurate even with a larger step size.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7764A-8D4B-4421-A7B8-A318F224D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5725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93F6D-DF66-454A-AEB9-E0FBD3F81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So there is a clear winner?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642C3-5662-4DFF-AA10-CDD3FCA9E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5805" y="2180496"/>
            <a:ext cx="5275001" cy="4045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If the central difference tends to be more accurate, then why use forward or backward difference?</a:t>
            </a:r>
          </a:p>
          <a:p>
            <a:pPr marL="0" indent="0">
              <a:buNone/>
            </a:pPr>
            <a:r>
              <a:rPr lang="en-US" dirty="0"/>
              <a:t>Well, consider a set of data: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To find the derivative at some </a:t>
            </a:r>
            <a:r>
              <a:rPr lang="en-US" i="1" dirty="0"/>
              <a:t>x, </a:t>
            </a:r>
            <a:r>
              <a:rPr lang="en-US" dirty="0"/>
              <a:t>the central difference has to use points </a:t>
            </a:r>
            <a:r>
              <a:rPr lang="en-US" i="1" dirty="0"/>
              <a:t>x-h</a:t>
            </a:r>
            <a:r>
              <a:rPr lang="en-US" dirty="0"/>
              <a:t> and </a:t>
            </a:r>
            <a:r>
              <a:rPr lang="en-US" i="1" dirty="0" err="1"/>
              <a:t>x+h</a:t>
            </a:r>
            <a:r>
              <a:rPr lang="en-US" i="1" dirty="0"/>
              <a:t>, </a:t>
            </a:r>
            <a:r>
              <a:rPr lang="en-US" dirty="0"/>
              <a:t>using 3 points to calculate what it takes the forward difference 2 points (</a:t>
            </a:r>
            <a:r>
              <a:rPr lang="en-US" dirty="0">
                <a:solidFill>
                  <a:schemeClr val="accent2"/>
                </a:solidFill>
              </a:rPr>
              <a:t>should compare the error between the two methods</a:t>
            </a:r>
            <a:r>
              <a:rPr lang="en-US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Calculating the derivative at a point between two </a:t>
            </a:r>
            <a:r>
              <a:rPr lang="en-US" i="1" dirty="0"/>
              <a:t>x</a:t>
            </a:r>
            <a:r>
              <a:rPr lang="en-US" dirty="0"/>
              <a:t>’s now allows you to evaluate the function at two symmetric points</a:t>
            </a:r>
          </a:p>
        </p:txBody>
      </p:sp>
      <p:pic>
        <p:nvPicPr>
          <p:cNvPr id="6" name="Content Placeholder 5" descr="A close up of text on a white surface&#10;&#10;Description generated with high confidence">
            <a:extLst>
              <a:ext uri="{FF2B5EF4-FFF2-40B4-BE49-F238E27FC236}">
                <a16:creationId xmlns:a16="http://schemas.microsoft.com/office/drawing/2014/main" id="{436BF292-B769-4714-883D-527891379A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4259" r="3611" b="2"/>
          <a:stretch/>
        </p:blipFill>
        <p:spPr>
          <a:xfrm>
            <a:off x="657225" y="2361056"/>
            <a:ext cx="4962525" cy="36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27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66C6F-2706-40BC-B6A8-2B34E2FD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Order Approximations for Derivatives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90430-8809-4947-A8F2-997B19D5A8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>
                <a:solidFill>
                  <a:schemeClr val="accent2"/>
                </a:solidFill>
              </a:rPr>
              <a:t>Numerical derivatives described here are essential fitting a straight line between two points, and then calculating the slope between them</a:t>
            </a:r>
          </a:p>
          <a:p>
            <a:r>
              <a:rPr lang="en-US">
                <a:solidFill>
                  <a:srgbClr val="C00000"/>
                </a:solidFill>
              </a:rPr>
              <a:t>Could we fit higher-order polynomials?</a:t>
            </a:r>
          </a:p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Of course</a:t>
            </a:r>
            <a:r>
              <a:rPr lang="en-US">
                <a:solidFill>
                  <a:schemeClr val="tx1"/>
                </a:solidFill>
              </a:rPr>
              <a:t>, but </a:t>
            </a:r>
          </a:p>
          <a:p>
            <a:r>
              <a:rPr lang="en-US">
                <a:solidFill>
                  <a:schemeClr val="tx1"/>
                </a:solidFill>
              </a:rPr>
              <a:t>it involves more points </a:t>
            </a:r>
          </a:p>
          <a:p>
            <a:r>
              <a:rPr lang="en-US">
                <a:solidFill>
                  <a:schemeClr val="tx1"/>
                </a:solidFill>
              </a:rPr>
              <a:t>the error on the approximation improves slowly</a:t>
            </a:r>
          </a:p>
          <a:p>
            <a:r>
              <a:rPr lang="en-US" i="1">
                <a:solidFill>
                  <a:schemeClr val="tx1"/>
                </a:solidFill>
              </a:rPr>
              <a:t>Computational Physics</a:t>
            </a:r>
            <a:r>
              <a:rPr lang="en-US">
                <a:solidFill>
                  <a:schemeClr val="tx1"/>
                </a:solidFill>
              </a:rPr>
              <a:t> contains a table of coefficients you can use to calculate the derivative a function using higher order fits on page 196 (Table 5.1)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994A74-D4CF-4CDC-82BB-0DCC44BE40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8238" y="2922539"/>
            <a:ext cx="4937125" cy="187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56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4461041-8413-4023-ABA7-9E499B0AD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C44CA8-4ECD-48EF-909A-BD02CDABD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Useful Coefficients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1EEAF35-7CC1-466F-A56A-7D2D2567E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457" y="640080"/>
            <a:ext cx="9510971" cy="360273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5BCF04-4702-43D0-BE8F-DBF6C2F65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841E764-4629-49E0-994A-6F92FEFB9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635077-9890-4CC8-9792-28743EBFE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09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A14F-4EBE-4DDA-B5B4-BB42F1520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0343CF-5B12-44E2-BD0A-7086C1F812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second derivative can be found using the central difference of two first derivatives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Making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0343CF-5B12-44E2-BD0A-7086C1F812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666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6FCA-9505-4C24-9D61-1D702EDB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18DD9-0E63-4496-AFDE-610A7C79D6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we again use Taylor expansion of all the </a:t>
                </a:r>
                <a:r>
                  <a:rPr lang="en-US" i="1" dirty="0"/>
                  <a:t>f(x) </a:t>
                </a:r>
                <a:r>
                  <a:rPr lang="en-US" dirty="0"/>
                  <a:t>terms, we find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′′′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′′′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18DD9-0E63-4496-AFDE-610A7C79D6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3678303"/>
              </a:xfrm>
              <a:blipFill>
                <a:blip r:embed="rId2"/>
                <a:stretch>
                  <a:fillRect l="-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186517-DA8A-458C-A5D3-3EC6A5F99C36}"/>
                  </a:ext>
                </a:extLst>
              </p:cNvPr>
              <p:cNvSpPr txBox="1"/>
              <p:nvPr/>
            </p:nvSpPr>
            <p:spPr>
              <a:xfrm>
                <a:off x="9144000" y="4050137"/>
                <a:ext cx="1731628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Error goes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186517-DA8A-458C-A5D3-3EC6A5F99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0" y="4050137"/>
                <a:ext cx="1731628" cy="369332"/>
              </a:xfrm>
              <a:prstGeom prst="rect">
                <a:avLst/>
              </a:prstGeom>
              <a:blipFill>
                <a:blip r:embed="rId3"/>
                <a:stretch>
                  <a:fillRect l="-2448" t="-63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B847CE-CC5B-492A-85A6-51024007A88E}"/>
              </a:ext>
            </a:extLst>
          </p:cNvPr>
          <p:cNvCxnSpPr/>
          <p:nvPr/>
        </p:nvCxnSpPr>
        <p:spPr>
          <a:xfrm flipH="1" flipV="1">
            <a:off x="8229600" y="3904925"/>
            <a:ext cx="914400" cy="329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220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CDF5-DF70-4E9D-BDDF-45D68FEF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Minimizing the total error </a:t>
            </a:r>
            <a:r>
              <a:rPr lang="en-US" i="1" dirty="0"/>
              <a:t>Yet again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7764A-8D4B-4421-A7B8-A318F224DE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total error in the derivative calculation, in the worst case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′′′′(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To minimize the error with respect to </a:t>
                </a:r>
                <a:r>
                  <a:rPr lang="en-US" i="1" dirty="0"/>
                  <a:t>h, </a:t>
                </a:r>
                <a:r>
                  <a:rPr lang="en-US" dirty="0"/>
                  <a:t>the step becomes</a:t>
                </a: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g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48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′′′′(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1/4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total error is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′′′′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′′′′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The second derivatives tends to be about as accurate as the forward/backward difference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7764A-8D4B-4421-A7B8-A318F224D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9614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7547879" cy="6858000"/>
          </a:xfrm>
          <a:prstGeom prst="rect">
            <a:avLst/>
          </a:prstGeom>
          <a:solidFill>
            <a:srgbClr val="3455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00E4D-2235-04D0-9CC7-7C4E67112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Take home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33A8F-75BE-2B8A-B80D-BDE5E8DA7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36304"/>
            <a:ext cx="5977938" cy="365266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</a:rPr>
              <a:t>Central difference appears to be the most accurate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</a:rPr>
              <a:t>You can optimize step size by knowing the machine precision of the numbers you use (</a:t>
            </a:r>
            <a:r>
              <a:rPr lang="en-US" sz="2400" i="1" dirty="0">
                <a:solidFill>
                  <a:srgbClr val="FFFFFF"/>
                </a:solidFill>
              </a:rPr>
              <a:t>many build-in algorithms do this automatically</a:t>
            </a:r>
            <a:r>
              <a:rPr lang="en-US" sz="2400" dirty="0">
                <a:solidFill>
                  <a:srgbClr val="FFFFFF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</a:rPr>
              <a:t>You can use higher-order methods, but you sacrifice speed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</a:rPr>
              <a:t>Second derivatives are no more accurate than central differences methods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40D933-6A23-4815-B24F-F628EB389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0"/>
            <a:ext cx="64008" cy="6858000"/>
          </a:xfrm>
          <a:prstGeom prst="rect">
            <a:avLst/>
          </a:prstGeom>
          <a:solidFill>
            <a:srgbClr val="29F9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FE731A-5846-F18B-C3CC-E71B694F0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2" r="51998" b="-1"/>
          <a:stretch/>
        </p:blipFill>
        <p:spPr>
          <a:xfrm>
            <a:off x="7611902" y="10"/>
            <a:ext cx="458009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8604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856</TotalTime>
  <Words>772</Words>
  <Application>Microsoft Office PowerPoint</Application>
  <PresentationFormat>Widescreen</PresentationFormat>
  <Paragraphs>88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Calibri</vt:lpstr>
      <vt:lpstr>Calibri Light</vt:lpstr>
      <vt:lpstr>Cambria Math</vt:lpstr>
      <vt:lpstr>Retrospect</vt:lpstr>
      <vt:lpstr>Differentials</vt:lpstr>
      <vt:lpstr>Forward Difference</vt:lpstr>
      <vt:lpstr>PowerPoint Presentation</vt:lpstr>
      <vt:lpstr>Error in the derivative</vt:lpstr>
      <vt:lpstr>Backward Difference</vt:lpstr>
      <vt:lpstr>PowerPoint Presentation</vt:lpstr>
      <vt:lpstr>Central difference</vt:lpstr>
      <vt:lpstr>PowerPoint Presentation</vt:lpstr>
      <vt:lpstr>Minimizing the total error again</vt:lpstr>
      <vt:lpstr>So there is a clear winner?</vt:lpstr>
      <vt:lpstr>Higher Order Approximations for Derivatives</vt:lpstr>
      <vt:lpstr>Useful Coefficients</vt:lpstr>
      <vt:lpstr>Second Derivatives</vt:lpstr>
      <vt:lpstr>Second Derivatives</vt:lpstr>
      <vt:lpstr>Minimizing the total error Yet again</vt:lpstr>
      <vt:lpstr>Take home messages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Differentials</dc:title>
  <dc:creator>Kelley, Thomas</dc:creator>
  <cp:lastModifiedBy>Kelley, Tom</cp:lastModifiedBy>
  <cp:revision>37</cp:revision>
  <dcterms:created xsi:type="dcterms:W3CDTF">2018-03-21T20:23:16Z</dcterms:created>
  <dcterms:modified xsi:type="dcterms:W3CDTF">2026-02-05T19:21:50Z</dcterms:modified>
</cp:coreProperties>
</file>