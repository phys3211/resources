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2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7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8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2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41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9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2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DE4CE5-CBAB-4A58-B622-C5D62C8827D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73E90F8-CAC3-411D-9AB4-46C6CE18EEB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98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D48500-E19A-4BAD-9A4A-6ED83BB7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572F0-B7BA-9BCB-B01C-0083EBF64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928" y="988741"/>
            <a:ext cx="6248416" cy="4880518"/>
          </a:xfrm>
          <a:noFill/>
          <a:ln>
            <a:noFill/>
          </a:ln>
        </p:spPr>
        <p:txBody>
          <a:bodyPr wrap="square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Equations of Motion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9263E-7781-443B-B383-34A6A6BD5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DE1BD-C9C5-48F0-960E-9E9EB2CE6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76BE3EE-FBFC-93C9-518F-26DB546D5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7700" y="2007220"/>
            <a:ext cx="2357553" cy="2843560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A super topic</a:t>
            </a:r>
          </a:p>
        </p:txBody>
      </p:sp>
    </p:spTree>
    <p:extLst>
      <p:ext uri="{BB962C8B-B14F-4D97-AF65-F5344CB8AC3E}">
        <p14:creationId xmlns:p14="http://schemas.microsoft.com/office/powerpoint/2010/main" val="1069465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6F766-4B0F-1DE5-524C-08A655D9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C8EB-57FA-5808-A66F-4E4178AC2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Main Topic</a:t>
            </a:r>
          </a:p>
          <a:p>
            <a:r>
              <a:rPr lang="en-US" dirty="0"/>
              <a:t>Solving Systems of Differential Equations</a:t>
            </a:r>
          </a:p>
          <a:p>
            <a:pPr lvl="1"/>
            <a:r>
              <a:rPr lang="en-US" dirty="0"/>
              <a:t>To express 2</a:t>
            </a:r>
            <a:r>
              <a:rPr lang="en-US" baseline="30000" dirty="0"/>
              <a:t>nd</a:t>
            </a:r>
            <a:r>
              <a:rPr lang="en-US" dirty="0"/>
              <a:t> order differential equations as a system of 1</a:t>
            </a:r>
            <a:r>
              <a:rPr lang="en-US" baseline="30000" dirty="0"/>
              <a:t>st</a:t>
            </a:r>
            <a:r>
              <a:rPr lang="en-US" dirty="0"/>
              <a:t> order equations</a:t>
            </a:r>
          </a:p>
          <a:p>
            <a:pPr lvl="1"/>
            <a:r>
              <a:rPr lang="en-US" dirty="0"/>
              <a:t>Numerical solve this system using python</a:t>
            </a:r>
          </a:p>
          <a:p>
            <a:pPr lvl="1"/>
            <a:r>
              <a:rPr lang="en-US" dirty="0"/>
              <a:t>Visualize the results</a:t>
            </a:r>
          </a:p>
          <a:p>
            <a:r>
              <a:rPr lang="en-US" dirty="0"/>
              <a:t>Side quests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Animation</a:t>
            </a:r>
          </a:p>
          <a:p>
            <a:pPr lvl="1"/>
            <a:r>
              <a:rPr lang="en-US" dirty="0"/>
              <a:t>Events in </a:t>
            </a:r>
            <a:r>
              <a:rPr lang="en-US" i="1" dirty="0" err="1"/>
              <a:t>solve_ivp</a:t>
            </a:r>
            <a:endParaRPr lang="en-US" i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68D603-5678-B081-823E-61FE791AF9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D7A74B5-8367-4A83-ABEC-0FCDDE97B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D7C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C184B0-C2C6-4BF0-B078-816C7AF9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77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8D182650-D50E-6BE9-9F59-443DDB5329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917" b="138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Solving Systems of Differential Equations Numerically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CC58E3-BDF9-495D-9327-85F68058B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A0CA737-33FC-47E3-965A-D1C2CAA6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89942-24EB-488E-8B69-EB80F7E5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Converting Higher-Order ODEs to First-Order Systems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9" y="1845734"/>
                <a:ext cx="6454987" cy="4023360"/>
              </a:xfrm>
            </p:spPr>
            <p:txBody>
              <a:bodyPr vert="horz" lIns="0" tIns="45720" rIns="0" bIns="45720" rtlCol="0">
                <a:noAutofit/>
              </a:bodyPr>
              <a:lstStyle/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800" dirty="0"/>
                  <a:t>A higher-order differential equation can be rewritten as a system of first-order equations.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800" dirty="0"/>
                  <a:t>Consider a second-order ODE: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sz="18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Introduce auxiliary variables:    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		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1800" i="1" dirty="0">
                    <a:latin typeface="Cambria Math" panose="02040503050406030204" pitchFamily="18" charset="0"/>
                  </a:rPr>
                </a:b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Rewrite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In this way, an </a:t>
                </a:r>
                <a:r>
                  <a:rPr lang="en-US" sz="1800" i="1" dirty="0">
                    <a:solidFill>
                      <a:schemeClr val="accent2"/>
                    </a:solidFill>
                  </a:rPr>
                  <a:t>n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th-order ODE can become </a:t>
                </a:r>
                <a:r>
                  <a:rPr lang="en-US" sz="1800" i="1" dirty="0">
                    <a:solidFill>
                      <a:schemeClr val="accent2"/>
                    </a:solidFill>
                  </a:rPr>
                  <a:t>n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 first-order equations.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9" y="1845734"/>
                <a:ext cx="6454987" cy="4023360"/>
              </a:xfrm>
              <a:blipFill>
                <a:blip r:embed="rId2"/>
                <a:stretch>
                  <a:fillRect l="-2172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56A81E44-413B-545F-0611-6A9A53B86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20570" y="2770075"/>
            <a:ext cx="3135109" cy="176349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D7A74B5-8367-4A83-ABEC-0FCDDE97B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184B0-C2C6-4BF0-B078-816C7AF9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681EF-048D-7BFB-FCA3-36C4C6ECC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Example: Harmonic Oscillator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FB71A8-9457-97B2-5C78-56519A00FD7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730417" y="4509634"/>
                <a:ext cx="4158175" cy="1238616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cap="all" spc="20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cap="all" spc="20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cap="all" spc="20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cap="all" spc="2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cap="all" spc="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cap="all" spc="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FB71A8-9457-97B2-5C78-56519A00F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730417" y="4509634"/>
                <a:ext cx="4158175" cy="12386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3C50A4-6684-96E1-65DB-BF059C7400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661480"/>
            <a:ext cx="6912217" cy="5011357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A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558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7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A7C6-8633-B364-7267-60D8A748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 Der Pol Oscillator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A4C72-E92A-7341-B0A5-077FBD332AB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do you see it?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Electronics: </a:t>
                </a:r>
                <a:r>
                  <a:rPr lang="en-US" dirty="0"/>
                  <a:t>Originally described voltages  in nonlinear circuits with vacuum tubes.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Biology: </a:t>
                </a:r>
                <a:r>
                  <a:rPr lang="en-US" dirty="0"/>
                  <a:t>Used to model cardiac rhythms and membrane voltages of pacemaker cells.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Mechanical Systems: </a:t>
                </a:r>
                <a:r>
                  <a:rPr lang="en-US" dirty="0"/>
                  <a:t>Describes certain self-excited oscillations in mechanics and aeroelastic systems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b="1" dirty="0"/>
                  <a:t>Climate &amp; Ecology: </a:t>
                </a:r>
                <a:r>
                  <a:rPr lang="en-US" dirty="0"/>
                  <a:t>Appears in models of population dynamics and weather patterns.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A4C72-E92A-7341-B0A5-077FBD332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08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916AE60-051C-89E9-4AD7-71F9B99AFF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681913"/>
            <a:ext cx="4937125" cy="2351425"/>
          </a:xfrm>
        </p:spPr>
      </p:pic>
    </p:spTree>
    <p:extLst>
      <p:ext uri="{BB962C8B-B14F-4D97-AF65-F5344CB8AC3E}">
        <p14:creationId xmlns:p14="http://schemas.microsoft.com/office/powerpoint/2010/main" val="14531910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348</TotalTime>
  <Words>217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Retrospect</vt:lpstr>
      <vt:lpstr>Equations of Motion</vt:lpstr>
      <vt:lpstr>Learning Objectives</vt:lpstr>
      <vt:lpstr>Solving Systems of Differential Equations Numerically</vt:lpstr>
      <vt:lpstr>Converting Higher-Order ODEs to First-Order Systems</vt:lpstr>
      <vt:lpstr>Example: Harmonic Oscillator</vt:lpstr>
      <vt:lpstr>Van Der Pol Oscillator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2025-02-06T01:45:35Z</dcterms:created>
  <dcterms:modified xsi:type="dcterms:W3CDTF">2026-02-12T21:41:21Z</dcterms:modified>
</cp:coreProperties>
</file>