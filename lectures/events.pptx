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handoutMasterIdLst>
    <p:handoutMasterId r:id="rId12"/>
  </p:handoutMasterIdLst>
  <p:sldIdLst>
    <p:sldId id="257" r:id="rId5"/>
    <p:sldId id="263" r:id="rId6"/>
    <p:sldId id="268" r:id="rId7"/>
    <p:sldId id="272" r:id="rId8"/>
    <p:sldId id="261" r:id="rId9"/>
    <p:sldId id="27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59" d="100"/>
          <a:sy n="159" d="100"/>
        </p:scale>
        <p:origin x="384" y="1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9D4256-3DAD-4AF1-98BB-5089D6099D37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D46C1A-FA41-4FDA-9766-DCF82DA21C3A}">
      <dgm:prSet/>
      <dgm:spPr/>
      <dgm:t>
        <a:bodyPr/>
        <a:lstStyle/>
        <a:p>
          <a:r>
            <a:rPr lang="en-US"/>
            <a:t>Because Manual Detection:</a:t>
          </a:r>
        </a:p>
      </dgm:t>
    </dgm:pt>
    <dgm:pt modelId="{51F6A93B-3392-45C3-A5F4-4656FB7C3DF3}" type="parTrans" cxnId="{D9DDE55F-FCCE-4EFD-A26D-A509A57D314B}">
      <dgm:prSet/>
      <dgm:spPr/>
      <dgm:t>
        <a:bodyPr/>
        <a:lstStyle/>
        <a:p>
          <a:endParaRPr lang="en-US"/>
        </a:p>
      </dgm:t>
    </dgm:pt>
    <dgm:pt modelId="{C6DA8EE7-98D0-41C6-A27B-7DA186590629}" type="sibTrans" cxnId="{D9DDE55F-FCCE-4EFD-A26D-A509A57D314B}">
      <dgm:prSet/>
      <dgm:spPr/>
      <dgm:t>
        <a:bodyPr/>
        <a:lstStyle/>
        <a:p>
          <a:endParaRPr lang="en-US"/>
        </a:p>
      </dgm:t>
    </dgm:pt>
    <dgm:pt modelId="{115B761E-484F-43DE-BF56-B70703E8A9CC}">
      <dgm:prSet/>
      <dgm:spPr/>
      <dgm:t>
        <a:bodyPr/>
        <a:lstStyle/>
        <a:p>
          <a:r>
            <a:rPr lang="en-US"/>
            <a:t>Wastes computation (integrating past event)</a:t>
          </a:r>
        </a:p>
      </dgm:t>
    </dgm:pt>
    <dgm:pt modelId="{611B17CB-D317-4194-954A-CA9176A5977A}" type="parTrans" cxnId="{DB13B8BB-2AE0-4F1E-952E-FABB398C5404}">
      <dgm:prSet/>
      <dgm:spPr/>
      <dgm:t>
        <a:bodyPr/>
        <a:lstStyle/>
        <a:p>
          <a:endParaRPr lang="en-US"/>
        </a:p>
      </dgm:t>
    </dgm:pt>
    <dgm:pt modelId="{7BD7409F-AF6F-4692-B550-AEB60088EB7E}" type="sibTrans" cxnId="{DB13B8BB-2AE0-4F1E-952E-FABB398C5404}">
      <dgm:prSet/>
      <dgm:spPr/>
      <dgm:t>
        <a:bodyPr/>
        <a:lstStyle/>
        <a:p>
          <a:endParaRPr lang="en-US"/>
        </a:p>
      </dgm:t>
    </dgm:pt>
    <dgm:pt modelId="{3FFFFE79-DEA0-4435-AFD0-310C27E0ABBC}">
      <dgm:prSet/>
      <dgm:spPr/>
      <dgm:t>
        <a:bodyPr/>
        <a:lstStyle/>
        <a:p>
          <a:r>
            <a:rPr lang="en-US"/>
            <a:t>Imprecise event timing</a:t>
          </a:r>
        </a:p>
      </dgm:t>
    </dgm:pt>
    <dgm:pt modelId="{8518A597-FB3C-46A8-A5B1-EDE1EF3A52E8}" type="parTrans" cxnId="{F66A999B-CCDE-44CE-A591-5407E878F806}">
      <dgm:prSet/>
      <dgm:spPr/>
      <dgm:t>
        <a:bodyPr/>
        <a:lstStyle/>
        <a:p>
          <a:endParaRPr lang="en-US"/>
        </a:p>
      </dgm:t>
    </dgm:pt>
    <dgm:pt modelId="{572C556C-B3F9-4D71-9F4A-CCFE621C9FB5}" type="sibTrans" cxnId="{F66A999B-CCDE-44CE-A591-5407E878F806}">
      <dgm:prSet/>
      <dgm:spPr/>
      <dgm:t>
        <a:bodyPr/>
        <a:lstStyle/>
        <a:p>
          <a:endParaRPr lang="en-US"/>
        </a:p>
      </dgm:t>
    </dgm:pt>
    <dgm:pt modelId="{1EB58AAC-7CFF-493A-9B6E-90709E7CFED0}">
      <dgm:prSet/>
      <dgm:spPr/>
      <dgm:t>
        <a:bodyPr/>
        <a:lstStyle/>
        <a:p>
          <a:r>
            <a:rPr lang="en-US"/>
            <a:t>Hard to trigger actions at exact event moment</a:t>
          </a:r>
        </a:p>
      </dgm:t>
    </dgm:pt>
    <dgm:pt modelId="{09684848-FC91-4F83-B497-17E8E3A592A4}" type="parTrans" cxnId="{EAF972B1-57B1-48BA-91BB-C0C3B3EC4CF8}">
      <dgm:prSet/>
      <dgm:spPr/>
      <dgm:t>
        <a:bodyPr/>
        <a:lstStyle/>
        <a:p>
          <a:endParaRPr lang="en-US"/>
        </a:p>
      </dgm:t>
    </dgm:pt>
    <dgm:pt modelId="{12242ED8-7EB0-4177-9C67-2FDEF18EC0A7}" type="sibTrans" cxnId="{EAF972B1-57B1-48BA-91BB-C0C3B3EC4CF8}">
      <dgm:prSet/>
      <dgm:spPr/>
      <dgm:t>
        <a:bodyPr/>
        <a:lstStyle/>
        <a:p>
          <a:endParaRPr lang="en-US"/>
        </a:p>
      </dgm:t>
    </dgm:pt>
    <dgm:pt modelId="{2BD02E20-82E9-4729-BF24-38952C8B02F2}">
      <dgm:prSet/>
      <dgm:spPr/>
      <dgm:t>
        <a:bodyPr/>
        <a:lstStyle/>
        <a:p>
          <a:r>
            <a:rPr lang="en-US"/>
            <a:t>Instead </a:t>
          </a:r>
          <a:r>
            <a:rPr lang="en-US" i="1"/>
            <a:t>define a function that crosses zero at the event</a:t>
          </a:r>
          <a:endParaRPr lang="en-US"/>
        </a:p>
      </dgm:t>
    </dgm:pt>
    <dgm:pt modelId="{752F49E6-668F-4134-B183-8AB4EBBA934B}" type="parTrans" cxnId="{90AC8306-4867-44F5-832C-E4C6FCB4AFBE}">
      <dgm:prSet/>
      <dgm:spPr/>
      <dgm:t>
        <a:bodyPr/>
        <a:lstStyle/>
        <a:p>
          <a:endParaRPr lang="en-US"/>
        </a:p>
      </dgm:t>
    </dgm:pt>
    <dgm:pt modelId="{2AC2567C-5F3F-449D-9332-C036DC5D7958}" type="sibTrans" cxnId="{90AC8306-4867-44F5-832C-E4C6FCB4AFBE}">
      <dgm:prSet/>
      <dgm:spPr/>
      <dgm:t>
        <a:bodyPr/>
        <a:lstStyle/>
        <a:p>
          <a:endParaRPr lang="en-US"/>
        </a:p>
      </dgm:t>
    </dgm:pt>
    <dgm:pt modelId="{4CE06FCE-7821-4164-8DA8-A10B618CE87A}" type="pres">
      <dgm:prSet presAssocID="{6A9D4256-3DAD-4AF1-98BB-5089D6099D37}" presName="Name0" presStyleCnt="0">
        <dgm:presLayoutVars>
          <dgm:dir/>
          <dgm:animLvl val="lvl"/>
          <dgm:resizeHandles val="exact"/>
        </dgm:presLayoutVars>
      </dgm:prSet>
      <dgm:spPr/>
    </dgm:pt>
    <dgm:pt modelId="{BF4FE9C8-FCEB-4E15-AB4A-7B409FA3250B}" type="pres">
      <dgm:prSet presAssocID="{2BD02E20-82E9-4729-BF24-38952C8B02F2}" presName="boxAndChildren" presStyleCnt="0"/>
      <dgm:spPr/>
    </dgm:pt>
    <dgm:pt modelId="{6536C205-5613-4182-84CF-DE91CC6218D9}" type="pres">
      <dgm:prSet presAssocID="{2BD02E20-82E9-4729-BF24-38952C8B02F2}" presName="parentTextBox" presStyleLbl="node1" presStyleIdx="0" presStyleCnt="2"/>
      <dgm:spPr/>
    </dgm:pt>
    <dgm:pt modelId="{ADF5DD08-BE59-44EE-B2B3-74AED9C67098}" type="pres">
      <dgm:prSet presAssocID="{C6DA8EE7-98D0-41C6-A27B-7DA186590629}" presName="sp" presStyleCnt="0"/>
      <dgm:spPr/>
    </dgm:pt>
    <dgm:pt modelId="{9BBC5C44-D7C7-4955-A0A8-DE82ACB1B526}" type="pres">
      <dgm:prSet presAssocID="{C6D46C1A-FA41-4FDA-9766-DCF82DA21C3A}" presName="arrowAndChildren" presStyleCnt="0"/>
      <dgm:spPr/>
    </dgm:pt>
    <dgm:pt modelId="{B315F573-B447-4219-BC38-E47362960240}" type="pres">
      <dgm:prSet presAssocID="{C6D46C1A-FA41-4FDA-9766-DCF82DA21C3A}" presName="parentTextArrow" presStyleLbl="node1" presStyleIdx="0" presStyleCnt="2"/>
      <dgm:spPr/>
    </dgm:pt>
    <dgm:pt modelId="{23848305-022D-43F3-BA29-66948E4F4BFE}" type="pres">
      <dgm:prSet presAssocID="{C6D46C1A-FA41-4FDA-9766-DCF82DA21C3A}" presName="arrow" presStyleLbl="node1" presStyleIdx="1" presStyleCnt="2"/>
      <dgm:spPr/>
    </dgm:pt>
    <dgm:pt modelId="{0F93D69E-0F22-4373-A56E-2E85329097DD}" type="pres">
      <dgm:prSet presAssocID="{C6D46C1A-FA41-4FDA-9766-DCF82DA21C3A}" presName="descendantArrow" presStyleCnt="0"/>
      <dgm:spPr/>
    </dgm:pt>
    <dgm:pt modelId="{F2BC390E-FB79-4314-BBEB-5ECDA0E92C1C}" type="pres">
      <dgm:prSet presAssocID="{115B761E-484F-43DE-BF56-B70703E8A9CC}" presName="childTextArrow" presStyleLbl="fgAccFollowNode1" presStyleIdx="0" presStyleCnt="3">
        <dgm:presLayoutVars>
          <dgm:bulletEnabled val="1"/>
        </dgm:presLayoutVars>
      </dgm:prSet>
      <dgm:spPr/>
    </dgm:pt>
    <dgm:pt modelId="{B8AFE882-448F-4C7A-B98B-05AFE4F04ED4}" type="pres">
      <dgm:prSet presAssocID="{3FFFFE79-DEA0-4435-AFD0-310C27E0ABBC}" presName="childTextArrow" presStyleLbl="fgAccFollowNode1" presStyleIdx="1" presStyleCnt="3">
        <dgm:presLayoutVars>
          <dgm:bulletEnabled val="1"/>
        </dgm:presLayoutVars>
      </dgm:prSet>
      <dgm:spPr/>
    </dgm:pt>
    <dgm:pt modelId="{23E683A2-4F14-4264-82D6-65A4F42F3CC8}" type="pres">
      <dgm:prSet presAssocID="{1EB58AAC-7CFF-493A-9B6E-90709E7CFED0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90AC8306-4867-44F5-832C-E4C6FCB4AFBE}" srcId="{6A9D4256-3DAD-4AF1-98BB-5089D6099D37}" destId="{2BD02E20-82E9-4729-BF24-38952C8B02F2}" srcOrd="1" destOrd="0" parTransId="{752F49E6-668F-4134-B183-8AB4EBBA934B}" sibTransId="{2AC2567C-5F3F-449D-9332-C036DC5D7958}"/>
    <dgm:cxn modelId="{4DB7EB2F-EDB7-49E3-8CA0-E0F2E2096D1B}" type="presOf" srcId="{3FFFFE79-DEA0-4435-AFD0-310C27E0ABBC}" destId="{B8AFE882-448F-4C7A-B98B-05AFE4F04ED4}" srcOrd="0" destOrd="0" presId="urn:microsoft.com/office/officeart/2005/8/layout/process4"/>
    <dgm:cxn modelId="{D9DDE55F-FCCE-4EFD-A26D-A509A57D314B}" srcId="{6A9D4256-3DAD-4AF1-98BB-5089D6099D37}" destId="{C6D46C1A-FA41-4FDA-9766-DCF82DA21C3A}" srcOrd="0" destOrd="0" parTransId="{51F6A93B-3392-45C3-A5F4-4656FB7C3DF3}" sibTransId="{C6DA8EE7-98D0-41C6-A27B-7DA186590629}"/>
    <dgm:cxn modelId="{C1F3AF68-91B9-4636-8870-749906FF7001}" type="presOf" srcId="{C6D46C1A-FA41-4FDA-9766-DCF82DA21C3A}" destId="{B315F573-B447-4219-BC38-E47362960240}" srcOrd="0" destOrd="0" presId="urn:microsoft.com/office/officeart/2005/8/layout/process4"/>
    <dgm:cxn modelId="{1E6F7885-072F-4D38-B674-A9D9E7499984}" type="presOf" srcId="{2BD02E20-82E9-4729-BF24-38952C8B02F2}" destId="{6536C205-5613-4182-84CF-DE91CC6218D9}" srcOrd="0" destOrd="0" presId="urn:microsoft.com/office/officeart/2005/8/layout/process4"/>
    <dgm:cxn modelId="{F66A999B-CCDE-44CE-A591-5407E878F806}" srcId="{C6D46C1A-FA41-4FDA-9766-DCF82DA21C3A}" destId="{3FFFFE79-DEA0-4435-AFD0-310C27E0ABBC}" srcOrd="1" destOrd="0" parTransId="{8518A597-FB3C-46A8-A5B1-EDE1EF3A52E8}" sibTransId="{572C556C-B3F9-4D71-9F4A-CCFE621C9FB5}"/>
    <dgm:cxn modelId="{319DA4A3-F93A-49A3-97BC-B7E2B314594A}" type="presOf" srcId="{C6D46C1A-FA41-4FDA-9766-DCF82DA21C3A}" destId="{23848305-022D-43F3-BA29-66948E4F4BFE}" srcOrd="1" destOrd="0" presId="urn:microsoft.com/office/officeart/2005/8/layout/process4"/>
    <dgm:cxn modelId="{EAF972B1-57B1-48BA-91BB-C0C3B3EC4CF8}" srcId="{C6D46C1A-FA41-4FDA-9766-DCF82DA21C3A}" destId="{1EB58AAC-7CFF-493A-9B6E-90709E7CFED0}" srcOrd="2" destOrd="0" parTransId="{09684848-FC91-4F83-B497-17E8E3A592A4}" sibTransId="{12242ED8-7EB0-4177-9C67-2FDEF18EC0A7}"/>
    <dgm:cxn modelId="{DB13B8BB-2AE0-4F1E-952E-FABB398C5404}" srcId="{C6D46C1A-FA41-4FDA-9766-DCF82DA21C3A}" destId="{115B761E-484F-43DE-BF56-B70703E8A9CC}" srcOrd="0" destOrd="0" parTransId="{611B17CB-D317-4194-954A-CA9176A5977A}" sibTransId="{7BD7409F-AF6F-4692-B550-AEB60088EB7E}"/>
    <dgm:cxn modelId="{D4ABDFCA-A9F1-4627-BC1B-251B671E49E8}" type="presOf" srcId="{6A9D4256-3DAD-4AF1-98BB-5089D6099D37}" destId="{4CE06FCE-7821-4164-8DA8-A10B618CE87A}" srcOrd="0" destOrd="0" presId="urn:microsoft.com/office/officeart/2005/8/layout/process4"/>
    <dgm:cxn modelId="{1FD09DE0-995E-47DC-8915-38B9E2BC800D}" type="presOf" srcId="{1EB58AAC-7CFF-493A-9B6E-90709E7CFED0}" destId="{23E683A2-4F14-4264-82D6-65A4F42F3CC8}" srcOrd="0" destOrd="0" presId="urn:microsoft.com/office/officeart/2005/8/layout/process4"/>
    <dgm:cxn modelId="{25F47EE9-8898-4ACC-A2EB-335B45A8AF06}" type="presOf" srcId="{115B761E-484F-43DE-BF56-B70703E8A9CC}" destId="{F2BC390E-FB79-4314-BBEB-5ECDA0E92C1C}" srcOrd="0" destOrd="0" presId="urn:microsoft.com/office/officeart/2005/8/layout/process4"/>
    <dgm:cxn modelId="{15E48148-7F30-4631-A717-1188642E2CDB}" type="presParOf" srcId="{4CE06FCE-7821-4164-8DA8-A10B618CE87A}" destId="{BF4FE9C8-FCEB-4E15-AB4A-7B409FA3250B}" srcOrd="0" destOrd="0" presId="urn:microsoft.com/office/officeart/2005/8/layout/process4"/>
    <dgm:cxn modelId="{9B3D54C3-FF94-4DE5-8BB7-559AF298C1B6}" type="presParOf" srcId="{BF4FE9C8-FCEB-4E15-AB4A-7B409FA3250B}" destId="{6536C205-5613-4182-84CF-DE91CC6218D9}" srcOrd="0" destOrd="0" presId="urn:microsoft.com/office/officeart/2005/8/layout/process4"/>
    <dgm:cxn modelId="{09660B6E-D292-47CB-BDF0-CD00E97D6A55}" type="presParOf" srcId="{4CE06FCE-7821-4164-8DA8-A10B618CE87A}" destId="{ADF5DD08-BE59-44EE-B2B3-74AED9C67098}" srcOrd="1" destOrd="0" presId="urn:microsoft.com/office/officeart/2005/8/layout/process4"/>
    <dgm:cxn modelId="{65C74E18-7838-4E28-AD78-C7FAF4CEE29D}" type="presParOf" srcId="{4CE06FCE-7821-4164-8DA8-A10B618CE87A}" destId="{9BBC5C44-D7C7-4955-A0A8-DE82ACB1B526}" srcOrd="2" destOrd="0" presId="urn:microsoft.com/office/officeart/2005/8/layout/process4"/>
    <dgm:cxn modelId="{E6FFB51F-A720-4925-9675-A0A353801CE9}" type="presParOf" srcId="{9BBC5C44-D7C7-4955-A0A8-DE82ACB1B526}" destId="{B315F573-B447-4219-BC38-E47362960240}" srcOrd="0" destOrd="0" presId="urn:microsoft.com/office/officeart/2005/8/layout/process4"/>
    <dgm:cxn modelId="{A039AD66-62DB-4182-9BDE-669721FF9BAE}" type="presParOf" srcId="{9BBC5C44-D7C7-4955-A0A8-DE82ACB1B526}" destId="{23848305-022D-43F3-BA29-66948E4F4BFE}" srcOrd="1" destOrd="0" presId="urn:microsoft.com/office/officeart/2005/8/layout/process4"/>
    <dgm:cxn modelId="{9B5E1C73-81E7-4CEC-AE0D-F75B76FFB235}" type="presParOf" srcId="{9BBC5C44-D7C7-4955-A0A8-DE82ACB1B526}" destId="{0F93D69E-0F22-4373-A56E-2E85329097DD}" srcOrd="2" destOrd="0" presId="urn:microsoft.com/office/officeart/2005/8/layout/process4"/>
    <dgm:cxn modelId="{6576F86D-437C-49B2-BAFA-D9C6C4DDF8A2}" type="presParOf" srcId="{0F93D69E-0F22-4373-A56E-2E85329097DD}" destId="{F2BC390E-FB79-4314-BBEB-5ECDA0E92C1C}" srcOrd="0" destOrd="0" presId="urn:microsoft.com/office/officeart/2005/8/layout/process4"/>
    <dgm:cxn modelId="{E5CD7F29-DA0A-485D-A208-DA702BEAA3B4}" type="presParOf" srcId="{0F93D69E-0F22-4373-A56E-2E85329097DD}" destId="{B8AFE882-448F-4C7A-B98B-05AFE4F04ED4}" srcOrd="1" destOrd="0" presId="urn:microsoft.com/office/officeart/2005/8/layout/process4"/>
    <dgm:cxn modelId="{E3B6253D-110B-4B4C-A1FA-C67EA7C5CF68}" type="presParOf" srcId="{0F93D69E-0F22-4373-A56E-2E85329097DD}" destId="{23E683A2-4F14-4264-82D6-65A4F42F3CC8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6C205-5613-4182-84CF-DE91CC6218D9}">
      <dsp:nvSpPr>
        <dsp:cNvPr id="0" name=""/>
        <dsp:cNvSpPr/>
      </dsp:nvSpPr>
      <dsp:spPr>
        <a:xfrm>
          <a:off x="0" y="2428310"/>
          <a:ext cx="4936474" cy="15932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Instead </a:t>
          </a:r>
          <a:r>
            <a:rPr lang="en-US" sz="2900" i="1" kern="1200"/>
            <a:t>define a function that crosses zero at the event</a:t>
          </a:r>
          <a:endParaRPr lang="en-US" sz="2900" kern="1200"/>
        </a:p>
      </dsp:txBody>
      <dsp:txXfrm>
        <a:off x="0" y="2428310"/>
        <a:ext cx="4936474" cy="1593234"/>
      </dsp:txXfrm>
    </dsp:sp>
    <dsp:sp modelId="{23848305-022D-43F3-BA29-66948E4F4BFE}">
      <dsp:nvSpPr>
        <dsp:cNvPr id="0" name=""/>
        <dsp:cNvSpPr/>
      </dsp:nvSpPr>
      <dsp:spPr>
        <a:xfrm rot="10800000">
          <a:off x="0" y="1814"/>
          <a:ext cx="4936474" cy="245039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Because Manual Detection:</a:t>
          </a:r>
        </a:p>
      </dsp:txBody>
      <dsp:txXfrm rot="-10800000">
        <a:off x="0" y="1814"/>
        <a:ext cx="4936474" cy="860088"/>
      </dsp:txXfrm>
    </dsp:sp>
    <dsp:sp modelId="{F2BC390E-FB79-4314-BBEB-5ECDA0E92C1C}">
      <dsp:nvSpPr>
        <dsp:cNvPr id="0" name=""/>
        <dsp:cNvSpPr/>
      </dsp:nvSpPr>
      <dsp:spPr>
        <a:xfrm>
          <a:off x="2410" y="861902"/>
          <a:ext cx="1643884" cy="7326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Wastes computation (integrating past event)</a:t>
          </a:r>
        </a:p>
      </dsp:txBody>
      <dsp:txXfrm>
        <a:off x="2410" y="861902"/>
        <a:ext cx="1643884" cy="732667"/>
      </dsp:txXfrm>
    </dsp:sp>
    <dsp:sp modelId="{B8AFE882-448F-4C7A-B98B-05AFE4F04ED4}">
      <dsp:nvSpPr>
        <dsp:cNvPr id="0" name=""/>
        <dsp:cNvSpPr/>
      </dsp:nvSpPr>
      <dsp:spPr>
        <a:xfrm>
          <a:off x="1646294" y="861902"/>
          <a:ext cx="1643884" cy="7326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Imprecise event timing</a:t>
          </a:r>
        </a:p>
      </dsp:txBody>
      <dsp:txXfrm>
        <a:off x="1646294" y="861902"/>
        <a:ext cx="1643884" cy="732667"/>
      </dsp:txXfrm>
    </dsp:sp>
    <dsp:sp modelId="{23E683A2-4F14-4264-82D6-65A4F42F3CC8}">
      <dsp:nvSpPr>
        <dsp:cNvPr id="0" name=""/>
        <dsp:cNvSpPr/>
      </dsp:nvSpPr>
      <dsp:spPr>
        <a:xfrm>
          <a:off x="3290179" y="861902"/>
          <a:ext cx="1643884" cy="7326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Hard to trigger actions at exact event moment</a:t>
          </a:r>
        </a:p>
      </dsp:txBody>
      <dsp:txXfrm>
        <a:off x="3290179" y="861902"/>
        <a:ext cx="1643884" cy="732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2/17/2026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2/17/2026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8882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1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51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72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4" y="1845735"/>
            <a:ext cx="4936474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8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5"/>
            <a:ext cx="4936474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4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7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9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5" y="5074920"/>
            <a:ext cx="10111011" cy="822960"/>
          </a:xfrm>
        </p:spPr>
        <p:txBody>
          <a:bodyPr tIns="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4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2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0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2302"/>
            <a:ext cx="262821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2302"/>
            <a:ext cx="7732286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0DFD029-FB74-4578-B929-F66AA97659CA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82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events in </a:t>
            </a:r>
            <a:r>
              <a:rPr lang="en-US" dirty="0" err="1"/>
              <a:t>solve_ivp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Automatically detecting physical events during ODE integration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F766-4B0F-1DE5-524C-08A655D9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4" y="287422"/>
            <a:ext cx="10055781" cy="1450379"/>
          </a:xfrm>
        </p:spPr>
        <p:txBody>
          <a:bodyPr vert="horz" lIns="91416" tIns="45708" rIns="91416" bIns="45708" rtlCol="0" anchor="b"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0C8EB-57FA-5808-A66F-4E4178AC2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6993" y="1846146"/>
            <a:ext cx="6453306" cy="4022312"/>
          </a:xfrm>
        </p:spPr>
        <p:txBody>
          <a:bodyPr vert="horz" lIns="0" tIns="45708" rIns="0" bIns="45708" rtlCol="0">
            <a:normAutofit/>
          </a:bodyPr>
          <a:lstStyle/>
          <a:p>
            <a:r>
              <a:rPr lang="en-US" dirty="0"/>
              <a:t>Main Topic</a:t>
            </a:r>
          </a:p>
          <a:p>
            <a:r>
              <a:rPr lang="en-US" dirty="0"/>
              <a:t>Solving Systems of Differential Equations</a:t>
            </a:r>
          </a:p>
          <a:p>
            <a:pPr lvl="1"/>
            <a:r>
              <a:rPr lang="en-US" dirty="0"/>
              <a:t>To express 2</a:t>
            </a:r>
            <a:r>
              <a:rPr lang="en-US" baseline="30000" dirty="0"/>
              <a:t>nd</a:t>
            </a:r>
            <a:r>
              <a:rPr lang="en-US" dirty="0"/>
              <a:t> order differential equations as a system of 1</a:t>
            </a:r>
            <a:r>
              <a:rPr lang="en-US" baseline="30000" dirty="0"/>
              <a:t>st</a:t>
            </a:r>
            <a:r>
              <a:rPr lang="en-US" dirty="0"/>
              <a:t> order equations</a:t>
            </a:r>
          </a:p>
          <a:p>
            <a:pPr lvl="1"/>
            <a:r>
              <a:rPr lang="en-US" dirty="0"/>
              <a:t>Numerical solve this system using python</a:t>
            </a:r>
          </a:p>
          <a:p>
            <a:pPr lvl="1"/>
            <a:r>
              <a:rPr lang="en-US" dirty="0"/>
              <a:t>Visualize the results</a:t>
            </a:r>
          </a:p>
          <a:p>
            <a:r>
              <a:rPr lang="en-US" dirty="0"/>
              <a:t>Side quests</a:t>
            </a:r>
          </a:p>
          <a:p>
            <a:pPr lvl="1"/>
            <a:r>
              <a:rPr lang="en-US" strike="sngStrike" dirty="0"/>
              <a:t>Classes</a:t>
            </a:r>
          </a:p>
          <a:p>
            <a:pPr lvl="1"/>
            <a:r>
              <a:rPr lang="en-US" strike="sngStrike" dirty="0"/>
              <a:t>Animation</a:t>
            </a:r>
          </a:p>
          <a:p>
            <a:pPr lvl="1"/>
            <a:r>
              <a:rPr lang="en-US" b="1" dirty="0"/>
              <a:t>Events in </a:t>
            </a:r>
            <a:r>
              <a:rPr lang="en-US" b="1" i="1" dirty="0" err="1"/>
              <a:t>solve_ivp</a:t>
            </a:r>
            <a:endParaRPr lang="en-US" b="1" i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68D603-5678-B081-823E-61FE791AF9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481" y="2084619"/>
            <a:ext cx="3134293" cy="31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9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automatic detection?</a:t>
            </a:r>
          </a:p>
        </p:txBody>
      </p:sp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E826476A-56A3-F786-5CAA-1C6FEA05989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94" y="1845735"/>
          <a:ext cx="4936474" cy="4023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8DD8-B268-14DA-198B-E1F712AEE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2650065"/>
          </a:xfrm>
          <a:ln w="38100">
            <a:solidFill>
              <a:schemeClr val="tx1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# After solving, manually filter data: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valid_indices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y_data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&gt;= 0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# Remove points after ground hit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x_data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x_data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valid_indices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6853-521E-C73A-0356-979FD6996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473" y="264352"/>
            <a:ext cx="6573260" cy="1450379"/>
          </a:xfrm>
        </p:spPr>
        <p:txBody>
          <a:bodyPr vert="horz" lIns="91416" tIns="45708" rIns="91416" bIns="45708" rtlCol="0" anchor="b">
            <a:normAutofit/>
          </a:bodyPr>
          <a:lstStyle/>
          <a:p>
            <a:r>
              <a:rPr lang="en-US" i="1" dirty="0"/>
              <a:t>Events allow you to track specific condition</a:t>
            </a:r>
          </a:p>
        </p:txBody>
      </p:sp>
      <p:pic>
        <p:nvPicPr>
          <p:cNvPr id="6" name="Content Placeholder 5" descr="A computer screen with a grid and math equations&#10;&#10;Description automatically generated with medium confidence">
            <a:extLst>
              <a:ext uri="{FF2B5EF4-FFF2-40B4-BE49-F238E27FC236}">
                <a16:creationId xmlns:a16="http://schemas.microsoft.com/office/drawing/2014/main" id="{83AF6A0F-A01A-F2DB-5892-2EAC4B8326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4" r="7275"/>
          <a:stretch/>
        </p:blipFill>
        <p:spPr>
          <a:xfrm>
            <a:off x="633834" y="640807"/>
            <a:ext cx="4000273" cy="53130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57B9C-E888-4A61-A4EE-BF8225D00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75212" y="1905000"/>
            <a:ext cx="7010400" cy="4114800"/>
          </a:xfrm>
        </p:spPr>
        <p:txBody>
          <a:bodyPr vert="horz" lIns="0" tIns="45708" rIns="0" bIns="45708" rtlCol="0">
            <a:normAutofit fontScale="92500" lnSpcReduction="10000"/>
          </a:bodyPr>
          <a:lstStyle/>
          <a:p>
            <a:pPr marL="201108" lvl="1" indent="0">
              <a:buNone/>
            </a:pPr>
            <a:r>
              <a:rPr lang="en-US" sz="1899" b="1" dirty="0"/>
              <a:t>Example: Detecting when y = 0 in projectile motion.</a:t>
            </a:r>
          </a:p>
          <a:p>
            <a:r>
              <a:rPr lang="en-US" sz="1899" dirty="0"/>
              <a:t>Define an event function</a:t>
            </a:r>
          </a:p>
          <a:p>
            <a:r>
              <a:rPr lang="en-US" sz="1899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hit_ground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(t, y):</a:t>
            </a:r>
          </a:p>
          <a:p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y</a:t>
            </a:r>
          </a:p>
          <a:p>
            <a:r>
              <a:rPr lang="en-US" sz="1899" dirty="0"/>
              <a:t>Stop at </a:t>
            </a:r>
            <a:r>
              <a:rPr lang="en-US" sz="1899" i="1" dirty="0"/>
              <a:t>y=0</a:t>
            </a:r>
          </a:p>
          <a:p>
            <a:r>
              <a:rPr lang="en-US" sz="1899" dirty="0"/>
              <a:t>  </a:t>
            </a:r>
            <a:r>
              <a:rPr lang="en-US" sz="1899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hit_ground.terminal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 </a:t>
            </a:r>
          </a:p>
          <a:p>
            <a:r>
              <a:rPr lang="en-US" sz="1899" dirty="0"/>
              <a:t>Detect direction</a:t>
            </a:r>
          </a:p>
          <a:p>
            <a:r>
              <a:rPr lang="en-US" sz="1899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hit_ground.direction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-1</a:t>
            </a:r>
          </a:p>
          <a:p>
            <a:r>
              <a:rPr lang="en-US" sz="1899" dirty="0"/>
              <a:t>Pass to `</a:t>
            </a:r>
            <a:r>
              <a:rPr lang="en-US" sz="1899" dirty="0" err="1"/>
              <a:t>solve_ivp</a:t>
            </a:r>
            <a:r>
              <a:rPr lang="en-US" sz="1899" dirty="0"/>
              <a:t>`</a:t>
            </a:r>
          </a:p>
          <a:p>
            <a:r>
              <a:rPr lang="en-US" sz="1899" dirty="0"/>
              <a:t>    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solve_ivp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(fun, (t0, 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y0, events=</a:t>
            </a:r>
            <a:r>
              <a:rPr lang="en-US" sz="1899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hit_ground</a:t>
            </a:r>
            <a:r>
              <a:rPr lang="en-US" sz="1899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2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i="1" dirty="0"/>
              <a:t>Events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0BAC97-1B0C-A601-8B97-2FCA191BD8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Collisions</a:t>
            </a:r>
            <a:r>
              <a:rPr lang="en-US" dirty="0"/>
              <a:t>: Ball hitting ground, wall impacts</a:t>
            </a:r>
          </a:p>
          <a:p>
            <a:r>
              <a:rPr lang="en-US" dirty="0">
                <a:solidFill>
                  <a:schemeClr val="accent2"/>
                </a:solidFill>
              </a:rPr>
              <a:t>Boundary conditions</a:t>
            </a:r>
            <a:r>
              <a:rPr lang="en-US" dirty="0"/>
              <a:t>: Particle leaving a region</a:t>
            </a:r>
          </a:p>
          <a:p>
            <a:r>
              <a:rPr lang="en-US" dirty="0">
                <a:solidFill>
                  <a:schemeClr val="accent2"/>
                </a:solidFill>
              </a:rPr>
              <a:t>Phase transitions</a:t>
            </a:r>
            <a:r>
              <a:rPr lang="en-US" dirty="0"/>
              <a:t>: Crossing critical temperature/pressure</a:t>
            </a:r>
          </a:p>
          <a:p>
            <a:r>
              <a:rPr lang="en-US" dirty="0">
                <a:solidFill>
                  <a:schemeClr val="accent2"/>
                </a:solidFill>
              </a:rPr>
              <a:t>Orbital mechanics</a:t>
            </a:r>
            <a:r>
              <a:rPr lang="en-US" dirty="0"/>
              <a:t>: Perihelion/aphelion passages, satellite re-entry</a:t>
            </a:r>
          </a:p>
          <a:p>
            <a:r>
              <a:rPr lang="en-US" dirty="0">
                <a:solidFill>
                  <a:schemeClr val="accent2"/>
                </a:solidFill>
              </a:rPr>
              <a:t>Oscillations</a:t>
            </a:r>
            <a:r>
              <a:rPr lang="en-US" dirty="0"/>
              <a:t>: Detecting peaks, zero-crossings in pendulum</a:t>
            </a:r>
          </a:p>
          <a:p>
            <a:r>
              <a:rPr lang="en-US" dirty="0">
                <a:solidFill>
                  <a:schemeClr val="accent2"/>
                </a:solidFill>
              </a:rPr>
              <a:t>Quantum tunneling</a:t>
            </a:r>
            <a:r>
              <a:rPr lang="en-US" dirty="0"/>
              <a:t>: Wavefunction reaching barrier</a:t>
            </a:r>
          </a:p>
          <a:p>
            <a:r>
              <a:rPr lang="en-US" dirty="0">
                <a:solidFill>
                  <a:schemeClr val="accent2"/>
                </a:solidFill>
              </a:rPr>
              <a:t>Trajectory optimization</a:t>
            </a:r>
            <a:r>
              <a:rPr lang="en-US" dirty="0"/>
              <a:t>: Reaching target position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FB57BF-D229-1943-2567-BE8BBDE54D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12" y="2034177"/>
            <a:ext cx="4258468" cy="355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568BB-E702-885D-473D-54138C69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015" y="634946"/>
            <a:ext cx="5125836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/>
              <a:t>Advantages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706207-4ADD-CA96-66D8-6781807AD7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4" y="1449973"/>
            <a:ext cx="5450207" cy="363801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0014" y="2086188"/>
            <a:ext cx="474757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947A-4D47-50FD-D9D6-DB44BD83F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0014" y="2198914"/>
            <a:ext cx="5125837" cy="3670180"/>
          </a:xfrm>
        </p:spPr>
        <p:txBody>
          <a:bodyPr vert="horz" lIns="0" tIns="45720" rIns="0" bIns="45720" rtlCol="0">
            <a:normAutofit/>
          </a:bodyPr>
          <a:lstStyle/>
          <a:p>
            <a:pPr defTabSz="914400"/>
            <a:r>
              <a:rPr lang="en-US" sz="1700" b="1"/>
              <a:t>Computational efficiency:</a:t>
            </a:r>
            <a:endParaRPr lang="en-US" sz="1700"/>
          </a:p>
          <a:p>
            <a:pPr lvl="1" defTabSz="914400"/>
            <a:r>
              <a:rPr lang="en-US" sz="1700"/>
              <a:t>Integration stops </a:t>
            </a:r>
            <a:r>
              <a:rPr lang="en-US" sz="1700" i="1"/>
              <a:t>exactly</a:t>
            </a:r>
            <a:r>
              <a:rPr lang="en-US" sz="1700"/>
              <a:t> at event (no wasted steps)</a:t>
            </a:r>
          </a:p>
          <a:p>
            <a:pPr lvl="1" defTabSz="914400"/>
            <a:r>
              <a:rPr lang="en-US" sz="1700"/>
              <a:t>Interpolates to find precise event time (not limited to dt grid)</a:t>
            </a:r>
          </a:p>
          <a:p>
            <a:pPr defTabSz="914400"/>
            <a:r>
              <a:rPr lang="en-US" sz="1700" b="1"/>
              <a:t>Physical accuracy:</a:t>
            </a:r>
            <a:endParaRPr lang="en-US" sz="1700"/>
          </a:p>
          <a:p>
            <a:pPr lvl="1" defTabSz="914400"/>
            <a:r>
              <a:rPr lang="en-US" sz="1700"/>
              <a:t>Event time accurate to solver tolerance (~1 in 1 billion)</a:t>
            </a:r>
          </a:p>
          <a:p>
            <a:pPr lvl="1" defTabSz="914400"/>
            <a:r>
              <a:rPr lang="en-US" sz="1700"/>
              <a:t>State at event is consistent with ODE</a:t>
            </a:r>
          </a:p>
          <a:p>
            <a:pPr defTabSz="914400"/>
            <a:r>
              <a:rPr lang="en-US" sz="1700" b="1"/>
              <a:t>Cleaner code:</a:t>
            </a:r>
            <a:endParaRPr lang="en-US" sz="1700"/>
          </a:p>
          <a:p>
            <a:pPr lvl="1" defTabSz="914400"/>
            <a:r>
              <a:rPr lang="en-US" sz="1700"/>
              <a:t>No post-processing data trimming</a:t>
            </a:r>
          </a:p>
          <a:p>
            <a:pPr lvl="1" defTabSz="914400"/>
            <a:r>
              <a:rPr lang="en-US" sz="1700"/>
              <a:t>Natural physics: "stop when ball hits ground"</a:t>
            </a:r>
          </a:p>
          <a:p>
            <a:pPr defTabSz="914400"/>
            <a:endParaRPr lang="en-US" sz="1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" y="6334316"/>
            <a:ext cx="12188811" cy="66484"/>
          </a:xfrm>
          <a:prstGeom prst="rect">
            <a:avLst/>
          </a:prstGeom>
          <a:solidFill>
            <a:srgbClr val="FFB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6F4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334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Retrospect</vt:lpstr>
      <vt:lpstr>events in solve_ivp</vt:lpstr>
      <vt:lpstr>Learning Objectives</vt:lpstr>
      <vt:lpstr>Why automatic detection?</vt:lpstr>
      <vt:lpstr>Events allow you to track specific condition</vt:lpstr>
      <vt:lpstr>Use Events</vt:lpstr>
      <vt:lpstr>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3</cp:revision>
  <dcterms:created xsi:type="dcterms:W3CDTF">2026-02-12T00:52:21Z</dcterms:created>
  <dcterms:modified xsi:type="dcterms:W3CDTF">2026-02-17T16:25:29Z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