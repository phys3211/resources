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7" r:id="rId4"/>
    <p:sldId id="260" r:id="rId5"/>
    <p:sldId id="261" r:id="rId6"/>
    <p:sldId id="263" r:id="rId7"/>
    <p:sldId id="264" r:id="rId8"/>
    <p:sldId id="266" r:id="rId9"/>
    <p:sldId id="268" r:id="rId10"/>
    <p:sldId id="270" r:id="rId11"/>
    <p:sldId id="272" r:id="rId12"/>
    <p:sldId id="282" r:id="rId13"/>
    <p:sldId id="289" r:id="rId14"/>
    <p:sldId id="290" r:id="rId15"/>
    <p:sldId id="285" r:id="rId16"/>
    <p:sldId id="286" r:id="rId17"/>
    <p:sldId id="284" r:id="rId18"/>
    <p:sldId id="288" r:id="rId19"/>
    <p:sldId id="291" r:id="rId20"/>
    <p:sldId id="292" r:id="rId21"/>
    <p:sldId id="293" r:id="rId22"/>
    <p:sldId id="294" r:id="rId23"/>
    <p:sldId id="295" r:id="rId24"/>
    <p:sldId id="274" r:id="rId25"/>
    <p:sldId id="297" r:id="rId26"/>
    <p:sldId id="298" r:id="rId27"/>
    <p:sldId id="299" r:id="rId28"/>
    <p:sldId id="300" r:id="rId29"/>
    <p:sldId id="301" r:id="rId30"/>
    <p:sldId id="303" r:id="rId31"/>
    <p:sldId id="276" r:id="rId32"/>
    <p:sldId id="279" r:id="rId33"/>
    <p:sldId id="280" r:id="rId34"/>
    <p:sldId id="281" r:id="rId35"/>
    <p:sldId id="30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64"/>
    <p:restoredTop sz="94656"/>
  </p:normalViewPr>
  <p:slideViewPr>
    <p:cSldViewPr snapToGrid="0">
      <p:cViewPr>
        <p:scale>
          <a:sx n="127" d="100"/>
          <a:sy n="127" d="100"/>
        </p:scale>
        <p:origin x="584"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D2D43-4B66-F73F-2066-6BAEDFFEEE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A690AB-9F3F-D84E-ADD9-58BAE89A97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8E6404-DEAD-8F48-6CE9-5ED9753DE66D}"/>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5" name="Footer Placeholder 4">
            <a:extLst>
              <a:ext uri="{FF2B5EF4-FFF2-40B4-BE49-F238E27FC236}">
                <a16:creationId xmlns:a16="http://schemas.microsoft.com/office/drawing/2014/main" id="{71C02AAE-6D8E-F024-F6CF-5B5AABC57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6F5BB-631A-5680-071C-949282E16E88}"/>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3396271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960DD-EEA0-DE16-3466-BFBC54EFDE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9452C-29A4-CFE7-1DCD-2EDD39DB5D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6CC55-235C-4B44-CF42-6D249055978C}"/>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5" name="Footer Placeholder 4">
            <a:extLst>
              <a:ext uri="{FF2B5EF4-FFF2-40B4-BE49-F238E27FC236}">
                <a16:creationId xmlns:a16="http://schemas.microsoft.com/office/drawing/2014/main" id="{EA826F37-A916-4B1A-9AA2-F3CA7809D9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B5788-5C7A-EF17-B565-54EB62147909}"/>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1206717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EFC5-68E5-A170-36EE-6B009D0749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343FA4-0B00-4B9C-6A7C-A989F7FF4F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13EB1B-9003-F64F-E0E7-543AD686BAB8}"/>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5" name="Footer Placeholder 4">
            <a:extLst>
              <a:ext uri="{FF2B5EF4-FFF2-40B4-BE49-F238E27FC236}">
                <a16:creationId xmlns:a16="http://schemas.microsoft.com/office/drawing/2014/main" id="{5CAFC43E-E2CA-1F92-CA98-57CBCBAE5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99CF3-17AD-2CDC-ACE2-6D1EC7A37381}"/>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4206302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DA-154F-6E88-7C63-2ED03AA939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AE889E-FBB5-F04F-0F46-90FF0B011B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E88830-9B64-A6FF-D282-13BC0CE748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E624AF-2ACA-5BF6-E807-B92AE7533C61}"/>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6" name="Footer Placeholder 5">
            <a:extLst>
              <a:ext uri="{FF2B5EF4-FFF2-40B4-BE49-F238E27FC236}">
                <a16:creationId xmlns:a16="http://schemas.microsoft.com/office/drawing/2014/main" id="{C81DAA59-8A8C-7857-2E45-66B428ED5E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F3D88-8A6E-E0AD-B05C-A8F1CC125776}"/>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51962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DCAC1-CA18-E90C-51DD-5F26DA8458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245A64-B21C-E538-EF57-46D5A627B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EE0917-0F00-482C-F96B-F76A67298A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11956A-2ED6-40B4-3112-26BD614622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3693C2-E797-A96D-9BDF-BC5BEFECC3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95248F-A8A0-B055-2FD0-BFBD3A375C33}"/>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8" name="Footer Placeholder 7">
            <a:extLst>
              <a:ext uri="{FF2B5EF4-FFF2-40B4-BE49-F238E27FC236}">
                <a16:creationId xmlns:a16="http://schemas.microsoft.com/office/drawing/2014/main" id="{31470178-86D5-CCCD-ADF7-8C0D438325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D3809C-C7B3-0B8D-DE1C-E3D172A6AEC1}"/>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3419902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46E9C-4E87-BED1-803C-404C827AA9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379ADD-0AC1-54D3-9FFA-E87847894B7D}"/>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4" name="Footer Placeholder 3">
            <a:extLst>
              <a:ext uri="{FF2B5EF4-FFF2-40B4-BE49-F238E27FC236}">
                <a16:creationId xmlns:a16="http://schemas.microsoft.com/office/drawing/2014/main" id="{43D7995C-5A1F-BBCF-E478-4C49BE7053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ACD000-F148-4AAA-81A3-C046B574ACE4}"/>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596003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6E2ED-EEF9-3AD6-7095-AF52ED076CD0}"/>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3" name="Footer Placeholder 2">
            <a:extLst>
              <a:ext uri="{FF2B5EF4-FFF2-40B4-BE49-F238E27FC236}">
                <a16:creationId xmlns:a16="http://schemas.microsoft.com/office/drawing/2014/main" id="{E90E8967-BC0F-3FD3-7B50-67EECD038D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055831-09E3-343C-8EA6-151DAF19687A}"/>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2186581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97056-7166-96EF-1E7B-2D2EECEA85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E38334-F5A4-F04B-22A1-F5EB2FA896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330A-3E17-928C-12FC-873DE145C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D4EFE-A249-5CB2-CC98-4943926AC399}"/>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6" name="Footer Placeholder 5">
            <a:extLst>
              <a:ext uri="{FF2B5EF4-FFF2-40B4-BE49-F238E27FC236}">
                <a16:creationId xmlns:a16="http://schemas.microsoft.com/office/drawing/2014/main" id="{D4BAC772-E7F4-3369-CE19-8F7015D8F9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467F24-AD9A-8002-6614-EDF4C5438AB5}"/>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938016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BFDA6-E616-4572-85EB-C190BF361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741FA9-252E-1E17-ECC3-081BFB8434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43BFD7-EB85-A54A-B6EA-E52266B70D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0F9FB2-8697-61C6-71C7-4FA633F6E5AF}"/>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6" name="Footer Placeholder 5">
            <a:extLst>
              <a:ext uri="{FF2B5EF4-FFF2-40B4-BE49-F238E27FC236}">
                <a16:creationId xmlns:a16="http://schemas.microsoft.com/office/drawing/2014/main" id="{B0FEB771-D4AA-00C3-131E-AC04741FE1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A1A4B8-02D7-87AC-554E-729B0CD108AF}"/>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472419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5030F-0C30-22E8-01C9-91BE9A6DB0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B21B02-95F6-9D67-9949-657DC39CEE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F52373-043D-E80F-0706-626840A36504}"/>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5" name="Footer Placeholder 4">
            <a:extLst>
              <a:ext uri="{FF2B5EF4-FFF2-40B4-BE49-F238E27FC236}">
                <a16:creationId xmlns:a16="http://schemas.microsoft.com/office/drawing/2014/main" id="{0E9E63B7-A2D1-BAEF-F0A4-3D479F4C6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C8925-70AD-EB95-42C0-AB0D05AD43FA}"/>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1253438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F0012A-A3E1-7BF0-15BC-BB3BC7F1C3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D84EFC-769A-456A-ECF3-9B5D9C7251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C7A107-79FF-C341-3A6A-7852CE3428DF}"/>
              </a:ext>
            </a:extLst>
          </p:cNvPr>
          <p:cNvSpPr>
            <a:spLocks noGrp="1"/>
          </p:cNvSpPr>
          <p:nvPr>
            <p:ph type="dt" sz="half" idx="10"/>
          </p:nvPr>
        </p:nvSpPr>
        <p:spPr/>
        <p:txBody>
          <a:bodyPr/>
          <a:lstStyle/>
          <a:p>
            <a:fld id="{F3857A1D-8C0A-6B46-9BD4-45B4152179CF}" type="datetimeFigureOut">
              <a:rPr lang="en-US" smtClean="0"/>
              <a:t>1/29/26</a:t>
            </a:fld>
            <a:endParaRPr lang="en-US"/>
          </a:p>
        </p:txBody>
      </p:sp>
      <p:sp>
        <p:nvSpPr>
          <p:cNvPr id="5" name="Footer Placeholder 4">
            <a:extLst>
              <a:ext uri="{FF2B5EF4-FFF2-40B4-BE49-F238E27FC236}">
                <a16:creationId xmlns:a16="http://schemas.microsoft.com/office/drawing/2014/main" id="{348EE48D-9F74-947C-73FF-A42C87A11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40784-3D53-6588-6A03-B8B8E4464F9D}"/>
              </a:ext>
            </a:extLst>
          </p:cNvPr>
          <p:cNvSpPr>
            <a:spLocks noGrp="1"/>
          </p:cNvSpPr>
          <p:nvPr>
            <p:ph type="sldNum" sz="quarter" idx="12"/>
          </p:nvPr>
        </p:nvSpPr>
        <p:spPr/>
        <p:txBody>
          <a:bodyPr/>
          <a:lstStyle/>
          <a:p>
            <a:fld id="{36843F44-24CF-B943-9F28-3974E67535FD}" type="slidenum">
              <a:rPr lang="en-US" smtClean="0"/>
              <a:t>‹#›</a:t>
            </a:fld>
            <a:endParaRPr lang="en-US"/>
          </a:p>
        </p:txBody>
      </p:sp>
    </p:spTree>
    <p:extLst>
      <p:ext uri="{BB962C8B-B14F-4D97-AF65-F5344CB8AC3E}">
        <p14:creationId xmlns:p14="http://schemas.microsoft.com/office/powerpoint/2010/main" val="2228202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C7232B-4E2C-2FB1-061A-AFF4C17EF4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FD8C18-2156-7874-3001-49D3F7D3B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B4A63-6F6B-FDC6-22C7-7F19E7A340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857A1D-8C0A-6B46-9BD4-45B4152179CF}" type="datetimeFigureOut">
              <a:rPr lang="en-US" smtClean="0"/>
              <a:t>1/29/26</a:t>
            </a:fld>
            <a:endParaRPr lang="en-US"/>
          </a:p>
        </p:txBody>
      </p:sp>
      <p:sp>
        <p:nvSpPr>
          <p:cNvPr id="5" name="Footer Placeholder 4">
            <a:extLst>
              <a:ext uri="{FF2B5EF4-FFF2-40B4-BE49-F238E27FC236}">
                <a16:creationId xmlns:a16="http://schemas.microsoft.com/office/drawing/2014/main" id="{3DE14307-FD1B-B84F-3B39-469C4D0D97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7AEAC7-65C0-2597-80F0-48446D98A9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843F44-24CF-B943-9F28-3974E67535FD}" type="slidenum">
              <a:rPr lang="en-US" smtClean="0"/>
              <a:t>‹#›</a:t>
            </a:fld>
            <a:endParaRPr lang="en-US"/>
          </a:p>
        </p:txBody>
      </p:sp>
    </p:spTree>
    <p:extLst>
      <p:ext uri="{BB962C8B-B14F-4D97-AF65-F5344CB8AC3E}">
        <p14:creationId xmlns:p14="http://schemas.microsoft.com/office/powerpoint/2010/main" val="2199740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8.png"/><Relationship Id="rId3" Type="http://schemas.openxmlformats.org/officeDocument/2006/relationships/image" Target="../media/image14.png"/><Relationship Id="rId21" Type="http://schemas.openxmlformats.org/officeDocument/2006/relationships/image" Target="../media/image33.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7.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6.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5.png"/><Relationship Id="rId10" Type="http://schemas.openxmlformats.org/officeDocument/2006/relationships/image" Target="../media/image21.png"/><Relationship Id="rId19" Type="http://schemas.openxmlformats.org/officeDocument/2006/relationships/image" Target="../media/image3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4.png"/><Relationship Id="rId27"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1.png"/><Relationship Id="rId7" Type="http://schemas.openxmlformats.org/officeDocument/2006/relationships/image" Target="../media/image17.png"/><Relationship Id="rId12" Type="http://schemas.openxmlformats.org/officeDocument/2006/relationships/image" Target="../media/image33.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2.png"/><Relationship Id="rId7" Type="http://schemas.openxmlformats.org/officeDocument/2006/relationships/image" Target="../media/image17.png"/><Relationship Id="rId12" Type="http://schemas.openxmlformats.org/officeDocument/2006/relationships/image" Target="../media/image33.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43.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46.png"/><Relationship Id="rId5" Type="http://schemas.openxmlformats.org/officeDocument/2006/relationships/image" Target="../media/image16.png"/><Relationship Id="rId10" Type="http://schemas.openxmlformats.org/officeDocument/2006/relationships/image" Target="../media/image45.png"/><Relationship Id="rId4" Type="http://schemas.openxmlformats.org/officeDocument/2006/relationships/image" Target="../media/image15.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48.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46.png"/><Relationship Id="rId5" Type="http://schemas.openxmlformats.org/officeDocument/2006/relationships/image" Target="../media/image16.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51.png"/><Relationship Id="rId18" Type="http://schemas.openxmlformats.org/officeDocument/2006/relationships/image" Target="../media/image31.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47.png"/><Relationship Id="rId17" Type="http://schemas.openxmlformats.org/officeDocument/2006/relationships/image" Target="../media/image54.png"/><Relationship Id="rId2" Type="http://schemas.openxmlformats.org/officeDocument/2006/relationships/image" Target="../media/image44.png"/><Relationship Id="rId16" Type="http://schemas.openxmlformats.org/officeDocument/2006/relationships/image" Target="../media/image53.png"/><Relationship Id="rId20"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46.png"/><Relationship Id="rId5" Type="http://schemas.openxmlformats.org/officeDocument/2006/relationships/image" Target="../media/image16.png"/><Relationship Id="rId15" Type="http://schemas.openxmlformats.org/officeDocument/2006/relationships/image" Target="../media/image41.png"/><Relationship Id="rId10" Type="http://schemas.openxmlformats.org/officeDocument/2006/relationships/image" Target="../media/image45.png"/><Relationship Id="rId19" Type="http://schemas.openxmlformats.org/officeDocument/2006/relationships/image" Target="../media/image55.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52.png"/></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51.png"/><Relationship Id="rId18" Type="http://schemas.openxmlformats.org/officeDocument/2006/relationships/image" Target="../media/image31.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47.png"/><Relationship Id="rId17" Type="http://schemas.openxmlformats.org/officeDocument/2006/relationships/image" Target="../media/image54.png"/><Relationship Id="rId2" Type="http://schemas.openxmlformats.org/officeDocument/2006/relationships/image" Target="../media/image44.png"/><Relationship Id="rId16" Type="http://schemas.openxmlformats.org/officeDocument/2006/relationships/image" Target="../media/image53.png"/><Relationship Id="rId20"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46.png"/><Relationship Id="rId5" Type="http://schemas.openxmlformats.org/officeDocument/2006/relationships/image" Target="../media/image16.png"/><Relationship Id="rId15" Type="http://schemas.openxmlformats.org/officeDocument/2006/relationships/image" Target="../media/image58.png"/><Relationship Id="rId10" Type="http://schemas.openxmlformats.org/officeDocument/2006/relationships/image" Target="../media/image45.png"/><Relationship Id="rId19" Type="http://schemas.openxmlformats.org/officeDocument/2006/relationships/image" Target="../media/image55.png"/><Relationship Id="rId4" Type="http://schemas.openxmlformats.org/officeDocument/2006/relationships/image" Target="../media/image57.png"/><Relationship Id="rId9" Type="http://schemas.openxmlformats.org/officeDocument/2006/relationships/image" Target="../media/image20.png"/><Relationship Id="rId14" Type="http://schemas.openxmlformats.org/officeDocument/2006/relationships/image" Target="../media/image52.png"/></Relationships>
</file>

<file path=ppt/slides/_rels/slide21.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2.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1.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4.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3.png"/></Relationships>
</file>

<file path=ppt/slides/_rels/slide22.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26.png"/><Relationship Id="rId26" Type="http://schemas.openxmlformats.org/officeDocument/2006/relationships/image" Target="../media/image97.png"/><Relationship Id="rId3" Type="http://schemas.openxmlformats.org/officeDocument/2006/relationships/image" Target="../media/image76.png"/><Relationship Id="rId21" Type="http://schemas.openxmlformats.org/officeDocument/2006/relationships/image" Target="../media/image92.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image" Target="../media/image75.png"/><Relationship Id="rId16" Type="http://schemas.openxmlformats.org/officeDocument/2006/relationships/image" Target="../media/image54.png"/><Relationship Id="rId20"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5.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3.png"/><Relationship Id="rId19" Type="http://schemas.openxmlformats.org/officeDocument/2006/relationships/image" Target="../media/image90.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3.png"/><Relationship Id="rId27" Type="http://schemas.openxmlformats.org/officeDocument/2006/relationships/image" Target="../media/image98.png"/></Relationships>
</file>

<file path=ppt/slides/_rels/slide2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2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2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9.png"/><Relationship Id="rId4" Type="http://schemas.openxmlformats.org/officeDocument/2006/relationships/image" Target="../media/image106.png"/></Relationships>
</file>

<file path=ppt/slides/_rels/slide29.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11.png"/><Relationship Id="rId7" Type="http://schemas.openxmlformats.org/officeDocument/2006/relationships/image" Target="../media/image112.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9.png"/><Relationship Id="rId4" Type="http://schemas.openxmlformats.org/officeDocument/2006/relationships/image" Target="../media/image106.png"/></Relationships>
</file>

<file path=ppt/slides/_rels/slide30.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26.png"/><Relationship Id="rId26" Type="http://schemas.openxmlformats.org/officeDocument/2006/relationships/image" Target="../media/image97.png"/><Relationship Id="rId3" Type="http://schemas.openxmlformats.org/officeDocument/2006/relationships/image" Target="../media/image76.png"/><Relationship Id="rId21" Type="http://schemas.openxmlformats.org/officeDocument/2006/relationships/image" Target="../media/image92.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image" Target="../media/image75.png"/><Relationship Id="rId16" Type="http://schemas.openxmlformats.org/officeDocument/2006/relationships/image" Target="../media/image54.png"/><Relationship Id="rId20" Type="http://schemas.openxmlformats.org/officeDocument/2006/relationships/image" Target="../media/image91.png"/><Relationship Id="rId29"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5.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3.png"/><Relationship Id="rId19" Type="http://schemas.openxmlformats.org/officeDocument/2006/relationships/image" Target="../media/image90.png"/><Relationship Id="rId31" Type="http://schemas.openxmlformats.org/officeDocument/2006/relationships/image" Target="../media/image116.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15.png"/></Relationships>
</file>

<file path=ppt/slides/_rels/slide3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FFD-6DD0-4895-BEBB-6E6A9D6CFFA6}"/>
              </a:ext>
            </a:extLst>
          </p:cNvPr>
          <p:cNvSpPr>
            <a:spLocks noGrp="1"/>
          </p:cNvSpPr>
          <p:nvPr>
            <p:ph type="ctrTitle"/>
          </p:nvPr>
        </p:nvSpPr>
        <p:spPr/>
        <p:txBody>
          <a:bodyPr/>
          <a:lstStyle/>
          <a:p>
            <a:r>
              <a:rPr lang="en-US" dirty="0"/>
              <a:t>Feedforward Neural Networks</a:t>
            </a:r>
          </a:p>
        </p:txBody>
      </p:sp>
      <p:sp>
        <p:nvSpPr>
          <p:cNvPr id="3" name="Subtitle 2">
            <a:extLst>
              <a:ext uri="{FF2B5EF4-FFF2-40B4-BE49-F238E27FC236}">
                <a16:creationId xmlns:a16="http://schemas.microsoft.com/office/drawing/2014/main" id="{1DBA563D-BEF1-CE69-496A-211D323E1447}"/>
              </a:ext>
            </a:extLst>
          </p:cNvPr>
          <p:cNvSpPr>
            <a:spLocks noGrp="1"/>
          </p:cNvSpPr>
          <p:nvPr>
            <p:ph type="subTitle" idx="1"/>
          </p:nvPr>
        </p:nvSpPr>
        <p:spPr/>
        <p:txBody>
          <a:bodyPr/>
          <a:lstStyle/>
          <a:p>
            <a:r>
              <a:rPr lang="en-US" dirty="0"/>
              <a:t>Linden Burack</a:t>
            </a:r>
          </a:p>
        </p:txBody>
      </p:sp>
    </p:spTree>
    <p:extLst>
      <p:ext uri="{BB962C8B-B14F-4D97-AF65-F5344CB8AC3E}">
        <p14:creationId xmlns:p14="http://schemas.microsoft.com/office/powerpoint/2010/main" val="994864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FF66B3-4AB8-F105-E047-1A7EAE3359E9}"/>
              </a:ext>
            </a:extLst>
          </p:cNvPr>
          <p:cNvSpPr>
            <a:spLocks noGrp="1"/>
          </p:cNvSpPr>
          <p:nvPr>
            <p:ph idx="1"/>
          </p:nvPr>
        </p:nvSpPr>
        <p:spPr>
          <a:xfrm>
            <a:off x="838200" y="449212"/>
            <a:ext cx="10515600" cy="4351338"/>
          </a:xfrm>
        </p:spPr>
        <p:txBody>
          <a:bodyPr>
            <a:normAutofit lnSpcReduction="10000"/>
          </a:bodyPr>
          <a:lstStyle/>
          <a:p>
            <a:endParaRPr lang="en-US" dirty="0"/>
          </a:p>
          <a:p>
            <a:r>
              <a:rPr lang="en-US" dirty="0"/>
              <a:t>A model with parameters. You input something, the model does a bunch of math, and outputs something. If you change the parameters of the model, that machinery will change and you’ll get something out. There are some set of parameters that will predict your problem well</a:t>
            </a:r>
          </a:p>
          <a:p>
            <a:r>
              <a:rPr lang="en-US" dirty="0"/>
              <a:t>The point of machine learning is that you can ‘learn’ what the best parameters are</a:t>
            </a:r>
          </a:p>
          <a:p>
            <a:r>
              <a:rPr lang="en-US" dirty="0"/>
              <a:t>I’m going to show you a particular, perhaps the most simple, and certainty earliest example of a way to ‘learn’ these best parameters. </a:t>
            </a:r>
          </a:p>
          <a:p>
            <a:endParaRPr lang="en-US" dirty="0"/>
          </a:p>
        </p:txBody>
      </p:sp>
    </p:spTree>
    <p:extLst>
      <p:ext uri="{BB962C8B-B14F-4D97-AF65-F5344CB8AC3E}">
        <p14:creationId xmlns:p14="http://schemas.microsoft.com/office/powerpoint/2010/main" val="2514531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E12C0-EE8E-6800-7273-C37C2C7DC08F}"/>
              </a:ext>
            </a:extLst>
          </p:cNvPr>
          <p:cNvSpPr>
            <a:spLocks noGrp="1"/>
          </p:cNvSpPr>
          <p:nvPr>
            <p:ph type="title"/>
          </p:nvPr>
        </p:nvSpPr>
        <p:spPr/>
        <p:txBody>
          <a:bodyPr/>
          <a:lstStyle/>
          <a:p>
            <a:r>
              <a:rPr lang="en-US" dirty="0"/>
              <a:t>A common problem in physics</a:t>
            </a:r>
          </a:p>
        </p:txBody>
      </p:sp>
      <p:sp>
        <p:nvSpPr>
          <p:cNvPr id="4" name="TextBox 3">
            <a:extLst>
              <a:ext uri="{FF2B5EF4-FFF2-40B4-BE49-F238E27FC236}">
                <a16:creationId xmlns:a16="http://schemas.microsoft.com/office/drawing/2014/main" id="{41C61A53-645A-F503-692D-8731A69F0E5D}"/>
              </a:ext>
            </a:extLst>
          </p:cNvPr>
          <p:cNvSpPr txBox="1"/>
          <p:nvPr/>
        </p:nvSpPr>
        <p:spPr>
          <a:xfrm>
            <a:off x="2584704" y="1607344"/>
            <a:ext cx="1511439" cy="369332"/>
          </a:xfrm>
          <a:prstGeom prst="rect">
            <a:avLst/>
          </a:prstGeom>
          <a:noFill/>
        </p:spPr>
        <p:txBody>
          <a:bodyPr wrap="none" rtlCol="0">
            <a:spAutoFit/>
          </a:bodyPr>
          <a:lstStyle/>
          <a:p>
            <a:r>
              <a:rPr lang="en-US" b="1" dirty="0"/>
              <a:t>What we see</a:t>
            </a:r>
          </a:p>
        </p:txBody>
      </p:sp>
      <p:sp>
        <p:nvSpPr>
          <p:cNvPr id="5" name="TextBox 4">
            <a:extLst>
              <a:ext uri="{FF2B5EF4-FFF2-40B4-BE49-F238E27FC236}">
                <a16:creationId xmlns:a16="http://schemas.microsoft.com/office/drawing/2014/main" id="{344500FD-2AA6-5D0C-CD75-9915AAB628B6}"/>
              </a:ext>
            </a:extLst>
          </p:cNvPr>
          <p:cNvSpPr txBox="1"/>
          <p:nvPr/>
        </p:nvSpPr>
        <p:spPr>
          <a:xfrm>
            <a:off x="6706145" y="1607344"/>
            <a:ext cx="2521844" cy="369332"/>
          </a:xfrm>
          <a:prstGeom prst="rect">
            <a:avLst/>
          </a:prstGeom>
          <a:noFill/>
        </p:spPr>
        <p:txBody>
          <a:bodyPr wrap="none" rtlCol="0">
            <a:spAutoFit/>
          </a:bodyPr>
          <a:lstStyle/>
          <a:p>
            <a:r>
              <a:rPr lang="en-US" b="1" dirty="0"/>
              <a:t>What we want to know</a:t>
            </a:r>
          </a:p>
        </p:txBody>
      </p:sp>
      <p:sp>
        <p:nvSpPr>
          <p:cNvPr id="6" name="Freeform 5">
            <a:extLst>
              <a:ext uri="{FF2B5EF4-FFF2-40B4-BE49-F238E27FC236}">
                <a16:creationId xmlns:a16="http://schemas.microsoft.com/office/drawing/2014/main" id="{C265C6A2-8DC6-038B-556F-14F9296064E5}"/>
              </a:ext>
            </a:extLst>
          </p:cNvPr>
          <p:cNvSpPr/>
          <p:nvPr/>
        </p:nvSpPr>
        <p:spPr>
          <a:xfrm>
            <a:off x="2100346" y="2330801"/>
            <a:ext cx="2480154" cy="451010"/>
          </a:xfrm>
          <a:custGeom>
            <a:avLst/>
            <a:gdLst>
              <a:gd name="csX0" fmla="*/ 0 w 2480154"/>
              <a:gd name="csY0" fmla="*/ 313151 h 451010"/>
              <a:gd name="csX1" fmla="*/ 325677 w 2480154"/>
              <a:gd name="csY1" fmla="*/ 37578 h 451010"/>
              <a:gd name="csX2" fmla="*/ 1139869 w 2480154"/>
              <a:gd name="csY2" fmla="*/ 450937 h 451010"/>
              <a:gd name="csX3" fmla="*/ 2480154 w 2480154"/>
              <a:gd name="csY3" fmla="*/ 0 h 451010"/>
            </a:gdLst>
            <a:ahLst/>
            <a:cxnLst>
              <a:cxn ang="0">
                <a:pos x="csX0" y="csY0"/>
              </a:cxn>
              <a:cxn ang="0">
                <a:pos x="csX1" y="csY1"/>
              </a:cxn>
              <a:cxn ang="0">
                <a:pos x="csX2" y="csY2"/>
              </a:cxn>
              <a:cxn ang="0">
                <a:pos x="csX3" y="csY3"/>
              </a:cxn>
            </a:cxnLst>
            <a:rect l="l" t="t" r="r" b="b"/>
            <a:pathLst>
              <a:path w="2480154" h="451010">
                <a:moveTo>
                  <a:pt x="0" y="313151"/>
                </a:moveTo>
                <a:cubicBezTo>
                  <a:pt x="67849" y="163882"/>
                  <a:pt x="135699" y="14614"/>
                  <a:pt x="325677" y="37578"/>
                </a:cubicBezTo>
                <a:cubicBezTo>
                  <a:pt x="515655" y="60542"/>
                  <a:pt x="780790" y="457200"/>
                  <a:pt x="1139869" y="450937"/>
                </a:cubicBezTo>
                <a:cubicBezTo>
                  <a:pt x="1498948" y="444674"/>
                  <a:pt x="2154477" y="156575"/>
                  <a:pt x="2480154"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F296F970-8016-2E6A-3023-C8D868512236}"/>
              </a:ext>
            </a:extLst>
          </p:cNvPr>
          <p:cNvSpPr/>
          <p:nvPr/>
        </p:nvSpPr>
        <p:spPr>
          <a:xfrm>
            <a:off x="2170176" y="3461561"/>
            <a:ext cx="2401824" cy="221031"/>
          </a:xfrm>
          <a:custGeom>
            <a:avLst/>
            <a:gdLst>
              <a:gd name="csX0" fmla="*/ 0 w 2401824"/>
              <a:gd name="csY0" fmla="*/ 13159 h 221031"/>
              <a:gd name="csX1" fmla="*/ 597408 w 2401824"/>
              <a:gd name="csY1" fmla="*/ 220423 h 221031"/>
              <a:gd name="csX2" fmla="*/ 1426464 w 2401824"/>
              <a:gd name="csY2" fmla="*/ 74119 h 221031"/>
              <a:gd name="csX3" fmla="*/ 2401824 w 2401824"/>
              <a:gd name="csY3" fmla="*/ 967 h 221031"/>
            </a:gdLst>
            <a:ahLst/>
            <a:cxnLst>
              <a:cxn ang="0">
                <a:pos x="csX0" y="csY0"/>
              </a:cxn>
              <a:cxn ang="0">
                <a:pos x="csX1" y="csY1"/>
              </a:cxn>
              <a:cxn ang="0">
                <a:pos x="csX2" y="csY2"/>
              </a:cxn>
              <a:cxn ang="0">
                <a:pos x="csX3" y="csY3"/>
              </a:cxn>
            </a:cxnLst>
            <a:rect l="l" t="t" r="r" b="b"/>
            <a:pathLst>
              <a:path w="2401824" h="221031">
                <a:moveTo>
                  <a:pt x="0" y="13159"/>
                </a:moveTo>
                <a:cubicBezTo>
                  <a:pt x="179832" y="111711"/>
                  <a:pt x="359664" y="210263"/>
                  <a:pt x="597408" y="220423"/>
                </a:cubicBezTo>
                <a:cubicBezTo>
                  <a:pt x="835152" y="230583"/>
                  <a:pt x="1125728" y="110695"/>
                  <a:pt x="1426464" y="74119"/>
                </a:cubicBezTo>
                <a:cubicBezTo>
                  <a:pt x="1727200" y="37543"/>
                  <a:pt x="2070608" y="-7161"/>
                  <a:pt x="2401824" y="96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75175FCB-5C9E-2419-DCCF-6B9B6D16EAD9}"/>
              </a:ext>
            </a:extLst>
          </p:cNvPr>
          <p:cNvSpPr/>
          <p:nvPr/>
        </p:nvSpPr>
        <p:spPr>
          <a:xfrm>
            <a:off x="2170176" y="4005596"/>
            <a:ext cx="2365248" cy="1035270"/>
          </a:xfrm>
          <a:custGeom>
            <a:avLst/>
            <a:gdLst>
              <a:gd name="csX0" fmla="*/ 0 w 2365248"/>
              <a:gd name="csY0" fmla="*/ 651748 h 1035270"/>
              <a:gd name="csX1" fmla="*/ 731520 w 2365248"/>
              <a:gd name="csY1" fmla="*/ 1017508 h 1035270"/>
              <a:gd name="csX2" fmla="*/ 1609344 w 2365248"/>
              <a:gd name="csY2" fmla="*/ 151876 h 1035270"/>
              <a:gd name="csX3" fmla="*/ 2365248 w 2365248"/>
              <a:gd name="csY3" fmla="*/ 5572 h 1035270"/>
            </a:gdLst>
            <a:ahLst/>
            <a:cxnLst>
              <a:cxn ang="0">
                <a:pos x="csX0" y="csY0"/>
              </a:cxn>
              <a:cxn ang="0">
                <a:pos x="csX1" y="csY1"/>
              </a:cxn>
              <a:cxn ang="0">
                <a:pos x="csX2" y="csY2"/>
              </a:cxn>
              <a:cxn ang="0">
                <a:pos x="csX3" y="csY3"/>
              </a:cxn>
            </a:cxnLst>
            <a:rect l="l" t="t" r="r" b="b"/>
            <a:pathLst>
              <a:path w="2365248" h="1035270">
                <a:moveTo>
                  <a:pt x="0" y="651748"/>
                </a:moveTo>
                <a:cubicBezTo>
                  <a:pt x="231648" y="876284"/>
                  <a:pt x="463296" y="1100820"/>
                  <a:pt x="731520" y="1017508"/>
                </a:cubicBezTo>
                <a:cubicBezTo>
                  <a:pt x="999744" y="934196"/>
                  <a:pt x="1337056" y="320532"/>
                  <a:pt x="1609344" y="151876"/>
                </a:cubicBezTo>
                <a:cubicBezTo>
                  <a:pt x="1881632" y="-16780"/>
                  <a:pt x="2123440" y="-5604"/>
                  <a:pt x="2365248" y="557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8E718A16-D622-5378-E686-DD0401EE144E}"/>
              </a:ext>
            </a:extLst>
          </p:cNvPr>
          <p:cNvSpPr/>
          <p:nvPr/>
        </p:nvSpPr>
        <p:spPr>
          <a:xfrm>
            <a:off x="2084832" y="5474208"/>
            <a:ext cx="2450592" cy="685150"/>
          </a:xfrm>
          <a:custGeom>
            <a:avLst/>
            <a:gdLst>
              <a:gd name="csX0" fmla="*/ 0 w 2450592"/>
              <a:gd name="csY0" fmla="*/ 182880 h 685150"/>
              <a:gd name="csX1" fmla="*/ 731520 w 2450592"/>
              <a:gd name="csY1" fmla="*/ 682752 h 685150"/>
              <a:gd name="csX2" fmla="*/ 2450592 w 2450592"/>
              <a:gd name="csY2" fmla="*/ 0 h 685150"/>
            </a:gdLst>
            <a:ahLst/>
            <a:cxnLst>
              <a:cxn ang="0">
                <a:pos x="csX0" y="csY0"/>
              </a:cxn>
              <a:cxn ang="0">
                <a:pos x="csX1" y="csY1"/>
              </a:cxn>
              <a:cxn ang="0">
                <a:pos x="csX2" y="csY2"/>
              </a:cxn>
            </a:cxnLst>
            <a:rect l="l" t="t" r="r" b="b"/>
            <a:pathLst>
              <a:path w="2450592" h="685150">
                <a:moveTo>
                  <a:pt x="0" y="182880"/>
                </a:moveTo>
                <a:cubicBezTo>
                  <a:pt x="161544" y="448056"/>
                  <a:pt x="323088" y="713232"/>
                  <a:pt x="731520" y="682752"/>
                </a:cubicBezTo>
                <a:cubicBezTo>
                  <a:pt x="1139952" y="652272"/>
                  <a:pt x="2084832" y="119888"/>
                  <a:pt x="2450592"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550F73-6FCB-D492-9D08-56D0325DF8AC}"/>
                  </a:ext>
                </a:extLst>
              </p:cNvPr>
              <p:cNvSpPr txBox="1"/>
              <p:nvPr/>
            </p:nvSpPr>
            <p:spPr>
              <a:xfrm>
                <a:off x="4297378" y="2391275"/>
                <a:ext cx="56624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Cambria Math" panose="02040503050406030204" pitchFamily="18" charset="0"/>
                            </a:rPr>
                          </m:ctrlPr>
                        </m:sSupPr>
                        <m:e>
                          <m:r>
                            <a:rPr lang="en-US" sz="2200" i="1" smtClean="0">
                              <a:latin typeface="Cambria Math" panose="02040503050406030204" pitchFamily="18" charset="0"/>
                              <a:ea typeface="Cambria Math" panose="02040503050406030204" pitchFamily="18" charset="0"/>
                            </a:rPr>
                            <m:t>𝜇</m:t>
                          </m:r>
                        </m:e>
                        <m:sup>
                          <m:r>
                            <a:rPr lang="en-US" sz="2200" b="0" i="1" smtClean="0">
                              <a:latin typeface="Cambria Math" panose="02040503050406030204" pitchFamily="18" charset="0"/>
                              <a:ea typeface="Cambria Math" panose="02040503050406030204" pitchFamily="18" charset="0"/>
                            </a:rPr>
                            <m:t>−</m:t>
                          </m:r>
                        </m:sup>
                      </m:sSup>
                    </m:oMath>
                  </m:oMathPara>
                </a14:m>
                <a:endParaRPr lang="en-US" sz="2200" dirty="0"/>
              </a:p>
            </p:txBody>
          </p:sp>
        </mc:Choice>
        <mc:Fallback xmlns="">
          <p:sp>
            <p:nvSpPr>
              <p:cNvPr id="11" name="TextBox 10">
                <a:extLst>
                  <a:ext uri="{FF2B5EF4-FFF2-40B4-BE49-F238E27FC236}">
                    <a16:creationId xmlns:a16="http://schemas.microsoft.com/office/drawing/2014/main" id="{92550F73-6FCB-D492-9D08-56D0325DF8AC}"/>
                  </a:ext>
                </a:extLst>
              </p:cNvPr>
              <p:cNvSpPr txBox="1">
                <a:spLocks noRot="1" noChangeAspect="1" noMove="1" noResize="1" noEditPoints="1" noAdjustHandles="1" noChangeArrowheads="1" noChangeShapeType="1" noTextEdit="1"/>
              </p:cNvSpPr>
              <p:nvPr/>
            </p:nvSpPr>
            <p:spPr>
              <a:xfrm>
                <a:off x="4297378" y="2391275"/>
                <a:ext cx="566244" cy="430887"/>
              </a:xfrm>
              <a:prstGeom prst="rect">
                <a:avLst/>
              </a:prstGeom>
              <a:blipFill>
                <a:blip r:embed="rId2"/>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6884584-5D41-F855-C0AC-A48D1C11EA25}"/>
                  </a:ext>
                </a:extLst>
              </p:cNvPr>
              <p:cNvSpPr txBox="1"/>
              <p:nvPr/>
            </p:nvSpPr>
            <p:spPr>
              <a:xfrm>
                <a:off x="4298588" y="3429000"/>
                <a:ext cx="56624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Cambria Math" panose="02040503050406030204" pitchFamily="18" charset="0"/>
                            </a:rPr>
                          </m:ctrlPr>
                        </m:sSupPr>
                        <m:e>
                          <m:r>
                            <a:rPr lang="en-US" sz="2200" i="1" smtClean="0">
                              <a:latin typeface="Cambria Math" panose="02040503050406030204" pitchFamily="18" charset="0"/>
                              <a:ea typeface="Cambria Math" panose="02040503050406030204" pitchFamily="18" charset="0"/>
                            </a:rPr>
                            <m:t>𝜇</m:t>
                          </m:r>
                        </m:e>
                        <m:sup>
                          <m:r>
                            <a:rPr lang="en-US" sz="2200" b="0" i="1" smtClean="0">
                              <a:latin typeface="Cambria Math" panose="02040503050406030204" pitchFamily="18" charset="0"/>
                              <a:ea typeface="Cambria Math" panose="02040503050406030204" pitchFamily="18" charset="0"/>
                            </a:rPr>
                            <m:t>−</m:t>
                          </m:r>
                        </m:sup>
                      </m:sSup>
                    </m:oMath>
                  </m:oMathPara>
                </a14:m>
                <a:endParaRPr lang="en-US" sz="2200" dirty="0"/>
              </a:p>
            </p:txBody>
          </p:sp>
        </mc:Choice>
        <mc:Fallback xmlns="">
          <p:sp>
            <p:nvSpPr>
              <p:cNvPr id="12" name="TextBox 11">
                <a:extLst>
                  <a:ext uri="{FF2B5EF4-FFF2-40B4-BE49-F238E27FC236}">
                    <a16:creationId xmlns:a16="http://schemas.microsoft.com/office/drawing/2014/main" id="{C6884584-5D41-F855-C0AC-A48D1C11EA25}"/>
                  </a:ext>
                </a:extLst>
              </p:cNvPr>
              <p:cNvSpPr txBox="1">
                <a:spLocks noRot="1" noChangeAspect="1" noMove="1" noResize="1" noEditPoints="1" noAdjustHandles="1" noChangeArrowheads="1" noChangeShapeType="1" noTextEdit="1"/>
              </p:cNvSpPr>
              <p:nvPr/>
            </p:nvSpPr>
            <p:spPr>
              <a:xfrm>
                <a:off x="4298588" y="3429000"/>
                <a:ext cx="566244" cy="430887"/>
              </a:xfrm>
              <a:prstGeom prst="rect">
                <a:avLst/>
              </a:prstGeom>
              <a:blipFill>
                <a:blip r:embed="rId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A657F7-5C4A-7E76-DCD9-F91DCF7AAE3F}"/>
                  </a:ext>
                </a:extLst>
              </p:cNvPr>
              <p:cNvSpPr txBox="1"/>
              <p:nvPr/>
            </p:nvSpPr>
            <p:spPr>
              <a:xfrm>
                <a:off x="4297378" y="4005596"/>
                <a:ext cx="56624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Cambria Math" panose="02040503050406030204" pitchFamily="18" charset="0"/>
                            </a:rPr>
                          </m:ctrlPr>
                        </m:sSupPr>
                        <m:e>
                          <m:r>
                            <a:rPr lang="en-US" sz="2200" i="1" smtClean="0">
                              <a:latin typeface="Cambria Math" panose="02040503050406030204" pitchFamily="18" charset="0"/>
                              <a:ea typeface="Cambria Math" panose="02040503050406030204" pitchFamily="18" charset="0"/>
                            </a:rPr>
                            <m:t>𝜇</m:t>
                          </m:r>
                        </m:e>
                        <m:sup>
                          <m:r>
                            <a:rPr lang="en-US" sz="2200" b="0" i="1" smtClean="0">
                              <a:latin typeface="Cambria Math" panose="02040503050406030204" pitchFamily="18" charset="0"/>
                              <a:ea typeface="Cambria Math" panose="02040503050406030204" pitchFamily="18" charset="0"/>
                            </a:rPr>
                            <m:t>−</m:t>
                          </m:r>
                        </m:sup>
                      </m:sSup>
                    </m:oMath>
                  </m:oMathPara>
                </a14:m>
                <a:endParaRPr lang="en-US" sz="2200" dirty="0"/>
              </a:p>
            </p:txBody>
          </p:sp>
        </mc:Choice>
        <mc:Fallback xmlns="">
          <p:sp>
            <p:nvSpPr>
              <p:cNvPr id="13" name="TextBox 12">
                <a:extLst>
                  <a:ext uri="{FF2B5EF4-FFF2-40B4-BE49-F238E27FC236}">
                    <a16:creationId xmlns:a16="http://schemas.microsoft.com/office/drawing/2014/main" id="{DFA657F7-5C4A-7E76-DCD9-F91DCF7AAE3F}"/>
                  </a:ext>
                </a:extLst>
              </p:cNvPr>
              <p:cNvSpPr txBox="1">
                <a:spLocks noRot="1" noChangeAspect="1" noMove="1" noResize="1" noEditPoints="1" noAdjustHandles="1" noChangeArrowheads="1" noChangeShapeType="1" noTextEdit="1"/>
              </p:cNvSpPr>
              <p:nvPr/>
            </p:nvSpPr>
            <p:spPr>
              <a:xfrm>
                <a:off x="4297378" y="4005596"/>
                <a:ext cx="566244" cy="430887"/>
              </a:xfrm>
              <a:prstGeom prst="rect">
                <a:avLst/>
              </a:prstGeom>
              <a:blipFill>
                <a:blip r:embed="rId2"/>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57F18B3-B411-EAE5-AEF1-3337E24F876F}"/>
                  </a:ext>
                </a:extLst>
              </p:cNvPr>
              <p:cNvSpPr txBox="1"/>
              <p:nvPr/>
            </p:nvSpPr>
            <p:spPr>
              <a:xfrm>
                <a:off x="4297378" y="5474208"/>
                <a:ext cx="56624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Cambria Math" panose="02040503050406030204" pitchFamily="18" charset="0"/>
                            </a:rPr>
                          </m:ctrlPr>
                        </m:sSupPr>
                        <m:e>
                          <m:r>
                            <a:rPr lang="en-US" sz="2200" i="1" smtClean="0">
                              <a:latin typeface="Cambria Math" panose="02040503050406030204" pitchFamily="18" charset="0"/>
                              <a:ea typeface="Cambria Math" panose="02040503050406030204" pitchFamily="18" charset="0"/>
                            </a:rPr>
                            <m:t>𝜇</m:t>
                          </m:r>
                        </m:e>
                        <m:sup>
                          <m:r>
                            <a:rPr lang="en-US" sz="2200" b="0" i="1" smtClean="0">
                              <a:latin typeface="Cambria Math" panose="02040503050406030204" pitchFamily="18" charset="0"/>
                              <a:ea typeface="Cambria Math" panose="02040503050406030204" pitchFamily="18" charset="0"/>
                            </a:rPr>
                            <m:t>−</m:t>
                          </m:r>
                        </m:sup>
                      </m:sSup>
                    </m:oMath>
                  </m:oMathPara>
                </a14:m>
                <a:endParaRPr lang="en-US" sz="2200" dirty="0"/>
              </a:p>
            </p:txBody>
          </p:sp>
        </mc:Choice>
        <mc:Fallback xmlns="">
          <p:sp>
            <p:nvSpPr>
              <p:cNvPr id="14" name="TextBox 13">
                <a:extLst>
                  <a:ext uri="{FF2B5EF4-FFF2-40B4-BE49-F238E27FC236}">
                    <a16:creationId xmlns:a16="http://schemas.microsoft.com/office/drawing/2014/main" id="{857F18B3-B411-EAE5-AEF1-3337E24F876F}"/>
                  </a:ext>
                </a:extLst>
              </p:cNvPr>
              <p:cNvSpPr txBox="1">
                <a:spLocks noRot="1" noChangeAspect="1" noMove="1" noResize="1" noEditPoints="1" noAdjustHandles="1" noChangeArrowheads="1" noChangeShapeType="1" noTextEdit="1"/>
              </p:cNvSpPr>
              <p:nvPr/>
            </p:nvSpPr>
            <p:spPr>
              <a:xfrm>
                <a:off x="4297378" y="5474208"/>
                <a:ext cx="566244" cy="430887"/>
              </a:xfrm>
              <a:prstGeom prst="rect">
                <a:avLst/>
              </a:prstGeom>
              <a:blipFill>
                <a:blip r:embed="rId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2E1C7E5-AC06-91D1-6DD4-59335F49A3E3}"/>
                  </a:ext>
                </a:extLst>
              </p:cNvPr>
              <p:cNvSpPr txBox="1"/>
              <p:nvPr/>
            </p:nvSpPr>
            <p:spPr>
              <a:xfrm>
                <a:off x="6777532" y="2417806"/>
                <a:ext cx="12635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𝑇</m:t>
                          </m:r>
                        </m:sub>
                      </m:sSub>
                      <m:r>
                        <a:rPr lang="en-US" b="0" i="1" smtClean="0">
                          <a:latin typeface="Cambria Math" panose="02040503050406030204" pitchFamily="18" charset="0"/>
                        </a:rPr>
                        <m:t>=50</m:t>
                      </m:r>
                      <m:r>
                        <a:rPr lang="en-US" b="0" i="1" smtClean="0">
                          <a:latin typeface="Cambria Math" panose="02040503050406030204" pitchFamily="18" charset="0"/>
                        </a:rPr>
                        <m:t>𝐺𝑒𝑉</m:t>
                      </m:r>
                    </m:oMath>
                  </m:oMathPara>
                </a14:m>
                <a:endParaRPr lang="en-US" dirty="0"/>
              </a:p>
            </p:txBody>
          </p:sp>
        </mc:Choice>
        <mc:Fallback xmlns="">
          <p:sp>
            <p:nvSpPr>
              <p:cNvPr id="15" name="TextBox 14">
                <a:extLst>
                  <a:ext uri="{FF2B5EF4-FFF2-40B4-BE49-F238E27FC236}">
                    <a16:creationId xmlns:a16="http://schemas.microsoft.com/office/drawing/2014/main" id="{E2E1C7E5-AC06-91D1-6DD4-59335F49A3E3}"/>
                  </a:ext>
                </a:extLst>
              </p:cNvPr>
              <p:cNvSpPr txBox="1">
                <a:spLocks noRot="1" noChangeAspect="1" noMove="1" noResize="1" noEditPoints="1" noAdjustHandles="1" noChangeArrowheads="1" noChangeShapeType="1" noTextEdit="1"/>
              </p:cNvSpPr>
              <p:nvPr/>
            </p:nvSpPr>
            <p:spPr>
              <a:xfrm>
                <a:off x="6777532" y="2417806"/>
                <a:ext cx="1263551" cy="276999"/>
              </a:xfrm>
              <a:prstGeom prst="rect">
                <a:avLst/>
              </a:prstGeom>
              <a:blipFill>
                <a:blip r:embed="rId5"/>
                <a:stretch>
                  <a:fillRect l="-4950" r="-2970"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36D0C34-A06E-7C23-83CA-F65D46E1443A}"/>
                  </a:ext>
                </a:extLst>
              </p:cNvPr>
              <p:cNvSpPr txBox="1"/>
              <p:nvPr/>
            </p:nvSpPr>
            <p:spPr>
              <a:xfrm>
                <a:off x="6777532" y="3348870"/>
                <a:ext cx="1391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𝑇</m:t>
                          </m:r>
                        </m:sub>
                      </m:sSub>
                      <m:r>
                        <a:rPr lang="en-US" b="0" i="1" smtClean="0">
                          <a:latin typeface="Cambria Math" panose="02040503050406030204" pitchFamily="18" charset="0"/>
                        </a:rPr>
                        <m:t>=100</m:t>
                      </m:r>
                      <m:r>
                        <a:rPr lang="en-US" b="0" i="1" smtClean="0">
                          <a:latin typeface="Cambria Math" panose="02040503050406030204" pitchFamily="18" charset="0"/>
                        </a:rPr>
                        <m:t>𝐺𝑒𝑉</m:t>
                      </m:r>
                    </m:oMath>
                  </m:oMathPara>
                </a14:m>
                <a:endParaRPr lang="en-US" dirty="0"/>
              </a:p>
            </p:txBody>
          </p:sp>
        </mc:Choice>
        <mc:Fallback xmlns="">
          <p:sp>
            <p:nvSpPr>
              <p:cNvPr id="17" name="TextBox 16">
                <a:extLst>
                  <a:ext uri="{FF2B5EF4-FFF2-40B4-BE49-F238E27FC236}">
                    <a16:creationId xmlns:a16="http://schemas.microsoft.com/office/drawing/2014/main" id="{436D0C34-A06E-7C23-83CA-F65D46E1443A}"/>
                  </a:ext>
                </a:extLst>
              </p:cNvPr>
              <p:cNvSpPr txBox="1">
                <a:spLocks noRot="1" noChangeAspect="1" noMove="1" noResize="1" noEditPoints="1" noAdjustHandles="1" noChangeArrowheads="1" noChangeShapeType="1" noTextEdit="1"/>
              </p:cNvSpPr>
              <p:nvPr/>
            </p:nvSpPr>
            <p:spPr>
              <a:xfrm>
                <a:off x="6777532" y="3348870"/>
                <a:ext cx="1391791" cy="276999"/>
              </a:xfrm>
              <a:prstGeom prst="rect">
                <a:avLst/>
              </a:prstGeom>
              <a:blipFill>
                <a:blip r:embed="rId6"/>
                <a:stretch>
                  <a:fillRect l="-3604" r="-2703"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0C1A1C6-24DD-34B9-BE26-5CFA8AC79DF6}"/>
                  </a:ext>
                </a:extLst>
              </p:cNvPr>
              <p:cNvSpPr txBox="1"/>
              <p:nvPr/>
            </p:nvSpPr>
            <p:spPr>
              <a:xfrm>
                <a:off x="6783223" y="4159484"/>
                <a:ext cx="12635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𝑇</m:t>
                          </m:r>
                        </m:sub>
                      </m:sSub>
                      <m:r>
                        <a:rPr lang="en-US" b="0" i="1" smtClean="0">
                          <a:latin typeface="Cambria Math" panose="02040503050406030204" pitchFamily="18" charset="0"/>
                        </a:rPr>
                        <m:t>=10</m:t>
                      </m:r>
                      <m:r>
                        <a:rPr lang="en-US" b="0" i="1" smtClean="0">
                          <a:latin typeface="Cambria Math" panose="02040503050406030204" pitchFamily="18" charset="0"/>
                        </a:rPr>
                        <m:t>𝐺𝑒𝑉</m:t>
                      </m:r>
                    </m:oMath>
                  </m:oMathPara>
                </a14:m>
                <a:endParaRPr lang="en-US" dirty="0"/>
              </a:p>
            </p:txBody>
          </p:sp>
        </mc:Choice>
        <mc:Fallback xmlns="">
          <p:sp>
            <p:nvSpPr>
              <p:cNvPr id="18" name="TextBox 17">
                <a:extLst>
                  <a:ext uri="{FF2B5EF4-FFF2-40B4-BE49-F238E27FC236}">
                    <a16:creationId xmlns:a16="http://schemas.microsoft.com/office/drawing/2014/main" id="{B0C1A1C6-24DD-34B9-BE26-5CFA8AC79DF6}"/>
                  </a:ext>
                </a:extLst>
              </p:cNvPr>
              <p:cNvSpPr txBox="1">
                <a:spLocks noRot="1" noChangeAspect="1" noMove="1" noResize="1" noEditPoints="1" noAdjustHandles="1" noChangeArrowheads="1" noChangeShapeType="1" noTextEdit="1"/>
              </p:cNvSpPr>
              <p:nvPr/>
            </p:nvSpPr>
            <p:spPr>
              <a:xfrm>
                <a:off x="6783223" y="4159484"/>
                <a:ext cx="1263551" cy="276999"/>
              </a:xfrm>
              <a:prstGeom prst="rect">
                <a:avLst/>
              </a:prstGeom>
              <a:blipFill>
                <a:blip r:embed="rId7"/>
                <a:stretch>
                  <a:fillRect l="-5000" r="-3000"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092C66-5344-1936-5351-9ED2D02F791E}"/>
                  </a:ext>
                </a:extLst>
              </p:cNvPr>
              <p:cNvSpPr txBox="1"/>
              <p:nvPr/>
            </p:nvSpPr>
            <p:spPr>
              <a:xfrm>
                <a:off x="6777531" y="5474208"/>
                <a:ext cx="12635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𝑇</m:t>
                          </m:r>
                        </m:sub>
                      </m:sSub>
                      <m:r>
                        <a:rPr lang="en-US" b="0" i="1" smtClean="0">
                          <a:latin typeface="Cambria Math" panose="02040503050406030204" pitchFamily="18" charset="0"/>
                        </a:rPr>
                        <m:t>=15</m:t>
                      </m:r>
                      <m:r>
                        <a:rPr lang="en-US" b="0" i="1" smtClean="0">
                          <a:latin typeface="Cambria Math" panose="02040503050406030204" pitchFamily="18" charset="0"/>
                        </a:rPr>
                        <m:t>𝐺𝑒𝑉</m:t>
                      </m:r>
                    </m:oMath>
                  </m:oMathPara>
                </a14:m>
                <a:endParaRPr lang="en-US" dirty="0"/>
              </a:p>
            </p:txBody>
          </p:sp>
        </mc:Choice>
        <mc:Fallback xmlns="">
          <p:sp>
            <p:nvSpPr>
              <p:cNvPr id="19" name="TextBox 18">
                <a:extLst>
                  <a:ext uri="{FF2B5EF4-FFF2-40B4-BE49-F238E27FC236}">
                    <a16:creationId xmlns:a16="http://schemas.microsoft.com/office/drawing/2014/main" id="{06092C66-5344-1936-5351-9ED2D02F791E}"/>
                  </a:ext>
                </a:extLst>
              </p:cNvPr>
              <p:cNvSpPr txBox="1">
                <a:spLocks noRot="1" noChangeAspect="1" noMove="1" noResize="1" noEditPoints="1" noAdjustHandles="1" noChangeArrowheads="1" noChangeShapeType="1" noTextEdit="1"/>
              </p:cNvSpPr>
              <p:nvPr/>
            </p:nvSpPr>
            <p:spPr>
              <a:xfrm>
                <a:off x="6777531" y="5474208"/>
                <a:ext cx="1263551" cy="276999"/>
              </a:xfrm>
              <a:prstGeom prst="rect">
                <a:avLst/>
              </a:prstGeom>
              <a:blipFill>
                <a:blip r:embed="rId8"/>
                <a:stretch>
                  <a:fillRect l="-4950" r="-2970" b="-27273"/>
                </a:stretch>
              </a:blipFill>
            </p:spPr>
            <p:txBody>
              <a:bodyPr/>
              <a:lstStyle/>
              <a:p>
                <a:r>
                  <a:rPr lang="en-US">
                    <a:noFill/>
                  </a:rPr>
                  <a:t> </a:t>
                </a:r>
              </a:p>
            </p:txBody>
          </p:sp>
        </mc:Fallback>
      </mc:AlternateContent>
    </p:spTree>
    <p:extLst>
      <p:ext uri="{BB962C8B-B14F-4D97-AF65-F5344CB8AC3E}">
        <p14:creationId xmlns:p14="http://schemas.microsoft.com/office/powerpoint/2010/main" val="2526997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fessor's perceptron paved the way for AI – 60 years too soon">
            <a:extLst>
              <a:ext uri="{FF2B5EF4-FFF2-40B4-BE49-F238E27FC236}">
                <a16:creationId xmlns:a16="http://schemas.microsoft.com/office/drawing/2014/main" id="{30AF7D1A-3BE5-84E6-1A99-8E36F6FEAE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8286" y="266179"/>
            <a:ext cx="5219586" cy="59921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4C43ACC-F32F-0752-98DA-3E5342068BFE}"/>
              </a:ext>
            </a:extLst>
          </p:cNvPr>
          <p:cNvSpPr txBox="1"/>
          <p:nvPr/>
        </p:nvSpPr>
        <p:spPr>
          <a:xfrm>
            <a:off x="8555276" y="6407155"/>
            <a:ext cx="1871282" cy="369332"/>
          </a:xfrm>
          <a:prstGeom prst="rect">
            <a:avLst/>
          </a:prstGeom>
          <a:noFill/>
        </p:spPr>
        <p:txBody>
          <a:bodyPr wrap="none" rtlCol="0">
            <a:spAutoFit/>
          </a:bodyPr>
          <a:lstStyle/>
          <a:p>
            <a:r>
              <a:rPr lang="en-US" dirty="0"/>
              <a:t>Frank Rosenblatt</a:t>
            </a:r>
          </a:p>
        </p:txBody>
      </p:sp>
      <p:sp>
        <p:nvSpPr>
          <p:cNvPr id="5" name="TextBox 4">
            <a:extLst>
              <a:ext uri="{FF2B5EF4-FFF2-40B4-BE49-F238E27FC236}">
                <a16:creationId xmlns:a16="http://schemas.microsoft.com/office/drawing/2014/main" id="{CFC9900F-6D99-6EBB-5A43-05DBF84253AB}"/>
              </a:ext>
            </a:extLst>
          </p:cNvPr>
          <p:cNvSpPr txBox="1"/>
          <p:nvPr/>
        </p:nvSpPr>
        <p:spPr>
          <a:xfrm>
            <a:off x="588724" y="363255"/>
            <a:ext cx="5699342" cy="1754326"/>
          </a:xfrm>
          <a:prstGeom prst="rect">
            <a:avLst/>
          </a:prstGeom>
          <a:noFill/>
        </p:spPr>
        <p:txBody>
          <a:bodyPr wrap="square" rtlCol="0">
            <a:spAutoFit/>
          </a:bodyPr>
          <a:lstStyle/>
          <a:p>
            <a:r>
              <a:rPr lang="en-US" sz="3600" dirty="0"/>
              <a:t>Feedforward Neural Networks – </a:t>
            </a:r>
            <a:r>
              <a:rPr lang="en-US" sz="3600" i="1" dirty="0"/>
              <a:t>the first machines that learned</a:t>
            </a:r>
          </a:p>
        </p:txBody>
      </p:sp>
      <p:sp>
        <p:nvSpPr>
          <p:cNvPr id="8" name="TextBox 7">
            <a:extLst>
              <a:ext uri="{FF2B5EF4-FFF2-40B4-BE49-F238E27FC236}">
                <a16:creationId xmlns:a16="http://schemas.microsoft.com/office/drawing/2014/main" id="{5EC6FC08-EFDA-726E-02B9-7947AE08F5CA}"/>
              </a:ext>
            </a:extLst>
          </p:cNvPr>
          <p:cNvSpPr txBox="1"/>
          <p:nvPr/>
        </p:nvSpPr>
        <p:spPr>
          <a:xfrm>
            <a:off x="588723" y="2430049"/>
            <a:ext cx="5336087" cy="2569934"/>
          </a:xfrm>
          <a:prstGeom prst="rect">
            <a:avLst/>
          </a:prstGeom>
          <a:noFill/>
        </p:spPr>
        <p:txBody>
          <a:bodyPr wrap="square" rtlCol="0">
            <a:spAutoFit/>
          </a:bodyPr>
          <a:lstStyle/>
          <a:p>
            <a:r>
              <a:rPr lang="en-US" sz="2300" dirty="0"/>
              <a:t>Not! a generative model.</a:t>
            </a:r>
          </a:p>
          <a:p>
            <a:endParaRPr lang="en-US" sz="2300" dirty="0"/>
          </a:p>
          <a:p>
            <a:r>
              <a:rPr lang="en-US" sz="2300" dirty="0"/>
              <a:t>Then what does it do? It learns functions.</a:t>
            </a:r>
          </a:p>
          <a:p>
            <a:endParaRPr lang="en-US" sz="2300" dirty="0"/>
          </a:p>
          <a:p>
            <a:r>
              <a:rPr lang="en-US" sz="2300" dirty="0"/>
              <a:t>I hope to use FNNs to demonstrate the basic principles behind machine learning.</a:t>
            </a:r>
          </a:p>
        </p:txBody>
      </p:sp>
    </p:spTree>
    <p:extLst>
      <p:ext uri="{BB962C8B-B14F-4D97-AF65-F5344CB8AC3E}">
        <p14:creationId xmlns:p14="http://schemas.microsoft.com/office/powerpoint/2010/main" val="201420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536013-4596-D56E-115B-ADB008A041AE}"/>
              </a:ext>
            </a:extLst>
          </p:cNvPr>
          <p:cNvPicPr>
            <a:picLocks noChangeAspect="1"/>
          </p:cNvPicPr>
          <p:nvPr/>
        </p:nvPicPr>
        <p:blipFill>
          <a:blip r:embed="rId2"/>
          <a:srcRect t="6736"/>
          <a:stretch>
            <a:fillRect/>
          </a:stretch>
        </p:blipFill>
        <p:spPr>
          <a:xfrm>
            <a:off x="879605" y="2242158"/>
            <a:ext cx="2641600" cy="2558441"/>
          </a:xfrm>
          <a:prstGeom prst="rect">
            <a:avLst/>
          </a:prstGeom>
        </p:spPr>
      </p:pic>
      <p:cxnSp>
        <p:nvCxnSpPr>
          <p:cNvPr id="6" name="Straight Arrow Connector 5">
            <a:extLst>
              <a:ext uri="{FF2B5EF4-FFF2-40B4-BE49-F238E27FC236}">
                <a16:creationId xmlns:a16="http://schemas.microsoft.com/office/drawing/2014/main" id="{4B6A889D-4DDE-A1B5-6C4A-46BE5698B31D}"/>
              </a:ext>
            </a:extLst>
          </p:cNvPr>
          <p:cNvCxnSpPr/>
          <p:nvPr/>
        </p:nvCxnSpPr>
        <p:spPr>
          <a:xfrm>
            <a:off x="3805858" y="3438394"/>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B947795-FF1C-12B4-AF36-B7845EAA77D9}"/>
              </a:ext>
            </a:extLst>
          </p:cNvPr>
          <p:cNvSpPr txBox="1"/>
          <p:nvPr/>
        </p:nvSpPr>
        <p:spPr>
          <a:xfrm>
            <a:off x="751562" y="450938"/>
            <a:ext cx="8313173" cy="646331"/>
          </a:xfrm>
          <a:prstGeom prst="rect">
            <a:avLst/>
          </a:prstGeom>
          <a:noFill/>
        </p:spPr>
        <p:txBody>
          <a:bodyPr wrap="none" rtlCol="0">
            <a:spAutoFit/>
          </a:bodyPr>
          <a:lstStyle/>
          <a:p>
            <a:r>
              <a:rPr lang="en-US" sz="3600" dirty="0"/>
              <a:t>What types of problems can FNNs solve?</a:t>
            </a:r>
          </a:p>
        </p:txBody>
      </p:sp>
      <p:sp>
        <p:nvSpPr>
          <p:cNvPr id="8" name="TextBox 7">
            <a:extLst>
              <a:ext uri="{FF2B5EF4-FFF2-40B4-BE49-F238E27FC236}">
                <a16:creationId xmlns:a16="http://schemas.microsoft.com/office/drawing/2014/main" id="{803A234E-3CBC-A423-8C67-3F520A521163}"/>
              </a:ext>
            </a:extLst>
          </p:cNvPr>
          <p:cNvSpPr txBox="1"/>
          <p:nvPr/>
        </p:nvSpPr>
        <p:spPr>
          <a:xfrm>
            <a:off x="8876372" y="3171295"/>
            <a:ext cx="1672317" cy="492443"/>
          </a:xfrm>
          <a:prstGeom prst="rect">
            <a:avLst/>
          </a:prstGeom>
          <a:noFill/>
        </p:spPr>
        <p:txBody>
          <a:bodyPr wrap="none" rtlCol="0">
            <a:spAutoFit/>
          </a:bodyPr>
          <a:lstStyle/>
          <a:p>
            <a:r>
              <a:rPr lang="en-US" sz="2600" dirty="0"/>
              <a:t>It’s a three</a:t>
            </a:r>
          </a:p>
        </p:txBody>
      </p:sp>
      <p:sp>
        <p:nvSpPr>
          <p:cNvPr id="9" name="TextBox 8">
            <a:extLst>
              <a:ext uri="{FF2B5EF4-FFF2-40B4-BE49-F238E27FC236}">
                <a16:creationId xmlns:a16="http://schemas.microsoft.com/office/drawing/2014/main" id="{B9C17275-6E01-A33D-151C-215817F41454}"/>
              </a:ext>
            </a:extLst>
          </p:cNvPr>
          <p:cNvSpPr txBox="1"/>
          <p:nvPr/>
        </p:nvSpPr>
        <p:spPr>
          <a:xfrm>
            <a:off x="1848385" y="1485047"/>
            <a:ext cx="736099" cy="369332"/>
          </a:xfrm>
          <a:prstGeom prst="rect">
            <a:avLst/>
          </a:prstGeom>
          <a:noFill/>
        </p:spPr>
        <p:txBody>
          <a:bodyPr wrap="none" rtlCol="0">
            <a:spAutoFit/>
          </a:bodyPr>
          <a:lstStyle/>
          <a:p>
            <a:r>
              <a:rPr lang="en-US" b="1" dirty="0"/>
              <a:t>Input</a:t>
            </a:r>
          </a:p>
        </p:txBody>
      </p:sp>
      <p:sp>
        <p:nvSpPr>
          <p:cNvPr id="10" name="Rectangle 9">
            <a:extLst>
              <a:ext uri="{FF2B5EF4-FFF2-40B4-BE49-F238E27FC236}">
                <a16:creationId xmlns:a16="http://schemas.microsoft.com/office/drawing/2014/main" id="{E36E3D33-EFBF-67C2-2560-E82B5B5A71F6}"/>
              </a:ext>
            </a:extLst>
          </p:cNvPr>
          <p:cNvSpPr/>
          <p:nvPr/>
        </p:nvSpPr>
        <p:spPr>
          <a:xfrm>
            <a:off x="5088355" y="2591936"/>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cxnSp>
        <p:nvCxnSpPr>
          <p:cNvPr id="11" name="Straight Arrow Connector 10">
            <a:extLst>
              <a:ext uri="{FF2B5EF4-FFF2-40B4-BE49-F238E27FC236}">
                <a16:creationId xmlns:a16="http://schemas.microsoft.com/office/drawing/2014/main" id="{9B4B646E-55DD-0C82-5861-2B7E943F8148}"/>
              </a:ext>
            </a:extLst>
          </p:cNvPr>
          <p:cNvCxnSpPr/>
          <p:nvPr/>
        </p:nvCxnSpPr>
        <p:spPr>
          <a:xfrm>
            <a:off x="7528968" y="34175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7B53773-7F0B-A011-F82E-BA389FEF086F}"/>
              </a:ext>
            </a:extLst>
          </p:cNvPr>
          <p:cNvSpPr txBox="1"/>
          <p:nvPr/>
        </p:nvSpPr>
        <p:spPr>
          <a:xfrm>
            <a:off x="9064735" y="1485047"/>
            <a:ext cx="1266693" cy="369332"/>
          </a:xfrm>
          <a:prstGeom prst="rect">
            <a:avLst/>
          </a:prstGeom>
          <a:noFill/>
        </p:spPr>
        <p:txBody>
          <a:bodyPr wrap="none" rtlCol="0">
            <a:spAutoFit/>
          </a:bodyPr>
          <a:lstStyle/>
          <a:p>
            <a:r>
              <a:rPr lang="en-US" b="1" dirty="0"/>
              <a:t>Prediction</a:t>
            </a:r>
          </a:p>
        </p:txBody>
      </p:sp>
      <p:sp>
        <p:nvSpPr>
          <p:cNvPr id="13" name="TextBox 12">
            <a:extLst>
              <a:ext uri="{FF2B5EF4-FFF2-40B4-BE49-F238E27FC236}">
                <a16:creationId xmlns:a16="http://schemas.microsoft.com/office/drawing/2014/main" id="{486E02D9-C693-B61E-ADCC-E2324E7795B3}"/>
              </a:ext>
            </a:extLst>
          </p:cNvPr>
          <p:cNvSpPr txBox="1"/>
          <p:nvPr/>
        </p:nvSpPr>
        <p:spPr>
          <a:xfrm>
            <a:off x="4289960" y="5779518"/>
            <a:ext cx="3612079" cy="492443"/>
          </a:xfrm>
          <a:prstGeom prst="rect">
            <a:avLst/>
          </a:prstGeom>
          <a:noFill/>
        </p:spPr>
        <p:txBody>
          <a:bodyPr wrap="none" rtlCol="0">
            <a:spAutoFit/>
          </a:bodyPr>
          <a:lstStyle/>
          <a:p>
            <a:r>
              <a:rPr lang="en-US" sz="2600" dirty="0"/>
              <a:t>Classification problems</a:t>
            </a:r>
          </a:p>
        </p:txBody>
      </p:sp>
    </p:spTree>
    <p:extLst>
      <p:ext uri="{BB962C8B-B14F-4D97-AF65-F5344CB8AC3E}">
        <p14:creationId xmlns:p14="http://schemas.microsoft.com/office/powerpoint/2010/main" val="1875863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44E62-21CB-47A8-723E-0E96DD18361B}"/>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74C310E1-E21D-26BA-EF13-F73E532B6953}"/>
              </a:ext>
            </a:extLst>
          </p:cNvPr>
          <p:cNvCxnSpPr/>
          <p:nvPr/>
        </p:nvCxnSpPr>
        <p:spPr>
          <a:xfrm>
            <a:off x="3805858" y="3438394"/>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B652D7D-4432-9554-D6CD-F1FBCBC0FA49}"/>
              </a:ext>
            </a:extLst>
          </p:cNvPr>
          <p:cNvSpPr txBox="1"/>
          <p:nvPr/>
        </p:nvSpPr>
        <p:spPr>
          <a:xfrm>
            <a:off x="751562" y="450938"/>
            <a:ext cx="8313173" cy="646331"/>
          </a:xfrm>
          <a:prstGeom prst="rect">
            <a:avLst/>
          </a:prstGeom>
          <a:noFill/>
        </p:spPr>
        <p:txBody>
          <a:bodyPr wrap="none" rtlCol="0">
            <a:spAutoFit/>
          </a:bodyPr>
          <a:lstStyle/>
          <a:p>
            <a:r>
              <a:rPr lang="en-US" sz="3600" dirty="0"/>
              <a:t>What types of problems can FNNs solve?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8614FF6-E70A-E6F6-5A36-3E9DCB139439}"/>
                  </a:ext>
                </a:extLst>
              </p:cNvPr>
              <p:cNvSpPr txBox="1"/>
              <p:nvPr/>
            </p:nvSpPr>
            <p:spPr>
              <a:xfrm>
                <a:off x="9064735" y="3253727"/>
                <a:ext cx="1991635" cy="369332"/>
              </a:xfrm>
              <a:prstGeom prst="rect">
                <a:avLst/>
              </a:prstGeom>
              <a:noFill/>
            </p:spPr>
            <p:txBody>
              <a:bodyPr wrap="none" rtlCol="0">
                <a:spAutoFit/>
              </a:bodyPr>
              <a:lstStyle/>
              <a:p>
                <a:r>
                  <a:rPr lang="en-US" dirty="0"/>
                  <a:t>It has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𝑇</m:t>
                        </m:r>
                      </m:sub>
                    </m:sSub>
                    <m:r>
                      <a:rPr lang="en-US" b="0" i="1" smtClean="0">
                        <a:latin typeface="Cambria Math" panose="02040503050406030204" pitchFamily="18" charset="0"/>
                      </a:rPr>
                      <m:t>=50</m:t>
                    </m:r>
                    <m:r>
                      <a:rPr lang="en-US" b="0" i="1" smtClean="0">
                        <a:latin typeface="Cambria Math" panose="02040503050406030204" pitchFamily="18" charset="0"/>
                      </a:rPr>
                      <m:t>𝐺𝑒𝑉</m:t>
                    </m:r>
                  </m:oMath>
                </a14:m>
                <a:endParaRPr lang="en-US" dirty="0"/>
              </a:p>
            </p:txBody>
          </p:sp>
        </mc:Choice>
        <mc:Fallback xmlns="">
          <p:sp>
            <p:nvSpPr>
              <p:cNvPr id="8" name="TextBox 7">
                <a:extLst>
                  <a:ext uri="{FF2B5EF4-FFF2-40B4-BE49-F238E27FC236}">
                    <a16:creationId xmlns:a16="http://schemas.microsoft.com/office/drawing/2014/main" id="{38614FF6-E70A-E6F6-5A36-3E9DCB139439}"/>
                  </a:ext>
                </a:extLst>
              </p:cNvPr>
              <p:cNvSpPr txBox="1">
                <a:spLocks noRot="1" noChangeAspect="1" noMove="1" noResize="1" noEditPoints="1" noAdjustHandles="1" noChangeArrowheads="1" noChangeShapeType="1" noTextEdit="1"/>
              </p:cNvSpPr>
              <p:nvPr/>
            </p:nvSpPr>
            <p:spPr>
              <a:xfrm>
                <a:off x="9064735" y="3253727"/>
                <a:ext cx="1991635" cy="369332"/>
              </a:xfrm>
              <a:prstGeom prst="rect">
                <a:avLst/>
              </a:prstGeom>
              <a:blipFill>
                <a:blip r:embed="rId2"/>
                <a:stretch>
                  <a:fillRect l="-2532" t="-10000" b="-2333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2A2651A-E064-F8FB-2260-7A99AA2DEE47}"/>
              </a:ext>
            </a:extLst>
          </p:cNvPr>
          <p:cNvSpPr txBox="1"/>
          <p:nvPr/>
        </p:nvSpPr>
        <p:spPr>
          <a:xfrm>
            <a:off x="1848385" y="1485047"/>
            <a:ext cx="736099" cy="369332"/>
          </a:xfrm>
          <a:prstGeom prst="rect">
            <a:avLst/>
          </a:prstGeom>
          <a:noFill/>
        </p:spPr>
        <p:txBody>
          <a:bodyPr wrap="none" rtlCol="0">
            <a:spAutoFit/>
          </a:bodyPr>
          <a:lstStyle/>
          <a:p>
            <a:r>
              <a:rPr lang="en-US" b="1" dirty="0"/>
              <a:t>Input</a:t>
            </a:r>
          </a:p>
        </p:txBody>
      </p:sp>
      <p:sp>
        <p:nvSpPr>
          <p:cNvPr id="10" name="Rectangle 9">
            <a:extLst>
              <a:ext uri="{FF2B5EF4-FFF2-40B4-BE49-F238E27FC236}">
                <a16:creationId xmlns:a16="http://schemas.microsoft.com/office/drawing/2014/main" id="{00C45ADE-39FB-FA0B-DE23-7E86AA399389}"/>
              </a:ext>
            </a:extLst>
          </p:cNvPr>
          <p:cNvSpPr/>
          <p:nvPr/>
        </p:nvSpPr>
        <p:spPr>
          <a:xfrm>
            <a:off x="5088355" y="2591936"/>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cxnSp>
        <p:nvCxnSpPr>
          <p:cNvPr id="11" name="Straight Arrow Connector 10">
            <a:extLst>
              <a:ext uri="{FF2B5EF4-FFF2-40B4-BE49-F238E27FC236}">
                <a16:creationId xmlns:a16="http://schemas.microsoft.com/office/drawing/2014/main" id="{AD2F6904-3C7C-6368-1040-15572DDF4DB3}"/>
              </a:ext>
            </a:extLst>
          </p:cNvPr>
          <p:cNvCxnSpPr/>
          <p:nvPr/>
        </p:nvCxnSpPr>
        <p:spPr>
          <a:xfrm>
            <a:off x="7528968" y="34175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BE96E1D-F1C5-73EC-7FF0-7BB8D65CD5A1}"/>
              </a:ext>
            </a:extLst>
          </p:cNvPr>
          <p:cNvSpPr txBox="1"/>
          <p:nvPr/>
        </p:nvSpPr>
        <p:spPr>
          <a:xfrm>
            <a:off x="9064735" y="1485047"/>
            <a:ext cx="1266693" cy="369332"/>
          </a:xfrm>
          <a:prstGeom prst="rect">
            <a:avLst/>
          </a:prstGeom>
          <a:noFill/>
        </p:spPr>
        <p:txBody>
          <a:bodyPr wrap="none" rtlCol="0">
            <a:spAutoFit/>
          </a:bodyPr>
          <a:lstStyle/>
          <a:p>
            <a:r>
              <a:rPr lang="en-US" b="1" dirty="0"/>
              <a:t>Prediction</a:t>
            </a:r>
          </a:p>
        </p:txBody>
      </p:sp>
      <p:sp>
        <p:nvSpPr>
          <p:cNvPr id="2" name="Freeform 1">
            <a:extLst>
              <a:ext uri="{FF2B5EF4-FFF2-40B4-BE49-F238E27FC236}">
                <a16:creationId xmlns:a16="http://schemas.microsoft.com/office/drawing/2014/main" id="{A44A42BE-75CE-6E16-1845-AFF7217D80C4}"/>
              </a:ext>
            </a:extLst>
          </p:cNvPr>
          <p:cNvSpPr/>
          <p:nvPr/>
        </p:nvSpPr>
        <p:spPr>
          <a:xfrm>
            <a:off x="784900" y="3172049"/>
            <a:ext cx="2480154" cy="451010"/>
          </a:xfrm>
          <a:custGeom>
            <a:avLst/>
            <a:gdLst>
              <a:gd name="csX0" fmla="*/ 0 w 2480154"/>
              <a:gd name="csY0" fmla="*/ 313151 h 451010"/>
              <a:gd name="csX1" fmla="*/ 325677 w 2480154"/>
              <a:gd name="csY1" fmla="*/ 37578 h 451010"/>
              <a:gd name="csX2" fmla="*/ 1139869 w 2480154"/>
              <a:gd name="csY2" fmla="*/ 450937 h 451010"/>
              <a:gd name="csX3" fmla="*/ 2480154 w 2480154"/>
              <a:gd name="csY3" fmla="*/ 0 h 451010"/>
            </a:gdLst>
            <a:ahLst/>
            <a:cxnLst>
              <a:cxn ang="0">
                <a:pos x="csX0" y="csY0"/>
              </a:cxn>
              <a:cxn ang="0">
                <a:pos x="csX1" y="csY1"/>
              </a:cxn>
              <a:cxn ang="0">
                <a:pos x="csX2" y="csY2"/>
              </a:cxn>
              <a:cxn ang="0">
                <a:pos x="csX3" y="csY3"/>
              </a:cxn>
            </a:cxnLst>
            <a:rect l="l" t="t" r="r" b="b"/>
            <a:pathLst>
              <a:path w="2480154" h="451010">
                <a:moveTo>
                  <a:pt x="0" y="313151"/>
                </a:moveTo>
                <a:cubicBezTo>
                  <a:pt x="67849" y="163882"/>
                  <a:pt x="135699" y="14614"/>
                  <a:pt x="325677" y="37578"/>
                </a:cubicBezTo>
                <a:cubicBezTo>
                  <a:pt x="515655" y="60542"/>
                  <a:pt x="780790" y="457200"/>
                  <a:pt x="1139869" y="450937"/>
                </a:cubicBezTo>
                <a:cubicBezTo>
                  <a:pt x="1498948" y="444674"/>
                  <a:pt x="2154477" y="156575"/>
                  <a:pt x="2480154"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4637285-28B2-1288-6DB5-DEC0D7196A33}"/>
                  </a:ext>
                </a:extLst>
              </p:cNvPr>
              <p:cNvSpPr txBox="1"/>
              <p:nvPr/>
            </p:nvSpPr>
            <p:spPr>
              <a:xfrm>
                <a:off x="3104758" y="2595986"/>
                <a:ext cx="56624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Cambria Math" panose="02040503050406030204" pitchFamily="18" charset="0"/>
                            </a:rPr>
                          </m:ctrlPr>
                        </m:sSupPr>
                        <m:e>
                          <m:r>
                            <a:rPr lang="en-US" sz="2200" i="1" smtClean="0">
                              <a:latin typeface="Cambria Math" panose="02040503050406030204" pitchFamily="18" charset="0"/>
                              <a:ea typeface="Cambria Math" panose="02040503050406030204" pitchFamily="18" charset="0"/>
                            </a:rPr>
                            <m:t>𝜇</m:t>
                          </m:r>
                        </m:e>
                        <m:sup>
                          <m:r>
                            <a:rPr lang="en-US" sz="2200" b="0" i="1" smtClean="0">
                              <a:latin typeface="Cambria Math" panose="02040503050406030204" pitchFamily="18" charset="0"/>
                              <a:ea typeface="Cambria Math" panose="02040503050406030204" pitchFamily="18" charset="0"/>
                            </a:rPr>
                            <m:t>−</m:t>
                          </m:r>
                        </m:sup>
                      </m:sSup>
                    </m:oMath>
                  </m:oMathPara>
                </a14:m>
                <a:endParaRPr lang="en-US" sz="2200" dirty="0"/>
              </a:p>
            </p:txBody>
          </p:sp>
        </mc:Choice>
        <mc:Fallback xmlns="">
          <p:sp>
            <p:nvSpPr>
              <p:cNvPr id="3" name="TextBox 2">
                <a:extLst>
                  <a:ext uri="{FF2B5EF4-FFF2-40B4-BE49-F238E27FC236}">
                    <a16:creationId xmlns:a16="http://schemas.microsoft.com/office/drawing/2014/main" id="{44637285-28B2-1288-6DB5-DEC0D7196A33}"/>
                  </a:ext>
                </a:extLst>
              </p:cNvPr>
              <p:cNvSpPr txBox="1">
                <a:spLocks noRot="1" noChangeAspect="1" noMove="1" noResize="1" noEditPoints="1" noAdjustHandles="1" noChangeArrowheads="1" noChangeShapeType="1" noTextEdit="1"/>
              </p:cNvSpPr>
              <p:nvPr/>
            </p:nvSpPr>
            <p:spPr>
              <a:xfrm>
                <a:off x="3104758" y="2595986"/>
                <a:ext cx="566244" cy="430887"/>
              </a:xfrm>
              <a:prstGeom prst="rect">
                <a:avLst/>
              </a:prstGeom>
              <a:blipFill>
                <a:blip r:embed="rId3"/>
                <a:stretch>
                  <a:fillRect b="-2857"/>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EF3BD54C-8CE4-C2FF-052A-31C596C0FF56}"/>
              </a:ext>
            </a:extLst>
          </p:cNvPr>
          <p:cNvCxnSpPr>
            <a:endCxn id="2" idx="3"/>
          </p:cNvCxnSpPr>
          <p:nvPr/>
        </p:nvCxnSpPr>
        <p:spPr>
          <a:xfrm flipV="1">
            <a:off x="2793304" y="3172049"/>
            <a:ext cx="471750" cy="225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573B5E98-9E62-E7A8-02C1-872DDDA6CF0A}"/>
              </a:ext>
            </a:extLst>
          </p:cNvPr>
          <p:cNvSpPr txBox="1"/>
          <p:nvPr/>
        </p:nvSpPr>
        <p:spPr>
          <a:xfrm>
            <a:off x="4104476" y="5779518"/>
            <a:ext cx="4163256" cy="492443"/>
          </a:xfrm>
          <a:prstGeom prst="rect">
            <a:avLst/>
          </a:prstGeom>
          <a:noFill/>
        </p:spPr>
        <p:txBody>
          <a:bodyPr wrap="none" rtlCol="0">
            <a:spAutoFit/>
          </a:bodyPr>
          <a:lstStyle/>
          <a:p>
            <a:r>
              <a:rPr lang="en-US" sz="2600" dirty="0"/>
              <a:t>Inferring physical quantities</a:t>
            </a:r>
          </a:p>
        </p:txBody>
      </p:sp>
    </p:spTree>
    <p:extLst>
      <p:ext uri="{BB962C8B-B14F-4D97-AF65-F5344CB8AC3E}">
        <p14:creationId xmlns:p14="http://schemas.microsoft.com/office/powerpoint/2010/main" val="3780538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CBF1-58F5-D11D-F958-7F7EE69694FD}"/>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AFD8F2F5-9ACA-BC65-14AC-ED6DAE8409A7}"/>
              </a:ext>
            </a:extLst>
          </p:cNvPr>
          <p:cNvCxnSpPr/>
          <p:nvPr/>
        </p:nvCxnSpPr>
        <p:spPr>
          <a:xfrm>
            <a:off x="3805858" y="3438394"/>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392A745-9453-66F6-41FF-0A7C7B61F4FB}"/>
              </a:ext>
            </a:extLst>
          </p:cNvPr>
          <p:cNvSpPr txBox="1"/>
          <p:nvPr/>
        </p:nvSpPr>
        <p:spPr>
          <a:xfrm>
            <a:off x="751562" y="450938"/>
            <a:ext cx="8313173" cy="646331"/>
          </a:xfrm>
          <a:prstGeom prst="rect">
            <a:avLst/>
          </a:prstGeom>
          <a:noFill/>
        </p:spPr>
        <p:txBody>
          <a:bodyPr wrap="none" rtlCol="0">
            <a:spAutoFit/>
          </a:bodyPr>
          <a:lstStyle/>
          <a:p>
            <a:r>
              <a:rPr lang="en-US" sz="3600" dirty="0"/>
              <a:t>What types of problems can FNNs solve?</a:t>
            </a:r>
          </a:p>
        </p:txBody>
      </p:sp>
      <p:sp>
        <p:nvSpPr>
          <p:cNvPr id="8" name="TextBox 7">
            <a:extLst>
              <a:ext uri="{FF2B5EF4-FFF2-40B4-BE49-F238E27FC236}">
                <a16:creationId xmlns:a16="http://schemas.microsoft.com/office/drawing/2014/main" id="{9C6FFF31-B438-1046-8D38-29EC17AA7CB6}"/>
              </a:ext>
            </a:extLst>
          </p:cNvPr>
          <p:cNvSpPr txBox="1"/>
          <p:nvPr/>
        </p:nvSpPr>
        <p:spPr>
          <a:xfrm>
            <a:off x="8876372" y="3115228"/>
            <a:ext cx="2516909" cy="646331"/>
          </a:xfrm>
          <a:prstGeom prst="rect">
            <a:avLst/>
          </a:prstGeom>
          <a:noFill/>
        </p:spPr>
        <p:txBody>
          <a:bodyPr wrap="square" rtlCol="0">
            <a:spAutoFit/>
          </a:bodyPr>
          <a:lstStyle/>
          <a:p>
            <a:pPr algn="ctr"/>
            <a:r>
              <a:rPr lang="en-US" dirty="0"/>
              <a:t>There is a 50% chance of rain</a:t>
            </a:r>
          </a:p>
        </p:txBody>
      </p:sp>
      <p:sp>
        <p:nvSpPr>
          <p:cNvPr id="9" name="TextBox 8">
            <a:extLst>
              <a:ext uri="{FF2B5EF4-FFF2-40B4-BE49-F238E27FC236}">
                <a16:creationId xmlns:a16="http://schemas.microsoft.com/office/drawing/2014/main" id="{C16CDEF8-3F9F-C93A-A716-887479BD7022}"/>
              </a:ext>
            </a:extLst>
          </p:cNvPr>
          <p:cNvSpPr txBox="1"/>
          <p:nvPr/>
        </p:nvSpPr>
        <p:spPr>
          <a:xfrm>
            <a:off x="1848385" y="1485047"/>
            <a:ext cx="736099" cy="369332"/>
          </a:xfrm>
          <a:prstGeom prst="rect">
            <a:avLst/>
          </a:prstGeom>
          <a:noFill/>
        </p:spPr>
        <p:txBody>
          <a:bodyPr wrap="none" rtlCol="0">
            <a:spAutoFit/>
          </a:bodyPr>
          <a:lstStyle/>
          <a:p>
            <a:r>
              <a:rPr lang="en-US" b="1" dirty="0"/>
              <a:t>Input</a:t>
            </a:r>
          </a:p>
        </p:txBody>
      </p:sp>
      <p:sp>
        <p:nvSpPr>
          <p:cNvPr id="10" name="Rectangle 9">
            <a:extLst>
              <a:ext uri="{FF2B5EF4-FFF2-40B4-BE49-F238E27FC236}">
                <a16:creationId xmlns:a16="http://schemas.microsoft.com/office/drawing/2014/main" id="{97F74214-3A92-18AD-4C53-A3ED9DF885E5}"/>
              </a:ext>
            </a:extLst>
          </p:cNvPr>
          <p:cNvSpPr/>
          <p:nvPr/>
        </p:nvSpPr>
        <p:spPr>
          <a:xfrm>
            <a:off x="5088355" y="2591936"/>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cxnSp>
        <p:nvCxnSpPr>
          <p:cNvPr id="11" name="Straight Arrow Connector 10">
            <a:extLst>
              <a:ext uri="{FF2B5EF4-FFF2-40B4-BE49-F238E27FC236}">
                <a16:creationId xmlns:a16="http://schemas.microsoft.com/office/drawing/2014/main" id="{B133C357-E2A0-C491-EB14-A6AF28F6C46A}"/>
              </a:ext>
            </a:extLst>
          </p:cNvPr>
          <p:cNvCxnSpPr/>
          <p:nvPr/>
        </p:nvCxnSpPr>
        <p:spPr>
          <a:xfrm>
            <a:off x="7528968" y="34175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A957B8F-1ACA-9642-AB02-C4314AF97EA3}"/>
              </a:ext>
            </a:extLst>
          </p:cNvPr>
          <p:cNvSpPr txBox="1"/>
          <p:nvPr/>
        </p:nvSpPr>
        <p:spPr>
          <a:xfrm>
            <a:off x="9064735" y="1485047"/>
            <a:ext cx="1266693" cy="369332"/>
          </a:xfrm>
          <a:prstGeom prst="rect">
            <a:avLst/>
          </a:prstGeom>
          <a:noFill/>
        </p:spPr>
        <p:txBody>
          <a:bodyPr wrap="none" rtlCol="0">
            <a:spAutoFit/>
          </a:bodyPr>
          <a:lstStyle/>
          <a:p>
            <a:r>
              <a:rPr lang="en-US" b="1" dirty="0"/>
              <a:t>Prediction</a:t>
            </a:r>
          </a:p>
        </p:txBody>
      </p:sp>
      <p:sp>
        <p:nvSpPr>
          <p:cNvPr id="16" name="TextBox 15">
            <a:extLst>
              <a:ext uri="{FF2B5EF4-FFF2-40B4-BE49-F238E27FC236}">
                <a16:creationId xmlns:a16="http://schemas.microsoft.com/office/drawing/2014/main" id="{69FFB63C-0DD4-FFAB-0FB4-A0FE76B6686B}"/>
              </a:ext>
            </a:extLst>
          </p:cNvPr>
          <p:cNvSpPr txBox="1"/>
          <p:nvPr/>
        </p:nvSpPr>
        <p:spPr>
          <a:xfrm>
            <a:off x="4104476" y="5779518"/>
            <a:ext cx="4163256" cy="492443"/>
          </a:xfrm>
          <a:prstGeom prst="rect">
            <a:avLst/>
          </a:prstGeom>
          <a:noFill/>
        </p:spPr>
        <p:txBody>
          <a:bodyPr wrap="none" rtlCol="0">
            <a:spAutoFit/>
          </a:bodyPr>
          <a:lstStyle/>
          <a:p>
            <a:r>
              <a:rPr lang="en-US" sz="2600" dirty="0"/>
              <a:t>Inferring physical quantities</a:t>
            </a:r>
          </a:p>
        </p:txBody>
      </p:sp>
      <p:pic>
        <p:nvPicPr>
          <p:cNvPr id="2050" name="Picture 2" descr="National Forecast Maps">
            <a:extLst>
              <a:ext uri="{FF2B5EF4-FFF2-40B4-BE49-F238E27FC236}">
                <a16:creationId xmlns:a16="http://schemas.microsoft.com/office/drawing/2014/main" id="{E186ACFC-8E2C-7CB9-37AC-49D309935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356" y="2304647"/>
            <a:ext cx="3009687" cy="2267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92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CFE4-BDD4-C8CB-6B9A-C3A69889C39B}"/>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34D2C839-64F8-62E2-80EC-672DA866984E}"/>
              </a:ext>
            </a:extLst>
          </p:cNvPr>
          <p:cNvCxnSpPr/>
          <p:nvPr/>
        </p:nvCxnSpPr>
        <p:spPr>
          <a:xfrm>
            <a:off x="3383402" y="273817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88B004F-C683-C5A2-1CF5-B93154C024E2}"/>
              </a:ext>
            </a:extLst>
          </p:cNvPr>
          <p:cNvSpPr txBox="1"/>
          <p:nvPr/>
        </p:nvSpPr>
        <p:spPr>
          <a:xfrm>
            <a:off x="751561" y="450938"/>
            <a:ext cx="8956109" cy="646331"/>
          </a:xfrm>
          <a:prstGeom prst="rect">
            <a:avLst/>
          </a:prstGeom>
          <a:noFill/>
        </p:spPr>
        <p:txBody>
          <a:bodyPr wrap="square" rtlCol="0">
            <a:spAutoFit/>
          </a:bodyPr>
          <a:lstStyle/>
          <a:p>
            <a:r>
              <a:rPr lang="en-US" sz="3600" dirty="0"/>
              <a:t>Think of an FFN as a super flexible function. </a:t>
            </a:r>
          </a:p>
        </p:txBody>
      </p:sp>
      <p:sp>
        <p:nvSpPr>
          <p:cNvPr id="10" name="Rectangle 9">
            <a:extLst>
              <a:ext uri="{FF2B5EF4-FFF2-40B4-BE49-F238E27FC236}">
                <a16:creationId xmlns:a16="http://schemas.microsoft.com/office/drawing/2014/main" id="{BE72167D-AAAF-0FFE-9F3E-481EC71004D1}"/>
              </a:ext>
            </a:extLst>
          </p:cNvPr>
          <p:cNvSpPr/>
          <p:nvPr/>
        </p:nvSpPr>
        <p:spPr>
          <a:xfrm>
            <a:off x="4903894" y="1891719"/>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cxnSp>
        <p:nvCxnSpPr>
          <p:cNvPr id="11" name="Straight Arrow Connector 10">
            <a:extLst>
              <a:ext uri="{FF2B5EF4-FFF2-40B4-BE49-F238E27FC236}">
                <a16:creationId xmlns:a16="http://schemas.microsoft.com/office/drawing/2014/main" id="{850806E0-BA3D-A3EF-5B49-22E72A68E281}"/>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FBD6F62-E649-8641-5E5A-827E6FAED47F}"/>
                  </a:ext>
                </a:extLst>
              </p:cNvPr>
              <p:cNvSpPr txBox="1"/>
              <p:nvPr/>
            </p:nvSpPr>
            <p:spPr>
              <a:xfrm>
                <a:off x="751561" y="2415012"/>
                <a:ext cx="2361674" cy="769441"/>
              </a:xfrm>
              <a:prstGeom prst="rect">
                <a:avLst/>
              </a:prstGeom>
              <a:noFill/>
            </p:spPr>
            <p:txBody>
              <a:bodyPr wrap="square" rtlCol="0">
                <a:spAutoFit/>
              </a:bodyPr>
              <a:lstStyle/>
              <a:p>
                <a:pPr algn="ctr"/>
                <a:r>
                  <a:rPr lang="en-US" sz="2200" dirty="0"/>
                  <a:t>Some input data</a:t>
                </a:r>
              </a:p>
              <a:p>
                <a:pPr algn="ctr"/>
                <a14:m>
                  <m:oMathPara xmlns:m="http://schemas.openxmlformats.org/officeDocument/2006/math">
                    <m:oMathParaPr>
                      <m:jc m:val="centerGroup"/>
                    </m:oMathParaPr>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panose="02040503050406030204" pitchFamily="18" charset="0"/>
                            </a:rPr>
                            <m:t>𝑥</m:t>
                          </m:r>
                        </m:e>
                      </m:acc>
                    </m:oMath>
                  </m:oMathPara>
                </a14:m>
                <a:endParaRPr lang="en-US" sz="2200" dirty="0"/>
              </a:p>
            </p:txBody>
          </p:sp>
        </mc:Choice>
        <mc:Fallback xmlns="">
          <p:sp>
            <p:nvSpPr>
              <p:cNvPr id="13" name="TextBox 12">
                <a:extLst>
                  <a:ext uri="{FF2B5EF4-FFF2-40B4-BE49-F238E27FC236}">
                    <a16:creationId xmlns:a16="http://schemas.microsoft.com/office/drawing/2014/main" id="{1FBD6F62-E649-8641-5E5A-827E6FAED47F}"/>
                  </a:ext>
                </a:extLst>
              </p:cNvPr>
              <p:cNvSpPr txBox="1">
                <a:spLocks noRot="1" noChangeAspect="1" noMove="1" noResize="1" noEditPoints="1" noAdjustHandles="1" noChangeArrowheads="1" noChangeShapeType="1" noTextEdit="1"/>
              </p:cNvSpPr>
              <p:nvPr/>
            </p:nvSpPr>
            <p:spPr>
              <a:xfrm>
                <a:off x="751561" y="2415012"/>
                <a:ext cx="2361674" cy="769441"/>
              </a:xfrm>
              <a:prstGeom prst="rect">
                <a:avLst/>
              </a:prstGeom>
              <a:blipFill>
                <a:blip r:embed="rId2"/>
                <a:stretch>
                  <a:fillRect t="-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86B0AE-4875-7C07-A115-19836184796E}"/>
                  </a:ext>
                </a:extLst>
              </p:cNvPr>
              <p:cNvSpPr txBox="1"/>
              <p:nvPr/>
            </p:nvSpPr>
            <p:spPr>
              <a:xfrm>
                <a:off x="8616756" y="2412500"/>
                <a:ext cx="2983799" cy="769441"/>
              </a:xfrm>
              <a:prstGeom prst="rect">
                <a:avLst/>
              </a:prstGeom>
              <a:noFill/>
            </p:spPr>
            <p:txBody>
              <a:bodyPr wrap="square" rtlCol="0">
                <a:spAutoFit/>
              </a:bodyPr>
              <a:lstStyle/>
              <a:p>
                <a:pPr algn="ctr"/>
                <a:r>
                  <a:rPr lang="en-US" sz="2200" dirty="0"/>
                  <a:t>A prediction</a:t>
                </a:r>
              </a:p>
              <a:p>
                <a:pPr algn="ctr"/>
                <a14:m>
                  <m:oMathPara xmlns:m="http://schemas.openxmlformats.org/officeDocument/2006/math">
                    <m:oMathParaPr>
                      <m:jc m:val="centerGroup"/>
                    </m:oMathParaPr>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panose="02040503050406030204" pitchFamily="18" charset="0"/>
                            </a:rPr>
                            <m:t>𝑦</m:t>
                          </m:r>
                        </m:e>
                      </m:acc>
                    </m:oMath>
                  </m:oMathPara>
                </a14:m>
                <a:endParaRPr lang="en-US" sz="2200" dirty="0"/>
              </a:p>
            </p:txBody>
          </p:sp>
        </mc:Choice>
        <mc:Fallback xmlns="">
          <p:sp>
            <p:nvSpPr>
              <p:cNvPr id="14" name="TextBox 13">
                <a:extLst>
                  <a:ext uri="{FF2B5EF4-FFF2-40B4-BE49-F238E27FC236}">
                    <a16:creationId xmlns:a16="http://schemas.microsoft.com/office/drawing/2014/main" id="{9086B0AE-4875-7C07-A115-19836184796E}"/>
                  </a:ext>
                </a:extLst>
              </p:cNvPr>
              <p:cNvSpPr txBox="1">
                <a:spLocks noRot="1" noChangeAspect="1" noMove="1" noResize="1" noEditPoints="1" noAdjustHandles="1" noChangeArrowheads="1" noChangeShapeType="1" noTextEdit="1"/>
              </p:cNvSpPr>
              <p:nvPr/>
            </p:nvSpPr>
            <p:spPr>
              <a:xfrm>
                <a:off x="8616756" y="2412500"/>
                <a:ext cx="2983799" cy="769441"/>
              </a:xfrm>
              <a:prstGeom prst="rect">
                <a:avLst/>
              </a:prstGeom>
              <a:blipFill>
                <a:blip r:embed="rId3"/>
                <a:stretch>
                  <a:fillRect t="-6557" b="-4918"/>
                </a:stretch>
              </a:blipFill>
            </p:spPr>
            <p:txBody>
              <a:bodyPr/>
              <a:lstStyle/>
              <a:p>
                <a:r>
                  <a:rPr lang="en-US">
                    <a:noFill/>
                  </a:rPr>
                  <a:t> </a:t>
                </a:r>
              </a:p>
            </p:txBody>
          </p:sp>
        </mc:Fallback>
      </mc:AlternateContent>
    </p:spTree>
    <p:extLst>
      <p:ext uri="{BB962C8B-B14F-4D97-AF65-F5344CB8AC3E}">
        <p14:creationId xmlns:p14="http://schemas.microsoft.com/office/powerpoint/2010/main" val="2579960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16B1F-A5C9-8322-0F20-139C113E9D19}"/>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96C6AC1C-5807-8BCD-7052-E26715A5E0D8}"/>
              </a:ext>
            </a:extLst>
          </p:cNvPr>
          <p:cNvCxnSpPr/>
          <p:nvPr/>
        </p:nvCxnSpPr>
        <p:spPr>
          <a:xfrm>
            <a:off x="3383402" y="273817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17095DB-CBB4-14FF-D2DD-2FCFD081F2A1}"/>
              </a:ext>
            </a:extLst>
          </p:cNvPr>
          <p:cNvSpPr txBox="1"/>
          <p:nvPr/>
        </p:nvSpPr>
        <p:spPr>
          <a:xfrm>
            <a:off x="751561" y="450938"/>
            <a:ext cx="8956109" cy="646331"/>
          </a:xfrm>
          <a:prstGeom prst="rect">
            <a:avLst/>
          </a:prstGeom>
          <a:noFill/>
        </p:spPr>
        <p:txBody>
          <a:bodyPr wrap="square" rtlCol="0">
            <a:spAutoFit/>
          </a:bodyPr>
          <a:lstStyle/>
          <a:p>
            <a:r>
              <a:rPr lang="en-US" sz="3600" dirty="0"/>
              <a:t>Think of an FFN as a super flexible function. </a:t>
            </a:r>
          </a:p>
        </p:txBody>
      </p:sp>
      <p:sp>
        <p:nvSpPr>
          <p:cNvPr id="10" name="Rectangle 9">
            <a:extLst>
              <a:ext uri="{FF2B5EF4-FFF2-40B4-BE49-F238E27FC236}">
                <a16:creationId xmlns:a16="http://schemas.microsoft.com/office/drawing/2014/main" id="{0BF40D27-B044-250D-4AC6-348A0E77A6DB}"/>
              </a:ext>
            </a:extLst>
          </p:cNvPr>
          <p:cNvSpPr/>
          <p:nvPr/>
        </p:nvSpPr>
        <p:spPr>
          <a:xfrm>
            <a:off x="4903894" y="1891719"/>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cxnSp>
        <p:nvCxnSpPr>
          <p:cNvPr id="11" name="Straight Arrow Connector 10">
            <a:extLst>
              <a:ext uri="{FF2B5EF4-FFF2-40B4-BE49-F238E27FC236}">
                <a16:creationId xmlns:a16="http://schemas.microsoft.com/office/drawing/2014/main" id="{13495290-7AF7-BEEE-B768-4C4350BBF35C}"/>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2210D29-1A42-2378-6FFD-9921E01B1D1F}"/>
                  </a:ext>
                </a:extLst>
              </p:cNvPr>
              <p:cNvSpPr txBox="1"/>
              <p:nvPr/>
            </p:nvSpPr>
            <p:spPr>
              <a:xfrm>
                <a:off x="751561" y="2415012"/>
                <a:ext cx="2361674" cy="769441"/>
              </a:xfrm>
              <a:prstGeom prst="rect">
                <a:avLst/>
              </a:prstGeom>
              <a:noFill/>
            </p:spPr>
            <p:txBody>
              <a:bodyPr wrap="square" rtlCol="0">
                <a:spAutoFit/>
              </a:bodyPr>
              <a:lstStyle/>
              <a:p>
                <a:pPr algn="ctr"/>
                <a:r>
                  <a:rPr lang="en-US" sz="2200" dirty="0"/>
                  <a:t>Some input data</a:t>
                </a:r>
              </a:p>
              <a:p>
                <a:pPr algn="ctr"/>
                <a14:m>
                  <m:oMathPara xmlns:m="http://schemas.openxmlformats.org/officeDocument/2006/math">
                    <m:oMathParaPr>
                      <m:jc m:val="centerGroup"/>
                    </m:oMathParaPr>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panose="02040503050406030204" pitchFamily="18" charset="0"/>
                            </a:rPr>
                            <m:t>𝑥</m:t>
                          </m:r>
                        </m:e>
                      </m:acc>
                    </m:oMath>
                  </m:oMathPara>
                </a14:m>
                <a:endParaRPr lang="en-US" sz="2200" dirty="0"/>
              </a:p>
            </p:txBody>
          </p:sp>
        </mc:Choice>
        <mc:Fallback xmlns="">
          <p:sp>
            <p:nvSpPr>
              <p:cNvPr id="13" name="TextBox 12">
                <a:extLst>
                  <a:ext uri="{FF2B5EF4-FFF2-40B4-BE49-F238E27FC236}">
                    <a16:creationId xmlns:a16="http://schemas.microsoft.com/office/drawing/2014/main" id="{22210D29-1A42-2378-6FFD-9921E01B1D1F}"/>
                  </a:ext>
                </a:extLst>
              </p:cNvPr>
              <p:cNvSpPr txBox="1">
                <a:spLocks noRot="1" noChangeAspect="1" noMove="1" noResize="1" noEditPoints="1" noAdjustHandles="1" noChangeArrowheads="1" noChangeShapeType="1" noTextEdit="1"/>
              </p:cNvSpPr>
              <p:nvPr/>
            </p:nvSpPr>
            <p:spPr>
              <a:xfrm>
                <a:off x="751561" y="2415012"/>
                <a:ext cx="2361674" cy="769441"/>
              </a:xfrm>
              <a:prstGeom prst="rect">
                <a:avLst/>
              </a:prstGeom>
              <a:blipFill>
                <a:blip r:embed="rId2"/>
                <a:stretch>
                  <a:fillRect t="-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381DCC7-EA33-60CF-6F20-6AEDF94B2C3D}"/>
                  </a:ext>
                </a:extLst>
              </p:cNvPr>
              <p:cNvSpPr txBox="1"/>
              <p:nvPr/>
            </p:nvSpPr>
            <p:spPr>
              <a:xfrm>
                <a:off x="8616756" y="2412500"/>
                <a:ext cx="2983799" cy="769441"/>
              </a:xfrm>
              <a:prstGeom prst="rect">
                <a:avLst/>
              </a:prstGeom>
              <a:noFill/>
            </p:spPr>
            <p:txBody>
              <a:bodyPr wrap="square" rtlCol="0">
                <a:spAutoFit/>
              </a:bodyPr>
              <a:lstStyle/>
              <a:p>
                <a:pPr algn="ctr"/>
                <a:r>
                  <a:rPr lang="en-US" sz="2200" dirty="0"/>
                  <a:t>A prediction</a:t>
                </a:r>
              </a:p>
              <a:p>
                <a:pPr algn="ctr"/>
                <a14:m>
                  <m:oMathPara xmlns:m="http://schemas.openxmlformats.org/officeDocument/2006/math">
                    <m:oMathParaPr>
                      <m:jc m:val="centerGroup"/>
                    </m:oMathParaPr>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panose="02040503050406030204" pitchFamily="18" charset="0"/>
                            </a:rPr>
                            <m:t>𝑦</m:t>
                          </m:r>
                        </m:e>
                      </m:acc>
                    </m:oMath>
                  </m:oMathPara>
                </a14:m>
                <a:endParaRPr lang="en-US" sz="2200" dirty="0"/>
              </a:p>
            </p:txBody>
          </p:sp>
        </mc:Choice>
        <mc:Fallback xmlns="">
          <p:sp>
            <p:nvSpPr>
              <p:cNvPr id="14" name="TextBox 13">
                <a:extLst>
                  <a:ext uri="{FF2B5EF4-FFF2-40B4-BE49-F238E27FC236}">
                    <a16:creationId xmlns:a16="http://schemas.microsoft.com/office/drawing/2014/main" id="{7381DCC7-EA33-60CF-6F20-6AEDF94B2C3D}"/>
                  </a:ext>
                </a:extLst>
              </p:cNvPr>
              <p:cNvSpPr txBox="1">
                <a:spLocks noRot="1" noChangeAspect="1" noMove="1" noResize="1" noEditPoints="1" noAdjustHandles="1" noChangeArrowheads="1" noChangeShapeType="1" noTextEdit="1"/>
              </p:cNvSpPr>
              <p:nvPr/>
            </p:nvSpPr>
            <p:spPr>
              <a:xfrm>
                <a:off x="8616756" y="2412500"/>
                <a:ext cx="2983799" cy="769441"/>
              </a:xfrm>
              <a:prstGeom prst="rect">
                <a:avLst/>
              </a:prstGeom>
              <a:blipFill>
                <a:blip r:embed="rId3"/>
                <a:stretch>
                  <a:fillRect t="-6557" b="-4918"/>
                </a:stretch>
              </a:blipFill>
            </p:spPr>
            <p:txBody>
              <a:bodyPr/>
              <a:lstStyle/>
              <a:p>
                <a:r>
                  <a:rPr lang="en-US">
                    <a:noFill/>
                  </a:rPr>
                  <a:t> </a:t>
                </a:r>
              </a:p>
            </p:txBody>
          </p:sp>
        </mc:Fallback>
      </mc:AlternateContent>
      <p:pic>
        <p:nvPicPr>
          <p:cNvPr id="2" name="Picture 2" descr="Audio Control Panel – A320 – Gables Engineering">
            <a:extLst>
              <a:ext uri="{FF2B5EF4-FFF2-40B4-BE49-F238E27FC236}">
                <a16:creationId xmlns:a16="http://schemas.microsoft.com/office/drawing/2014/main" id="{AA845F2B-35EF-56D2-6A68-C0E516A6BE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9475" y="3959895"/>
            <a:ext cx="3974232" cy="238453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1EAEB4C3-8D78-2B73-8EA4-5BBCD51EE7C8}"/>
              </a:ext>
            </a:extLst>
          </p:cNvPr>
          <p:cNvCxnSpPr/>
          <p:nvPr/>
        </p:nvCxnSpPr>
        <p:spPr>
          <a:xfrm flipH="1">
            <a:off x="4121063" y="3584634"/>
            <a:ext cx="757779" cy="498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CD7D31B3-F05E-9A4D-7790-143E49950CCA}"/>
              </a:ext>
            </a:extLst>
          </p:cNvPr>
          <p:cNvCxnSpPr>
            <a:cxnSpLocks/>
          </p:cNvCxnSpPr>
          <p:nvPr/>
        </p:nvCxnSpPr>
        <p:spPr>
          <a:xfrm flipH="1" flipV="1">
            <a:off x="7074341" y="3584634"/>
            <a:ext cx="757779" cy="498852"/>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2FA3BCC-1640-8F18-C27F-599B204903E1}"/>
              </a:ext>
            </a:extLst>
          </p:cNvPr>
          <p:cNvSpPr txBox="1"/>
          <p:nvPr/>
        </p:nvSpPr>
        <p:spPr>
          <a:xfrm>
            <a:off x="5280663" y="3649394"/>
            <a:ext cx="1391856" cy="369332"/>
          </a:xfrm>
          <a:prstGeom prst="rect">
            <a:avLst/>
          </a:prstGeom>
          <a:noFill/>
        </p:spPr>
        <p:txBody>
          <a:bodyPr wrap="none" rtlCol="0">
            <a:spAutoFit/>
          </a:bodyPr>
          <a:lstStyle/>
          <a:p>
            <a:r>
              <a:rPr lang="en-US" b="1" dirty="0"/>
              <a:t>Parameters</a:t>
            </a:r>
          </a:p>
        </p:txBody>
      </p:sp>
    </p:spTree>
    <p:extLst>
      <p:ext uri="{BB962C8B-B14F-4D97-AF65-F5344CB8AC3E}">
        <p14:creationId xmlns:p14="http://schemas.microsoft.com/office/powerpoint/2010/main" val="1771559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E9CE6-65D8-0504-79F0-902E0C635E56}"/>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DEDB7B55-5836-B9A3-2347-568061D9DEE7}"/>
              </a:ext>
            </a:extLst>
          </p:cNvPr>
          <p:cNvCxnSpPr/>
          <p:nvPr/>
        </p:nvCxnSpPr>
        <p:spPr>
          <a:xfrm>
            <a:off x="3383402" y="273817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365929A-473B-C0F2-9865-7BA47516F6C7}"/>
              </a:ext>
            </a:extLst>
          </p:cNvPr>
          <p:cNvSpPr txBox="1"/>
          <p:nvPr/>
        </p:nvSpPr>
        <p:spPr>
          <a:xfrm>
            <a:off x="751561" y="450938"/>
            <a:ext cx="8956109" cy="646331"/>
          </a:xfrm>
          <a:prstGeom prst="rect">
            <a:avLst/>
          </a:prstGeom>
          <a:noFill/>
        </p:spPr>
        <p:txBody>
          <a:bodyPr wrap="square" rtlCol="0">
            <a:spAutoFit/>
          </a:bodyPr>
          <a:lstStyle/>
          <a:p>
            <a:r>
              <a:rPr lang="en-US" sz="3600" dirty="0"/>
              <a:t>Think of an FFN as a super flexible function. </a:t>
            </a:r>
          </a:p>
        </p:txBody>
      </p:sp>
      <p:sp>
        <p:nvSpPr>
          <p:cNvPr id="10" name="Rectangle 9">
            <a:extLst>
              <a:ext uri="{FF2B5EF4-FFF2-40B4-BE49-F238E27FC236}">
                <a16:creationId xmlns:a16="http://schemas.microsoft.com/office/drawing/2014/main" id="{C6FB16E3-E63F-20B1-C5B7-194936C62CD1}"/>
              </a:ext>
            </a:extLst>
          </p:cNvPr>
          <p:cNvSpPr/>
          <p:nvPr/>
        </p:nvSpPr>
        <p:spPr>
          <a:xfrm>
            <a:off x="4903894" y="1891719"/>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cxnSp>
        <p:nvCxnSpPr>
          <p:cNvPr id="11" name="Straight Arrow Connector 10">
            <a:extLst>
              <a:ext uri="{FF2B5EF4-FFF2-40B4-BE49-F238E27FC236}">
                <a16:creationId xmlns:a16="http://schemas.microsoft.com/office/drawing/2014/main" id="{76490B82-B33E-020C-5687-56A0AB655DE5}"/>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5633E0A-5E5C-E1FA-860C-7EDC8EC111D9}"/>
              </a:ext>
            </a:extLst>
          </p:cNvPr>
          <p:cNvSpPr txBox="1"/>
          <p:nvPr/>
        </p:nvSpPr>
        <p:spPr>
          <a:xfrm>
            <a:off x="751561" y="2415012"/>
            <a:ext cx="2361674" cy="430887"/>
          </a:xfrm>
          <a:prstGeom prst="rect">
            <a:avLst/>
          </a:prstGeom>
          <a:noFill/>
        </p:spPr>
        <p:txBody>
          <a:bodyPr wrap="square" rtlCol="0">
            <a:spAutoFit/>
          </a:bodyPr>
          <a:lstStyle/>
          <a:p>
            <a:pPr algn="ctr"/>
            <a:r>
              <a:rPr lang="en-US" sz="2200" dirty="0"/>
              <a:t>Input x</a:t>
            </a:r>
          </a:p>
        </p:txBody>
      </p:sp>
      <p:pic>
        <p:nvPicPr>
          <p:cNvPr id="2" name="Picture 2" descr="Audio Control Panel – A320 – Gables Engineering">
            <a:extLst>
              <a:ext uri="{FF2B5EF4-FFF2-40B4-BE49-F238E27FC236}">
                <a16:creationId xmlns:a16="http://schemas.microsoft.com/office/drawing/2014/main" id="{7CB88FFF-1AEF-3C14-B6D9-9743E45CD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9475" y="3959895"/>
            <a:ext cx="3974232" cy="238453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65DF9BB0-1647-3FCF-D220-F32EB8A57386}"/>
              </a:ext>
            </a:extLst>
          </p:cNvPr>
          <p:cNvCxnSpPr/>
          <p:nvPr/>
        </p:nvCxnSpPr>
        <p:spPr>
          <a:xfrm flipH="1">
            <a:off x="4121063" y="3584634"/>
            <a:ext cx="757779" cy="498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1A1D0866-DC5F-0F65-40BD-C24D8DABD9F0}"/>
              </a:ext>
            </a:extLst>
          </p:cNvPr>
          <p:cNvCxnSpPr>
            <a:cxnSpLocks/>
          </p:cNvCxnSpPr>
          <p:nvPr/>
        </p:nvCxnSpPr>
        <p:spPr>
          <a:xfrm flipH="1" flipV="1">
            <a:off x="7074341" y="3584634"/>
            <a:ext cx="757779" cy="498852"/>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620B7AB-552D-9A4F-A918-CE09BDF17C2E}"/>
              </a:ext>
            </a:extLst>
          </p:cNvPr>
          <p:cNvSpPr txBox="1"/>
          <p:nvPr/>
        </p:nvSpPr>
        <p:spPr>
          <a:xfrm>
            <a:off x="5280663" y="3649394"/>
            <a:ext cx="1391856" cy="369332"/>
          </a:xfrm>
          <a:prstGeom prst="rect">
            <a:avLst/>
          </a:prstGeom>
          <a:noFill/>
        </p:spPr>
        <p:txBody>
          <a:bodyPr wrap="none" rtlCol="0">
            <a:spAutoFit/>
          </a:bodyPr>
          <a:lstStyle/>
          <a:p>
            <a:r>
              <a:rPr lang="en-US" b="1" dirty="0"/>
              <a:t>Parameters</a:t>
            </a:r>
          </a:p>
        </p:txBody>
      </p:sp>
      <p:pic>
        <p:nvPicPr>
          <p:cNvPr id="12" name="Picture 11">
            <a:extLst>
              <a:ext uri="{FF2B5EF4-FFF2-40B4-BE49-F238E27FC236}">
                <a16:creationId xmlns:a16="http://schemas.microsoft.com/office/drawing/2014/main" id="{6051ED55-A352-760C-0922-07CB5066AD0E}"/>
              </a:ext>
            </a:extLst>
          </p:cNvPr>
          <p:cNvPicPr>
            <a:picLocks noChangeAspect="1"/>
          </p:cNvPicPr>
          <p:nvPr/>
        </p:nvPicPr>
        <p:blipFill>
          <a:blip r:embed="rId3"/>
          <a:stretch>
            <a:fillRect/>
          </a:stretch>
        </p:blipFill>
        <p:spPr>
          <a:xfrm>
            <a:off x="9184149" y="1982830"/>
            <a:ext cx="1975172" cy="2168816"/>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E5F671B-8EB7-72DC-98A3-0A58EF0AB674}"/>
                  </a:ext>
                </a:extLst>
              </p:cNvPr>
              <p:cNvSpPr txBox="1"/>
              <p:nvPr/>
            </p:nvSpPr>
            <p:spPr>
              <a:xfrm>
                <a:off x="5154680" y="1293828"/>
                <a:ext cx="169392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𝑓</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𝑥</m:t>
                          </m:r>
                        </m:e>
                      </m:d>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𝑥</m:t>
                          </m:r>
                        </m:e>
                        <m:sup>
                          <m:r>
                            <a:rPr lang="en-US" sz="2600" b="0" i="1" smtClean="0">
                              <a:latin typeface="Cambria Math" panose="02040503050406030204" pitchFamily="18" charset="0"/>
                            </a:rPr>
                            <m:t>2</m:t>
                          </m:r>
                        </m:sup>
                      </m:sSup>
                    </m:oMath>
                  </m:oMathPara>
                </a14:m>
                <a:endParaRPr lang="en-US" sz="2600" dirty="0"/>
              </a:p>
            </p:txBody>
          </p:sp>
        </mc:Choice>
        <mc:Fallback xmlns="">
          <p:sp>
            <p:nvSpPr>
              <p:cNvPr id="16" name="TextBox 15">
                <a:extLst>
                  <a:ext uri="{FF2B5EF4-FFF2-40B4-BE49-F238E27FC236}">
                    <a16:creationId xmlns:a16="http://schemas.microsoft.com/office/drawing/2014/main" id="{CE5F671B-8EB7-72DC-98A3-0A58EF0AB674}"/>
                  </a:ext>
                </a:extLst>
              </p:cNvPr>
              <p:cNvSpPr txBox="1">
                <a:spLocks noRot="1" noChangeAspect="1" noMove="1" noResize="1" noEditPoints="1" noAdjustHandles="1" noChangeArrowheads="1" noChangeShapeType="1" noTextEdit="1"/>
              </p:cNvSpPr>
              <p:nvPr/>
            </p:nvSpPr>
            <p:spPr>
              <a:xfrm>
                <a:off x="5154680" y="1293828"/>
                <a:ext cx="1693925" cy="492443"/>
              </a:xfrm>
              <a:prstGeom prst="rect">
                <a:avLst/>
              </a:prstGeom>
              <a:blipFill>
                <a:blip r:embed="rId4"/>
                <a:stretch>
                  <a:fillRect l="-1493" b="-17500"/>
                </a:stretch>
              </a:blipFill>
            </p:spPr>
            <p:txBody>
              <a:bodyPr/>
              <a:lstStyle/>
              <a:p>
                <a:r>
                  <a:rPr lang="en-US">
                    <a:noFill/>
                  </a:rPr>
                  <a:t> </a:t>
                </a:r>
              </a:p>
            </p:txBody>
          </p:sp>
        </mc:Fallback>
      </mc:AlternateContent>
    </p:spTree>
    <p:extLst>
      <p:ext uri="{BB962C8B-B14F-4D97-AF65-F5344CB8AC3E}">
        <p14:creationId xmlns:p14="http://schemas.microsoft.com/office/powerpoint/2010/main" val="600610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B6491-EEE1-4C3B-5FBE-AAF6A9335000}"/>
              </a:ext>
            </a:extLst>
          </p:cNvPr>
          <p:cNvSpPr>
            <a:spLocks noGrp="1"/>
          </p:cNvSpPr>
          <p:nvPr>
            <p:ph type="title"/>
          </p:nvPr>
        </p:nvSpPr>
        <p:spPr>
          <a:xfrm>
            <a:off x="838200" y="4915583"/>
            <a:ext cx="10515600" cy="1325563"/>
          </a:xfrm>
        </p:spPr>
        <p:txBody>
          <a:bodyPr>
            <a:normAutofit/>
          </a:bodyPr>
          <a:lstStyle/>
          <a:p>
            <a:pPr algn="ctr"/>
            <a:r>
              <a:rPr lang="en-US" dirty="0"/>
              <a:t>If we tune the knobs and dials of an FNN right, we can model any function</a:t>
            </a:r>
          </a:p>
        </p:txBody>
      </p:sp>
      <p:sp>
        <p:nvSpPr>
          <p:cNvPr id="4" name="Rectangle 3">
            <a:extLst>
              <a:ext uri="{FF2B5EF4-FFF2-40B4-BE49-F238E27FC236}">
                <a16:creationId xmlns:a16="http://schemas.microsoft.com/office/drawing/2014/main" id="{C483C5CF-C89C-CD35-E57D-36A39AB6A441}"/>
              </a:ext>
            </a:extLst>
          </p:cNvPr>
          <p:cNvSpPr/>
          <p:nvPr/>
        </p:nvSpPr>
        <p:spPr>
          <a:xfrm>
            <a:off x="4875964" y="260530"/>
            <a:ext cx="2342838"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pic>
        <p:nvPicPr>
          <p:cNvPr id="5" name="Picture 2" descr="Audio Control Panel – A320 – Gables Engineering">
            <a:extLst>
              <a:ext uri="{FF2B5EF4-FFF2-40B4-BE49-F238E27FC236}">
                <a16:creationId xmlns:a16="http://schemas.microsoft.com/office/drawing/2014/main" id="{782A97FF-18FD-EA4C-DB02-620401D42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8884" y="2375794"/>
            <a:ext cx="3974232" cy="23845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747F1F8-2DD9-DFED-ADB9-746F6A134324}"/>
              </a:ext>
            </a:extLst>
          </p:cNvPr>
          <p:cNvSpPr txBox="1"/>
          <p:nvPr/>
        </p:nvSpPr>
        <p:spPr>
          <a:xfrm>
            <a:off x="5400072" y="2065293"/>
            <a:ext cx="1391856" cy="369332"/>
          </a:xfrm>
          <a:prstGeom prst="rect">
            <a:avLst/>
          </a:prstGeom>
          <a:noFill/>
        </p:spPr>
        <p:txBody>
          <a:bodyPr wrap="none" rtlCol="0">
            <a:spAutoFit/>
          </a:bodyPr>
          <a:lstStyle/>
          <a:p>
            <a:r>
              <a:rPr lang="en-US" b="1" dirty="0"/>
              <a:t>Parameters</a:t>
            </a:r>
          </a:p>
        </p:txBody>
      </p:sp>
      <p:cxnSp>
        <p:nvCxnSpPr>
          <p:cNvPr id="7" name="Straight Connector 6">
            <a:extLst>
              <a:ext uri="{FF2B5EF4-FFF2-40B4-BE49-F238E27FC236}">
                <a16:creationId xmlns:a16="http://schemas.microsoft.com/office/drawing/2014/main" id="{265E9651-EE61-732A-541B-63E9D0C79405}"/>
              </a:ext>
            </a:extLst>
          </p:cNvPr>
          <p:cNvCxnSpPr>
            <a:cxnSpLocks/>
          </p:cNvCxnSpPr>
          <p:nvPr/>
        </p:nvCxnSpPr>
        <p:spPr>
          <a:xfrm flipH="1">
            <a:off x="4265524" y="1953445"/>
            <a:ext cx="610440" cy="516525"/>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A7ABE25-1087-F2F7-7669-CCE733A4F848}"/>
              </a:ext>
            </a:extLst>
          </p:cNvPr>
          <p:cNvCxnSpPr>
            <a:cxnSpLocks/>
          </p:cNvCxnSpPr>
          <p:nvPr/>
        </p:nvCxnSpPr>
        <p:spPr>
          <a:xfrm flipH="1" flipV="1">
            <a:off x="7218802" y="1971118"/>
            <a:ext cx="673809" cy="498852"/>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4A68CEA-0799-960C-6AD4-696F82C3786B}"/>
              </a:ext>
            </a:extLst>
          </p:cNvPr>
          <p:cNvSpPr txBox="1"/>
          <p:nvPr/>
        </p:nvSpPr>
        <p:spPr>
          <a:xfrm>
            <a:off x="3159523" y="6396396"/>
            <a:ext cx="5872954" cy="369332"/>
          </a:xfrm>
          <a:prstGeom prst="rect">
            <a:avLst/>
          </a:prstGeom>
          <a:noFill/>
        </p:spPr>
        <p:txBody>
          <a:bodyPr wrap="none" rtlCol="0">
            <a:spAutoFit/>
          </a:bodyPr>
          <a:lstStyle/>
          <a:p>
            <a:r>
              <a:rPr lang="en-US" dirty="0"/>
              <a:t>Mathematically proven! Universal approximation theorem</a:t>
            </a:r>
          </a:p>
        </p:txBody>
      </p:sp>
    </p:spTree>
    <p:extLst>
      <p:ext uri="{BB962C8B-B14F-4D97-AF65-F5344CB8AC3E}">
        <p14:creationId xmlns:p14="http://schemas.microsoft.com/office/powerpoint/2010/main" val="17077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BB11107B-6A5E-4339-FA0D-1CA5921805B0}"/>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oMath>
                  </m:oMathPara>
                </a14:m>
                <a:endParaRPr lang="en-US" dirty="0"/>
              </a:p>
            </p:txBody>
          </p:sp>
        </mc:Choice>
        <mc:Fallback>
          <p:sp>
            <p:nvSpPr>
              <p:cNvPr id="4" name="Oval 3">
                <a:extLst>
                  <a:ext uri="{FF2B5EF4-FFF2-40B4-BE49-F238E27FC236}">
                    <a16:creationId xmlns:a16="http://schemas.microsoft.com/office/drawing/2014/main" id="{BB11107B-6A5E-4339-FA0D-1CA5921805B0}"/>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213CF7A2-EE33-3B9A-28EE-FCB5A701F8D8}"/>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8E8188-434C-00F4-50D4-4D14DCC20C22}"/>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5A17981-5A75-8C1C-B583-D9B283347372}"/>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E30E2FDD-396F-22C0-BB46-75EB3C9CA7E9}"/>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E30E2FDD-396F-22C0-BB46-75EB3C9CA7E9}"/>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A71D6652-6CD6-6709-0188-70592A1E4D4A}"/>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A71D6652-6CD6-6709-0188-70592A1E4D4A}"/>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1E462568-46F2-FBF9-0D27-66AF3B2D8A97}"/>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1E462568-46F2-FBF9-0D27-66AF3B2D8A97}"/>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DDA116AD-9931-8B58-866A-FA9A7E227139}"/>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DDA116AD-9931-8B58-866A-FA9A7E227139}"/>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8BB07DA1-6F04-006E-4086-DC9753CBB6C8}"/>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8BB07DA1-6F04-006E-4086-DC9753CBB6C8}"/>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0B4C9349-210B-6BFD-3813-6B9BD2A73CA0}"/>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0B4C9349-210B-6BFD-3813-6B9BD2A73CA0}"/>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BECA7C5B-600C-CDBD-B283-DF530C4210B2}"/>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BECA7C5B-600C-CDBD-B283-DF530C4210B2}"/>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C3653C3A-406A-9EFB-D5DA-0B6D9E6836CE}"/>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49954D4-9662-B3ED-17FD-E5E030D99010}"/>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63214E2-0C06-E962-2B26-B90890673029}"/>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458F26C-10D4-AB21-C4E4-67BB8DDDCD42}"/>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4CD4CC0-C0BF-FB57-3E8D-F2ECB5F2CF13}"/>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0F8906B-D1C1-0370-FDBA-7366FA18F9F7}"/>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55B6AD6-69E0-6526-1307-2B8FFCD955D7}"/>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4BA0600-0FB5-052D-B714-A70B7B5B05FA}"/>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1031E4F-A581-28FD-DF8D-609977E98CC8}"/>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1AF4A43-C869-903A-C0D6-62F9D6F59942}"/>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89A3A78C-D4AD-B738-8892-DB5B94AA0BB2}"/>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0C777621-EFE0-F735-50A6-CB8F07926480}"/>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807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EEA1-3D1B-A371-8D9A-BF7FD941A67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491A2F30-71D6-31E7-02DA-C0A6DC18EC43}"/>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oMath>
                  </m:oMathPara>
                </a14:m>
                <a:endParaRPr lang="en-US" dirty="0"/>
              </a:p>
            </p:txBody>
          </p:sp>
        </mc:Choice>
        <mc:Fallback>
          <p:sp>
            <p:nvSpPr>
              <p:cNvPr id="4" name="Oval 3">
                <a:extLst>
                  <a:ext uri="{FF2B5EF4-FFF2-40B4-BE49-F238E27FC236}">
                    <a16:creationId xmlns:a16="http://schemas.microsoft.com/office/drawing/2014/main" id="{491A2F30-71D6-31E7-02DA-C0A6DC18EC43}"/>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6816EB65-C9AE-15FF-A439-C944683E3111}"/>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CA3B49D-CA41-FF2C-04B1-124CBB959053}"/>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569E8FB-7447-2678-C3C8-2D29CD832A06}"/>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EBA41B2B-70FB-3B57-4354-30239CCBCDAE}"/>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EBA41B2B-70FB-3B57-4354-30239CCBCDAE}"/>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3977DA6C-7962-3C5D-8653-9B6B176CFCBC}"/>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3977DA6C-7962-3C5D-8653-9B6B176CFCBC}"/>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FA0B05AE-2431-4D34-E91A-971E5D9226A7}"/>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FA0B05AE-2431-4D34-E91A-971E5D9226A7}"/>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0D8FAC0B-FB15-5D0E-4DBE-76C6723676CD}"/>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0D8FAC0B-FB15-5D0E-4DBE-76C6723676CD}"/>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DD398474-4B83-146F-BB4F-CFAEA59619CA}"/>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DD398474-4B83-146F-BB4F-CFAEA59619CA}"/>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2941E29A-DFEA-7154-0D5E-0D15DE2F8046}"/>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2941E29A-DFEA-7154-0D5E-0D15DE2F8046}"/>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4EB38F96-30FB-0AE1-ED94-B61B622EA831}"/>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4EB38F96-30FB-0AE1-ED94-B61B622EA831}"/>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3936A99D-AF8B-5234-7638-489927AF2D2D}"/>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A334428-73B5-0AC2-957E-A8919566B665}"/>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B7CB765-FA65-8BEF-F3F3-66026F9F5F0C}"/>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999D6A8-5286-824C-A048-897E6153FE17}"/>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C38F307-4927-37F5-1286-39F3787251CC}"/>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5CC605-5CE8-FEBD-8276-3B5D14FEEC16}"/>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666B1D2-5E87-9A74-B752-0FBDC294E798}"/>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48A847C-69BD-01FC-8CFD-14A0ECDA5128}"/>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BE6FD62-5FCD-5681-2E97-6E7CA37C081E}"/>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27B6768D-76A8-D33F-7922-93BFC64A04CC}"/>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86428799-067D-A325-5867-ED09847B36CC}"/>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BB92CD3-1056-06C9-D81B-9E01286BFE47}"/>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3D02C73-2C9A-6C1F-4488-1DB0C0A50294}"/>
                  </a:ext>
                </a:extLst>
              </p:cNvPr>
              <p:cNvSpPr txBox="1"/>
              <p:nvPr/>
            </p:nvSpPr>
            <p:spPr>
              <a:xfrm>
                <a:off x="3065103" y="2309354"/>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=3</m:t>
                      </m:r>
                    </m:oMath>
                  </m:oMathPara>
                </a14:m>
                <a:endParaRPr lang="en-US" dirty="0">
                  <a:solidFill>
                    <a:srgbClr val="00B050"/>
                  </a:solidFill>
                </a:endParaRPr>
              </a:p>
            </p:txBody>
          </p:sp>
        </mc:Choice>
        <mc:Fallback>
          <p:sp>
            <p:nvSpPr>
              <p:cNvPr id="3" name="TextBox 2">
                <a:extLst>
                  <a:ext uri="{FF2B5EF4-FFF2-40B4-BE49-F238E27FC236}">
                    <a16:creationId xmlns:a16="http://schemas.microsoft.com/office/drawing/2014/main" id="{63D02C73-2C9A-6C1F-4488-1DB0C0A50294}"/>
                  </a:ext>
                </a:extLst>
              </p:cNvPr>
              <p:cNvSpPr txBox="1">
                <a:spLocks noRot="1" noChangeAspect="1" noMove="1" noResize="1" noEditPoints="1" noAdjustHandles="1" noChangeArrowheads="1" noChangeShapeType="1" noTextEdit="1"/>
              </p:cNvSpPr>
              <p:nvPr/>
            </p:nvSpPr>
            <p:spPr>
              <a:xfrm>
                <a:off x="3065103" y="2309354"/>
                <a:ext cx="837409"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D55B60F-9CC8-A495-3F35-57F5BF601C32}"/>
                  </a:ext>
                </a:extLst>
              </p:cNvPr>
              <p:cNvSpPr txBox="1"/>
              <p:nvPr/>
            </p:nvSpPr>
            <p:spPr>
              <a:xfrm>
                <a:off x="3413538" y="2894958"/>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12" name="TextBox 11">
                <a:extLst>
                  <a:ext uri="{FF2B5EF4-FFF2-40B4-BE49-F238E27FC236}">
                    <a16:creationId xmlns:a16="http://schemas.microsoft.com/office/drawing/2014/main" id="{CD55B60F-9CC8-A495-3F35-57F5BF601C32}"/>
                  </a:ext>
                </a:extLst>
              </p:cNvPr>
              <p:cNvSpPr txBox="1">
                <a:spLocks noRot="1" noChangeAspect="1" noMove="1" noResize="1" noEditPoints="1" noAdjustHandles="1" noChangeArrowheads="1" noChangeShapeType="1" noTextEdit="1"/>
              </p:cNvSpPr>
              <p:nvPr/>
            </p:nvSpPr>
            <p:spPr>
              <a:xfrm>
                <a:off x="3413538" y="2894958"/>
                <a:ext cx="101053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50554C6-584D-0938-B3B3-00AA5FA920FF}"/>
                  </a:ext>
                </a:extLst>
              </p:cNvPr>
              <p:cNvSpPr txBox="1"/>
              <p:nvPr/>
            </p:nvSpPr>
            <p:spPr>
              <a:xfrm>
                <a:off x="3630019" y="3677383"/>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5" name="TextBox 14">
                <a:extLst>
                  <a:ext uri="{FF2B5EF4-FFF2-40B4-BE49-F238E27FC236}">
                    <a16:creationId xmlns:a16="http://schemas.microsoft.com/office/drawing/2014/main" id="{650554C6-584D-0938-B3B3-00AA5FA920FF}"/>
                  </a:ext>
                </a:extLst>
              </p:cNvPr>
              <p:cNvSpPr txBox="1">
                <a:spLocks noRot="1" noChangeAspect="1" noMove="1" noResize="1" noEditPoints="1" noAdjustHandles="1" noChangeArrowheads="1" noChangeShapeType="1" noTextEdit="1"/>
              </p:cNvSpPr>
              <p:nvPr/>
            </p:nvSpPr>
            <p:spPr>
              <a:xfrm>
                <a:off x="3630019" y="3677383"/>
                <a:ext cx="837409"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96BEBA8-DC85-3370-4BE7-8D61BC21541D}"/>
                  </a:ext>
                </a:extLst>
              </p:cNvPr>
              <p:cNvSpPr txBox="1"/>
              <p:nvPr/>
            </p:nvSpPr>
            <p:spPr>
              <a:xfrm>
                <a:off x="5581205" y="260662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6" name="TextBox 15">
                <a:extLst>
                  <a:ext uri="{FF2B5EF4-FFF2-40B4-BE49-F238E27FC236}">
                    <a16:creationId xmlns:a16="http://schemas.microsoft.com/office/drawing/2014/main" id="{C96BEBA8-DC85-3370-4BE7-8D61BC21541D}"/>
                  </a:ext>
                </a:extLst>
              </p:cNvPr>
              <p:cNvSpPr txBox="1">
                <a:spLocks noRot="1" noChangeAspect="1" noMove="1" noResize="1" noEditPoints="1" noAdjustHandles="1" noChangeArrowheads="1" noChangeShapeType="1" noTextEdit="1"/>
              </p:cNvSpPr>
              <p:nvPr/>
            </p:nvSpPr>
            <p:spPr>
              <a:xfrm>
                <a:off x="5581205" y="2606621"/>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A6E41B-F0DC-FA05-41C7-1807A37EAEBD}"/>
                  </a:ext>
                </a:extLst>
              </p:cNvPr>
              <p:cNvSpPr txBox="1"/>
              <p:nvPr/>
            </p:nvSpPr>
            <p:spPr>
              <a:xfrm>
                <a:off x="5733605" y="275902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8" name="TextBox 17">
                <a:extLst>
                  <a:ext uri="{FF2B5EF4-FFF2-40B4-BE49-F238E27FC236}">
                    <a16:creationId xmlns:a16="http://schemas.microsoft.com/office/drawing/2014/main" id="{BEA6E41B-F0DC-FA05-41C7-1807A37EAEBD}"/>
                  </a:ext>
                </a:extLst>
              </p:cNvPr>
              <p:cNvSpPr txBox="1">
                <a:spLocks noRot="1" noChangeAspect="1" noMove="1" noResize="1" noEditPoints="1" noAdjustHandles="1" noChangeArrowheads="1" noChangeShapeType="1" noTextEdit="1"/>
              </p:cNvSpPr>
              <p:nvPr/>
            </p:nvSpPr>
            <p:spPr>
              <a:xfrm>
                <a:off x="5733605" y="2759021"/>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2F093593-C949-D8CB-7F1F-0347ECABCE75}"/>
                  </a:ext>
                </a:extLst>
              </p:cNvPr>
              <p:cNvSpPr txBox="1"/>
              <p:nvPr/>
            </p:nvSpPr>
            <p:spPr>
              <a:xfrm>
                <a:off x="5886005" y="291142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9" name="TextBox 18">
                <a:extLst>
                  <a:ext uri="{FF2B5EF4-FFF2-40B4-BE49-F238E27FC236}">
                    <a16:creationId xmlns:a16="http://schemas.microsoft.com/office/drawing/2014/main" id="{2F093593-C949-D8CB-7F1F-0347ECABCE75}"/>
                  </a:ext>
                </a:extLst>
              </p:cNvPr>
              <p:cNvSpPr txBox="1">
                <a:spLocks noRot="1" noChangeAspect="1" noMove="1" noResize="1" noEditPoints="1" noAdjustHandles="1" noChangeArrowheads="1" noChangeShapeType="1" noTextEdit="1"/>
              </p:cNvSpPr>
              <p:nvPr/>
            </p:nvSpPr>
            <p:spPr>
              <a:xfrm>
                <a:off x="5886005" y="2911421"/>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ADC84E30-6BF8-62D5-211C-E8C352DD3FB1}"/>
                  </a:ext>
                </a:extLst>
              </p:cNvPr>
              <p:cNvSpPr txBox="1"/>
              <p:nvPr/>
            </p:nvSpPr>
            <p:spPr>
              <a:xfrm>
                <a:off x="5667151" y="307221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1" name="TextBox 20">
                <a:extLst>
                  <a:ext uri="{FF2B5EF4-FFF2-40B4-BE49-F238E27FC236}">
                    <a16:creationId xmlns:a16="http://schemas.microsoft.com/office/drawing/2014/main" id="{ADC84E30-6BF8-62D5-211C-E8C352DD3FB1}"/>
                  </a:ext>
                </a:extLst>
              </p:cNvPr>
              <p:cNvSpPr txBox="1">
                <a:spLocks noRot="1" noChangeAspect="1" noMove="1" noResize="1" noEditPoints="1" noAdjustHandles="1" noChangeArrowheads="1" noChangeShapeType="1" noTextEdit="1"/>
              </p:cNvSpPr>
              <p:nvPr/>
            </p:nvSpPr>
            <p:spPr>
              <a:xfrm>
                <a:off x="5667151" y="307221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9FD5ED99-E40F-ACC4-DD6B-A79A5528E818}"/>
                  </a:ext>
                </a:extLst>
              </p:cNvPr>
              <p:cNvSpPr txBox="1"/>
              <p:nvPr/>
            </p:nvSpPr>
            <p:spPr>
              <a:xfrm>
                <a:off x="5807000" y="326800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2" name="TextBox 21">
                <a:extLst>
                  <a:ext uri="{FF2B5EF4-FFF2-40B4-BE49-F238E27FC236}">
                    <a16:creationId xmlns:a16="http://schemas.microsoft.com/office/drawing/2014/main" id="{9FD5ED99-E40F-ACC4-DD6B-A79A5528E818}"/>
                  </a:ext>
                </a:extLst>
              </p:cNvPr>
              <p:cNvSpPr txBox="1">
                <a:spLocks noRot="1" noChangeAspect="1" noMove="1" noResize="1" noEditPoints="1" noAdjustHandles="1" noChangeArrowheads="1" noChangeShapeType="1" noTextEdit="1"/>
              </p:cNvSpPr>
              <p:nvPr/>
            </p:nvSpPr>
            <p:spPr>
              <a:xfrm>
                <a:off x="5807000" y="3268006"/>
                <a:ext cx="837409"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B6FAAA8B-31EF-F3B7-47C2-7109ED33682B}"/>
                  </a:ext>
                </a:extLst>
              </p:cNvPr>
              <p:cNvSpPr txBox="1"/>
              <p:nvPr/>
            </p:nvSpPr>
            <p:spPr>
              <a:xfrm>
                <a:off x="5739774" y="357988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4" name="TextBox 23">
                <a:extLst>
                  <a:ext uri="{FF2B5EF4-FFF2-40B4-BE49-F238E27FC236}">
                    <a16:creationId xmlns:a16="http://schemas.microsoft.com/office/drawing/2014/main" id="{B6FAAA8B-31EF-F3B7-47C2-7109ED33682B}"/>
                  </a:ext>
                </a:extLst>
              </p:cNvPr>
              <p:cNvSpPr txBox="1">
                <a:spLocks noRot="1" noChangeAspect="1" noMove="1" noResize="1" noEditPoints="1" noAdjustHandles="1" noChangeArrowheads="1" noChangeShapeType="1" noTextEdit="1"/>
              </p:cNvSpPr>
              <p:nvPr/>
            </p:nvSpPr>
            <p:spPr>
              <a:xfrm>
                <a:off x="5739774" y="3579886"/>
                <a:ext cx="837409"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33A62838-3303-7EF8-E225-DA088E01F99C}"/>
                  </a:ext>
                </a:extLst>
              </p:cNvPr>
              <p:cNvSpPr txBox="1"/>
              <p:nvPr/>
            </p:nvSpPr>
            <p:spPr>
              <a:xfrm>
                <a:off x="5677295" y="372903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5" name="TextBox 24">
                <a:extLst>
                  <a:ext uri="{FF2B5EF4-FFF2-40B4-BE49-F238E27FC236}">
                    <a16:creationId xmlns:a16="http://schemas.microsoft.com/office/drawing/2014/main" id="{33A62838-3303-7EF8-E225-DA088E01F99C}"/>
                  </a:ext>
                </a:extLst>
              </p:cNvPr>
              <p:cNvSpPr txBox="1">
                <a:spLocks noRot="1" noChangeAspect="1" noMove="1" noResize="1" noEditPoints="1" noAdjustHandles="1" noChangeArrowheads="1" noChangeShapeType="1" noTextEdit="1"/>
              </p:cNvSpPr>
              <p:nvPr/>
            </p:nvSpPr>
            <p:spPr>
              <a:xfrm>
                <a:off x="5677295" y="3729030"/>
                <a:ext cx="837409"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5C0EF047-CF56-E01D-DA36-B6022E36AD47}"/>
                  </a:ext>
                </a:extLst>
              </p:cNvPr>
              <p:cNvSpPr txBox="1"/>
              <p:nvPr/>
            </p:nvSpPr>
            <p:spPr>
              <a:xfrm>
                <a:off x="8072894" y="224200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27" name="TextBox 26">
                <a:extLst>
                  <a:ext uri="{FF2B5EF4-FFF2-40B4-BE49-F238E27FC236}">
                    <a16:creationId xmlns:a16="http://schemas.microsoft.com/office/drawing/2014/main" id="{5C0EF047-CF56-E01D-DA36-B6022E36AD47}"/>
                  </a:ext>
                </a:extLst>
              </p:cNvPr>
              <p:cNvSpPr txBox="1">
                <a:spLocks noRot="1" noChangeAspect="1" noMove="1" noResize="1" noEditPoints="1" noAdjustHandles="1" noChangeArrowheads="1" noChangeShapeType="1" noTextEdit="1"/>
              </p:cNvSpPr>
              <p:nvPr/>
            </p:nvSpPr>
            <p:spPr>
              <a:xfrm>
                <a:off x="8072894" y="2242001"/>
                <a:ext cx="83740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3426719F-2DB6-1FD7-3F9E-75FE4F594D99}"/>
                  </a:ext>
                </a:extLst>
              </p:cNvPr>
              <p:cNvSpPr txBox="1"/>
              <p:nvPr/>
            </p:nvSpPr>
            <p:spPr>
              <a:xfrm>
                <a:off x="8112641" y="290724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=5</m:t>
                      </m:r>
                    </m:oMath>
                  </m:oMathPara>
                </a14:m>
                <a:endParaRPr lang="en-US" dirty="0">
                  <a:solidFill>
                    <a:srgbClr val="00B050"/>
                  </a:solidFill>
                </a:endParaRPr>
              </a:p>
            </p:txBody>
          </p:sp>
        </mc:Choice>
        <mc:Fallback>
          <p:sp>
            <p:nvSpPr>
              <p:cNvPr id="28" name="TextBox 27">
                <a:extLst>
                  <a:ext uri="{FF2B5EF4-FFF2-40B4-BE49-F238E27FC236}">
                    <a16:creationId xmlns:a16="http://schemas.microsoft.com/office/drawing/2014/main" id="{3426719F-2DB6-1FD7-3F9E-75FE4F594D99}"/>
                  </a:ext>
                </a:extLst>
              </p:cNvPr>
              <p:cNvSpPr txBox="1">
                <a:spLocks noRot="1" noChangeAspect="1" noMove="1" noResize="1" noEditPoints="1" noAdjustHandles="1" noChangeArrowheads="1" noChangeShapeType="1" noTextEdit="1"/>
              </p:cNvSpPr>
              <p:nvPr/>
            </p:nvSpPr>
            <p:spPr>
              <a:xfrm>
                <a:off x="8112641" y="2907246"/>
                <a:ext cx="837409"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EF160E01-44B4-969F-7E0A-031CBD7C4622}"/>
                  </a:ext>
                </a:extLst>
              </p:cNvPr>
              <p:cNvSpPr txBox="1"/>
              <p:nvPr/>
            </p:nvSpPr>
            <p:spPr>
              <a:xfrm>
                <a:off x="7856992" y="3524492"/>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32" name="TextBox 31">
                <a:extLst>
                  <a:ext uri="{FF2B5EF4-FFF2-40B4-BE49-F238E27FC236}">
                    <a16:creationId xmlns:a16="http://schemas.microsoft.com/office/drawing/2014/main" id="{EF160E01-44B4-969F-7E0A-031CBD7C4622}"/>
                  </a:ext>
                </a:extLst>
              </p:cNvPr>
              <p:cNvSpPr txBox="1">
                <a:spLocks noRot="1" noChangeAspect="1" noMove="1" noResize="1" noEditPoints="1" noAdjustHandles="1" noChangeArrowheads="1" noChangeShapeType="1" noTextEdit="1"/>
              </p:cNvSpPr>
              <p:nvPr/>
            </p:nvSpPr>
            <p:spPr>
              <a:xfrm>
                <a:off x="7856992" y="3524492"/>
                <a:ext cx="1010533" cy="369332"/>
              </a:xfrm>
              <a:prstGeom prst="rect">
                <a:avLst/>
              </a:prstGeom>
              <a:blipFill>
                <a:blip r:embed="rId20"/>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FB438269-1CFE-4E15-F8AA-B7C5CBDF02CE}"/>
              </a:ext>
            </a:extLst>
          </p:cNvPr>
          <p:cNvSpPr txBox="1"/>
          <p:nvPr/>
        </p:nvSpPr>
        <p:spPr>
          <a:xfrm>
            <a:off x="569095" y="474783"/>
            <a:ext cx="10861628" cy="646331"/>
          </a:xfrm>
          <a:prstGeom prst="rect">
            <a:avLst/>
          </a:prstGeom>
          <a:noFill/>
        </p:spPr>
        <p:txBody>
          <a:bodyPr wrap="none" rtlCol="0">
            <a:spAutoFit/>
          </a:bodyPr>
          <a:lstStyle/>
          <a:p>
            <a:r>
              <a:rPr lang="en-US" sz="3600" dirty="0"/>
              <a:t>The parameters of our network are weights and biases</a:t>
            </a:r>
          </a:p>
        </p:txBody>
      </p:sp>
      <p:sp>
        <p:nvSpPr>
          <p:cNvPr id="34" name="TextBox 33">
            <a:extLst>
              <a:ext uri="{FF2B5EF4-FFF2-40B4-BE49-F238E27FC236}">
                <a16:creationId xmlns:a16="http://schemas.microsoft.com/office/drawing/2014/main" id="{99B41DFB-2CDE-59FF-A6CD-6D0FFE213B84}"/>
              </a:ext>
            </a:extLst>
          </p:cNvPr>
          <p:cNvSpPr txBox="1"/>
          <p:nvPr/>
        </p:nvSpPr>
        <p:spPr>
          <a:xfrm>
            <a:off x="680482" y="1202324"/>
            <a:ext cx="3743589" cy="369332"/>
          </a:xfrm>
          <a:prstGeom prst="rect">
            <a:avLst/>
          </a:prstGeom>
          <a:noFill/>
        </p:spPr>
        <p:txBody>
          <a:bodyPr wrap="none" rtlCol="0">
            <a:spAutoFit/>
          </a:bodyPr>
          <a:lstStyle/>
          <a:p>
            <a:r>
              <a:rPr lang="en-US" dirty="0"/>
              <a:t>A weight associated with every edge</a:t>
            </a:r>
          </a:p>
        </p:txBody>
      </p:sp>
    </p:spTree>
    <p:extLst>
      <p:ext uri="{BB962C8B-B14F-4D97-AF65-F5344CB8AC3E}">
        <p14:creationId xmlns:p14="http://schemas.microsoft.com/office/powerpoint/2010/main" val="1877627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593BC-0465-7E7D-963D-964F899BC02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C945C95F-281D-F73A-5A0B-272B1D98F66D}"/>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oMath>
                  </m:oMathPara>
                </a14:m>
                <a:endParaRPr lang="en-US" dirty="0"/>
              </a:p>
            </p:txBody>
          </p:sp>
        </mc:Choice>
        <mc:Fallback>
          <p:sp>
            <p:nvSpPr>
              <p:cNvPr id="4" name="Oval 3">
                <a:extLst>
                  <a:ext uri="{FF2B5EF4-FFF2-40B4-BE49-F238E27FC236}">
                    <a16:creationId xmlns:a16="http://schemas.microsoft.com/office/drawing/2014/main" id="{C945C95F-281D-F73A-5A0B-272B1D98F66D}"/>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CF7D548F-7B69-49D9-8153-BF7C7E94CB62}"/>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5E64A1C-37B8-146C-45C9-4B9C5E1CA772}"/>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E55442A-5072-CFA9-0E7C-129583048A92}"/>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88178E4A-16D0-8767-E6AC-AEB5D8A074C7}"/>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88178E4A-16D0-8767-E6AC-AEB5D8A074C7}"/>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B7BE6F89-6B44-6E20-9CA4-81C7F240A168}"/>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B7BE6F89-6B44-6E20-9CA4-81C7F240A168}"/>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2ED05B97-2F20-3DF0-D83D-F9C881DA731C}"/>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2ED05B97-2F20-3DF0-D83D-F9C881DA731C}"/>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F327DF1C-4200-62BA-576E-55B9F99A8717}"/>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F327DF1C-4200-62BA-576E-55B9F99A8717}"/>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D51D3482-4B58-76BC-820D-7A34EE879C9A}"/>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D51D3482-4B58-76BC-820D-7A34EE879C9A}"/>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00AF93DB-B7BF-9494-3079-C100AD88D3A7}"/>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00AF93DB-B7BF-9494-3079-C100AD88D3A7}"/>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E108169B-A139-72AB-086B-EBBA3D0524C2}"/>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E108169B-A139-72AB-086B-EBBA3D0524C2}"/>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5CDA1649-5D14-D5C6-3B59-5F3D2FA897CA}"/>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8EE1196-DFFC-D05C-08B6-18CC5F1C04F0}"/>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EAC3DCA-5B7F-2541-ECF8-306D790E4B6F}"/>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9BD8642-C05A-122E-9D2E-C8E7A1B51F90}"/>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42BFDB6B-99C2-0A12-092C-5848DAFB0DF9}"/>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A3FC251-A22C-9373-FF87-C911FDD353DE}"/>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96D6AAE-0390-B4D5-097F-464931C4A23F}"/>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453E797-7C26-AD29-707C-2879737CDC58}"/>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C820D50-196D-27A9-6E6A-E91FEDC67AC2}"/>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0FDD217-FC4E-CAE6-B17B-549345399F07}"/>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9A8E9D5B-6B48-572F-FE14-539B7B2E36A1}"/>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2625BA63-F121-9772-0EAB-B469E66CE97C}"/>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9E63784-4836-FFBA-B748-7D256D7DE1A0}"/>
                  </a:ext>
                </a:extLst>
              </p:cNvPr>
              <p:cNvSpPr txBox="1"/>
              <p:nvPr/>
            </p:nvSpPr>
            <p:spPr>
              <a:xfrm>
                <a:off x="3065103" y="2309354"/>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=3</m:t>
                      </m:r>
                    </m:oMath>
                  </m:oMathPara>
                </a14:m>
                <a:endParaRPr lang="en-US" dirty="0">
                  <a:solidFill>
                    <a:srgbClr val="00B050"/>
                  </a:solidFill>
                </a:endParaRPr>
              </a:p>
            </p:txBody>
          </p:sp>
        </mc:Choice>
        <mc:Fallback>
          <p:sp>
            <p:nvSpPr>
              <p:cNvPr id="3" name="TextBox 2">
                <a:extLst>
                  <a:ext uri="{FF2B5EF4-FFF2-40B4-BE49-F238E27FC236}">
                    <a16:creationId xmlns:a16="http://schemas.microsoft.com/office/drawing/2014/main" id="{B9E63784-4836-FFBA-B748-7D256D7DE1A0}"/>
                  </a:ext>
                </a:extLst>
              </p:cNvPr>
              <p:cNvSpPr txBox="1">
                <a:spLocks noRot="1" noChangeAspect="1" noMove="1" noResize="1" noEditPoints="1" noAdjustHandles="1" noChangeArrowheads="1" noChangeShapeType="1" noTextEdit="1"/>
              </p:cNvSpPr>
              <p:nvPr/>
            </p:nvSpPr>
            <p:spPr>
              <a:xfrm>
                <a:off x="3065103" y="2309354"/>
                <a:ext cx="837409"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7605740-FB01-B4EC-47A5-650DFB5E5B87}"/>
                  </a:ext>
                </a:extLst>
              </p:cNvPr>
              <p:cNvSpPr txBox="1"/>
              <p:nvPr/>
            </p:nvSpPr>
            <p:spPr>
              <a:xfrm>
                <a:off x="3413538" y="2894958"/>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12" name="TextBox 11">
                <a:extLst>
                  <a:ext uri="{FF2B5EF4-FFF2-40B4-BE49-F238E27FC236}">
                    <a16:creationId xmlns:a16="http://schemas.microsoft.com/office/drawing/2014/main" id="{A7605740-FB01-B4EC-47A5-650DFB5E5B87}"/>
                  </a:ext>
                </a:extLst>
              </p:cNvPr>
              <p:cNvSpPr txBox="1">
                <a:spLocks noRot="1" noChangeAspect="1" noMove="1" noResize="1" noEditPoints="1" noAdjustHandles="1" noChangeArrowheads="1" noChangeShapeType="1" noTextEdit="1"/>
              </p:cNvSpPr>
              <p:nvPr/>
            </p:nvSpPr>
            <p:spPr>
              <a:xfrm>
                <a:off x="3413538" y="2894958"/>
                <a:ext cx="101053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53FD536-64B4-2F2C-91F6-9E0BBEC121F4}"/>
                  </a:ext>
                </a:extLst>
              </p:cNvPr>
              <p:cNvSpPr txBox="1"/>
              <p:nvPr/>
            </p:nvSpPr>
            <p:spPr>
              <a:xfrm>
                <a:off x="3630019" y="3677383"/>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5" name="TextBox 14">
                <a:extLst>
                  <a:ext uri="{FF2B5EF4-FFF2-40B4-BE49-F238E27FC236}">
                    <a16:creationId xmlns:a16="http://schemas.microsoft.com/office/drawing/2014/main" id="{A53FD536-64B4-2F2C-91F6-9E0BBEC121F4}"/>
                  </a:ext>
                </a:extLst>
              </p:cNvPr>
              <p:cNvSpPr txBox="1">
                <a:spLocks noRot="1" noChangeAspect="1" noMove="1" noResize="1" noEditPoints="1" noAdjustHandles="1" noChangeArrowheads="1" noChangeShapeType="1" noTextEdit="1"/>
              </p:cNvSpPr>
              <p:nvPr/>
            </p:nvSpPr>
            <p:spPr>
              <a:xfrm>
                <a:off x="3630019" y="3677383"/>
                <a:ext cx="837409"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029E794-EE82-550C-F903-B6F95C3634BD}"/>
                  </a:ext>
                </a:extLst>
              </p:cNvPr>
              <p:cNvSpPr txBox="1"/>
              <p:nvPr/>
            </p:nvSpPr>
            <p:spPr>
              <a:xfrm>
                <a:off x="5581205" y="260662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6" name="TextBox 15">
                <a:extLst>
                  <a:ext uri="{FF2B5EF4-FFF2-40B4-BE49-F238E27FC236}">
                    <a16:creationId xmlns:a16="http://schemas.microsoft.com/office/drawing/2014/main" id="{1029E794-EE82-550C-F903-B6F95C3634BD}"/>
                  </a:ext>
                </a:extLst>
              </p:cNvPr>
              <p:cNvSpPr txBox="1">
                <a:spLocks noRot="1" noChangeAspect="1" noMove="1" noResize="1" noEditPoints="1" noAdjustHandles="1" noChangeArrowheads="1" noChangeShapeType="1" noTextEdit="1"/>
              </p:cNvSpPr>
              <p:nvPr/>
            </p:nvSpPr>
            <p:spPr>
              <a:xfrm>
                <a:off x="5581205" y="2606621"/>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0BE33E2-8CED-119D-C638-DBD148CE4C6B}"/>
                  </a:ext>
                </a:extLst>
              </p:cNvPr>
              <p:cNvSpPr txBox="1"/>
              <p:nvPr/>
            </p:nvSpPr>
            <p:spPr>
              <a:xfrm>
                <a:off x="5733605" y="275902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8" name="TextBox 17">
                <a:extLst>
                  <a:ext uri="{FF2B5EF4-FFF2-40B4-BE49-F238E27FC236}">
                    <a16:creationId xmlns:a16="http://schemas.microsoft.com/office/drawing/2014/main" id="{00BE33E2-8CED-119D-C638-DBD148CE4C6B}"/>
                  </a:ext>
                </a:extLst>
              </p:cNvPr>
              <p:cNvSpPr txBox="1">
                <a:spLocks noRot="1" noChangeAspect="1" noMove="1" noResize="1" noEditPoints="1" noAdjustHandles="1" noChangeArrowheads="1" noChangeShapeType="1" noTextEdit="1"/>
              </p:cNvSpPr>
              <p:nvPr/>
            </p:nvSpPr>
            <p:spPr>
              <a:xfrm>
                <a:off x="5733605" y="2759021"/>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9E02CAE9-4665-8386-562F-15E2BA94A830}"/>
                  </a:ext>
                </a:extLst>
              </p:cNvPr>
              <p:cNvSpPr txBox="1"/>
              <p:nvPr/>
            </p:nvSpPr>
            <p:spPr>
              <a:xfrm>
                <a:off x="5886005" y="291142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19" name="TextBox 18">
                <a:extLst>
                  <a:ext uri="{FF2B5EF4-FFF2-40B4-BE49-F238E27FC236}">
                    <a16:creationId xmlns:a16="http://schemas.microsoft.com/office/drawing/2014/main" id="{9E02CAE9-4665-8386-562F-15E2BA94A830}"/>
                  </a:ext>
                </a:extLst>
              </p:cNvPr>
              <p:cNvSpPr txBox="1">
                <a:spLocks noRot="1" noChangeAspect="1" noMove="1" noResize="1" noEditPoints="1" noAdjustHandles="1" noChangeArrowheads="1" noChangeShapeType="1" noTextEdit="1"/>
              </p:cNvSpPr>
              <p:nvPr/>
            </p:nvSpPr>
            <p:spPr>
              <a:xfrm>
                <a:off x="5886005" y="2911421"/>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D7FF9BB7-8574-632F-A65D-31575D5EC3EC}"/>
                  </a:ext>
                </a:extLst>
              </p:cNvPr>
              <p:cNvSpPr txBox="1"/>
              <p:nvPr/>
            </p:nvSpPr>
            <p:spPr>
              <a:xfrm>
                <a:off x="5667151" y="307221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1" name="TextBox 20">
                <a:extLst>
                  <a:ext uri="{FF2B5EF4-FFF2-40B4-BE49-F238E27FC236}">
                    <a16:creationId xmlns:a16="http://schemas.microsoft.com/office/drawing/2014/main" id="{D7FF9BB7-8574-632F-A65D-31575D5EC3EC}"/>
                  </a:ext>
                </a:extLst>
              </p:cNvPr>
              <p:cNvSpPr txBox="1">
                <a:spLocks noRot="1" noChangeAspect="1" noMove="1" noResize="1" noEditPoints="1" noAdjustHandles="1" noChangeArrowheads="1" noChangeShapeType="1" noTextEdit="1"/>
              </p:cNvSpPr>
              <p:nvPr/>
            </p:nvSpPr>
            <p:spPr>
              <a:xfrm>
                <a:off x="5667151" y="307221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8103B7D9-181F-0A6F-4A5C-2D5C205814DD}"/>
                  </a:ext>
                </a:extLst>
              </p:cNvPr>
              <p:cNvSpPr txBox="1"/>
              <p:nvPr/>
            </p:nvSpPr>
            <p:spPr>
              <a:xfrm>
                <a:off x="5807000" y="326800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2" name="TextBox 21">
                <a:extLst>
                  <a:ext uri="{FF2B5EF4-FFF2-40B4-BE49-F238E27FC236}">
                    <a16:creationId xmlns:a16="http://schemas.microsoft.com/office/drawing/2014/main" id="{8103B7D9-181F-0A6F-4A5C-2D5C205814DD}"/>
                  </a:ext>
                </a:extLst>
              </p:cNvPr>
              <p:cNvSpPr txBox="1">
                <a:spLocks noRot="1" noChangeAspect="1" noMove="1" noResize="1" noEditPoints="1" noAdjustHandles="1" noChangeArrowheads="1" noChangeShapeType="1" noTextEdit="1"/>
              </p:cNvSpPr>
              <p:nvPr/>
            </p:nvSpPr>
            <p:spPr>
              <a:xfrm>
                <a:off x="5807000" y="3268006"/>
                <a:ext cx="837409"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3FFE42A-F9D0-4CA3-BC9C-511F1ACF78BE}"/>
                  </a:ext>
                </a:extLst>
              </p:cNvPr>
              <p:cNvSpPr txBox="1"/>
              <p:nvPr/>
            </p:nvSpPr>
            <p:spPr>
              <a:xfrm>
                <a:off x="5739774" y="357988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4" name="TextBox 23">
                <a:extLst>
                  <a:ext uri="{FF2B5EF4-FFF2-40B4-BE49-F238E27FC236}">
                    <a16:creationId xmlns:a16="http://schemas.microsoft.com/office/drawing/2014/main" id="{83FFE42A-F9D0-4CA3-BC9C-511F1ACF78BE}"/>
                  </a:ext>
                </a:extLst>
              </p:cNvPr>
              <p:cNvSpPr txBox="1">
                <a:spLocks noRot="1" noChangeAspect="1" noMove="1" noResize="1" noEditPoints="1" noAdjustHandles="1" noChangeArrowheads="1" noChangeShapeType="1" noTextEdit="1"/>
              </p:cNvSpPr>
              <p:nvPr/>
            </p:nvSpPr>
            <p:spPr>
              <a:xfrm>
                <a:off x="5739774" y="3579886"/>
                <a:ext cx="837409"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A1C49352-5DD8-489E-9937-7721ED45A7DA}"/>
                  </a:ext>
                </a:extLst>
              </p:cNvPr>
              <p:cNvSpPr txBox="1"/>
              <p:nvPr/>
            </p:nvSpPr>
            <p:spPr>
              <a:xfrm>
                <a:off x="5677295" y="372903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5" name="TextBox 24">
                <a:extLst>
                  <a:ext uri="{FF2B5EF4-FFF2-40B4-BE49-F238E27FC236}">
                    <a16:creationId xmlns:a16="http://schemas.microsoft.com/office/drawing/2014/main" id="{A1C49352-5DD8-489E-9937-7721ED45A7DA}"/>
                  </a:ext>
                </a:extLst>
              </p:cNvPr>
              <p:cNvSpPr txBox="1">
                <a:spLocks noRot="1" noChangeAspect="1" noMove="1" noResize="1" noEditPoints="1" noAdjustHandles="1" noChangeArrowheads="1" noChangeShapeType="1" noTextEdit="1"/>
              </p:cNvSpPr>
              <p:nvPr/>
            </p:nvSpPr>
            <p:spPr>
              <a:xfrm>
                <a:off x="5677295" y="3729030"/>
                <a:ext cx="837409"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2FA1227-67EA-04F6-AA7E-F826A38844B2}"/>
                  </a:ext>
                </a:extLst>
              </p:cNvPr>
              <p:cNvSpPr txBox="1"/>
              <p:nvPr/>
            </p:nvSpPr>
            <p:spPr>
              <a:xfrm>
                <a:off x="8072894" y="2242001"/>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27" name="TextBox 26">
                <a:extLst>
                  <a:ext uri="{FF2B5EF4-FFF2-40B4-BE49-F238E27FC236}">
                    <a16:creationId xmlns:a16="http://schemas.microsoft.com/office/drawing/2014/main" id="{B2FA1227-67EA-04F6-AA7E-F826A38844B2}"/>
                  </a:ext>
                </a:extLst>
              </p:cNvPr>
              <p:cNvSpPr txBox="1">
                <a:spLocks noRot="1" noChangeAspect="1" noMove="1" noResize="1" noEditPoints="1" noAdjustHandles="1" noChangeArrowheads="1" noChangeShapeType="1" noTextEdit="1"/>
              </p:cNvSpPr>
              <p:nvPr/>
            </p:nvSpPr>
            <p:spPr>
              <a:xfrm>
                <a:off x="8072894" y="2242001"/>
                <a:ext cx="83740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D893A45E-54D1-1873-29BE-EE0D973D05E2}"/>
                  </a:ext>
                </a:extLst>
              </p:cNvPr>
              <p:cNvSpPr txBox="1"/>
              <p:nvPr/>
            </p:nvSpPr>
            <p:spPr>
              <a:xfrm>
                <a:off x="8112641" y="290724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=5</m:t>
                      </m:r>
                    </m:oMath>
                  </m:oMathPara>
                </a14:m>
                <a:endParaRPr lang="en-US" dirty="0">
                  <a:solidFill>
                    <a:srgbClr val="00B050"/>
                  </a:solidFill>
                </a:endParaRPr>
              </a:p>
            </p:txBody>
          </p:sp>
        </mc:Choice>
        <mc:Fallback>
          <p:sp>
            <p:nvSpPr>
              <p:cNvPr id="28" name="TextBox 27">
                <a:extLst>
                  <a:ext uri="{FF2B5EF4-FFF2-40B4-BE49-F238E27FC236}">
                    <a16:creationId xmlns:a16="http://schemas.microsoft.com/office/drawing/2014/main" id="{D893A45E-54D1-1873-29BE-EE0D973D05E2}"/>
                  </a:ext>
                </a:extLst>
              </p:cNvPr>
              <p:cNvSpPr txBox="1">
                <a:spLocks noRot="1" noChangeAspect="1" noMove="1" noResize="1" noEditPoints="1" noAdjustHandles="1" noChangeArrowheads="1" noChangeShapeType="1" noTextEdit="1"/>
              </p:cNvSpPr>
              <p:nvPr/>
            </p:nvSpPr>
            <p:spPr>
              <a:xfrm>
                <a:off x="8112641" y="2907246"/>
                <a:ext cx="837409"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8A46A696-BB88-F6CB-FDD9-17231E4A3ED5}"/>
                  </a:ext>
                </a:extLst>
              </p:cNvPr>
              <p:cNvSpPr txBox="1"/>
              <p:nvPr/>
            </p:nvSpPr>
            <p:spPr>
              <a:xfrm>
                <a:off x="7856992" y="3524492"/>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32" name="TextBox 31">
                <a:extLst>
                  <a:ext uri="{FF2B5EF4-FFF2-40B4-BE49-F238E27FC236}">
                    <a16:creationId xmlns:a16="http://schemas.microsoft.com/office/drawing/2014/main" id="{8A46A696-BB88-F6CB-FDD9-17231E4A3ED5}"/>
                  </a:ext>
                </a:extLst>
              </p:cNvPr>
              <p:cNvSpPr txBox="1">
                <a:spLocks noRot="1" noChangeAspect="1" noMove="1" noResize="1" noEditPoints="1" noAdjustHandles="1" noChangeArrowheads="1" noChangeShapeType="1" noTextEdit="1"/>
              </p:cNvSpPr>
              <p:nvPr/>
            </p:nvSpPr>
            <p:spPr>
              <a:xfrm>
                <a:off x="7856992" y="3524492"/>
                <a:ext cx="1010533"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108767D-F9AB-8A21-85BB-29A4639D3BA3}"/>
                  </a:ext>
                </a:extLst>
              </p:cNvPr>
              <p:cNvSpPr txBox="1"/>
              <p:nvPr/>
            </p:nvSpPr>
            <p:spPr>
              <a:xfrm>
                <a:off x="4532633" y="1295972"/>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=2</m:t>
                      </m:r>
                    </m:oMath>
                  </m:oMathPara>
                </a14:m>
                <a:endParaRPr lang="en-US" dirty="0">
                  <a:solidFill>
                    <a:srgbClr val="FFC000"/>
                  </a:solidFill>
                </a:endParaRPr>
              </a:p>
            </p:txBody>
          </p:sp>
        </mc:Choice>
        <mc:Fallback>
          <p:sp>
            <p:nvSpPr>
              <p:cNvPr id="2" name="TextBox 1">
                <a:extLst>
                  <a:ext uri="{FF2B5EF4-FFF2-40B4-BE49-F238E27FC236}">
                    <a16:creationId xmlns:a16="http://schemas.microsoft.com/office/drawing/2014/main" id="{3108767D-F9AB-8A21-85BB-29A4639D3BA3}"/>
                  </a:ext>
                </a:extLst>
              </p:cNvPr>
              <p:cNvSpPr txBox="1">
                <a:spLocks noRot="1" noChangeAspect="1" noMove="1" noResize="1" noEditPoints="1" noAdjustHandles="1" noChangeArrowheads="1" noChangeShapeType="1" noTextEdit="1"/>
              </p:cNvSpPr>
              <p:nvPr/>
            </p:nvSpPr>
            <p:spPr>
              <a:xfrm>
                <a:off x="4532633" y="1295972"/>
                <a:ext cx="79085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C68270A8-A346-429D-9596-E5C8ABCF088D}"/>
                  </a:ext>
                </a:extLst>
              </p:cNvPr>
              <p:cNvSpPr txBox="1"/>
              <p:nvPr/>
            </p:nvSpPr>
            <p:spPr>
              <a:xfrm>
                <a:off x="4551709" y="2537914"/>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=−4</m:t>
                      </m:r>
                    </m:oMath>
                  </m:oMathPara>
                </a14:m>
                <a:endParaRPr lang="en-US" dirty="0">
                  <a:solidFill>
                    <a:srgbClr val="FFC000"/>
                  </a:solidFill>
                </a:endParaRPr>
              </a:p>
            </p:txBody>
          </p:sp>
        </mc:Choice>
        <mc:Fallback>
          <p:sp>
            <p:nvSpPr>
              <p:cNvPr id="34" name="TextBox 33">
                <a:extLst>
                  <a:ext uri="{FF2B5EF4-FFF2-40B4-BE49-F238E27FC236}">
                    <a16:creationId xmlns:a16="http://schemas.microsoft.com/office/drawing/2014/main" id="{C68270A8-A346-429D-9596-E5C8ABCF088D}"/>
                  </a:ext>
                </a:extLst>
              </p:cNvPr>
              <p:cNvSpPr txBox="1">
                <a:spLocks noRot="1" noChangeAspect="1" noMove="1" noResize="1" noEditPoints="1" noAdjustHandles="1" noChangeArrowheads="1" noChangeShapeType="1" noTextEdit="1"/>
              </p:cNvSpPr>
              <p:nvPr/>
            </p:nvSpPr>
            <p:spPr>
              <a:xfrm>
                <a:off x="4551709" y="2537914"/>
                <a:ext cx="963982"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2A582625-AF31-15C7-E2C4-6B5299749018}"/>
                  </a:ext>
                </a:extLst>
              </p:cNvPr>
              <p:cNvSpPr txBox="1"/>
              <p:nvPr/>
            </p:nvSpPr>
            <p:spPr>
              <a:xfrm>
                <a:off x="4574984" y="3746534"/>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=5</m:t>
                      </m:r>
                    </m:oMath>
                  </m:oMathPara>
                </a14:m>
                <a:endParaRPr lang="en-US" dirty="0">
                  <a:solidFill>
                    <a:srgbClr val="FFC000"/>
                  </a:solidFill>
                </a:endParaRPr>
              </a:p>
            </p:txBody>
          </p:sp>
        </mc:Choice>
        <mc:Fallback>
          <p:sp>
            <p:nvSpPr>
              <p:cNvPr id="35" name="TextBox 34">
                <a:extLst>
                  <a:ext uri="{FF2B5EF4-FFF2-40B4-BE49-F238E27FC236}">
                    <a16:creationId xmlns:a16="http://schemas.microsoft.com/office/drawing/2014/main" id="{2A582625-AF31-15C7-E2C4-6B5299749018}"/>
                  </a:ext>
                </a:extLst>
              </p:cNvPr>
              <p:cNvSpPr txBox="1">
                <a:spLocks noRot="1" noChangeAspect="1" noMove="1" noResize="1" noEditPoints="1" noAdjustHandles="1" noChangeArrowheads="1" noChangeShapeType="1" noTextEdit="1"/>
              </p:cNvSpPr>
              <p:nvPr/>
            </p:nvSpPr>
            <p:spPr>
              <a:xfrm>
                <a:off x="4574984" y="3746534"/>
                <a:ext cx="79085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41E72DF6-B6A2-3614-8AE5-809FE783C6AD}"/>
                  </a:ext>
                </a:extLst>
              </p:cNvPr>
              <p:cNvSpPr txBox="1"/>
              <p:nvPr/>
            </p:nvSpPr>
            <p:spPr>
              <a:xfrm>
                <a:off x="6648957" y="1235924"/>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36" name="TextBox 35">
                <a:extLst>
                  <a:ext uri="{FF2B5EF4-FFF2-40B4-BE49-F238E27FC236}">
                    <a16:creationId xmlns:a16="http://schemas.microsoft.com/office/drawing/2014/main" id="{41E72DF6-B6A2-3614-8AE5-809FE783C6AD}"/>
                  </a:ext>
                </a:extLst>
              </p:cNvPr>
              <p:cNvSpPr txBox="1">
                <a:spLocks noRot="1" noChangeAspect="1" noMove="1" noResize="1" noEditPoints="1" noAdjustHandles="1" noChangeArrowheads="1" noChangeShapeType="1" noTextEdit="1"/>
              </p:cNvSpPr>
              <p:nvPr/>
            </p:nvSpPr>
            <p:spPr>
              <a:xfrm>
                <a:off x="6648957" y="1235924"/>
                <a:ext cx="79085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C0C01150-BA62-1C45-B10E-FB3D8E033895}"/>
                  </a:ext>
                </a:extLst>
              </p:cNvPr>
              <p:cNvSpPr txBox="1"/>
              <p:nvPr/>
            </p:nvSpPr>
            <p:spPr>
              <a:xfrm>
                <a:off x="6655566" y="2533508"/>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=9</m:t>
                      </m:r>
                    </m:oMath>
                  </m:oMathPara>
                </a14:m>
                <a:endParaRPr lang="en-US" dirty="0">
                  <a:solidFill>
                    <a:srgbClr val="FFC000"/>
                  </a:solidFill>
                </a:endParaRPr>
              </a:p>
            </p:txBody>
          </p:sp>
        </mc:Choice>
        <mc:Fallback>
          <p:sp>
            <p:nvSpPr>
              <p:cNvPr id="38" name="TextBox 37">
                <a:extLst>
                  <a:ext uri="{FF2B5EF4-FFF2-40B4-BE49-F238E27FC236}">
                    <a16:creationId xmlns:a16="http://schemas.microsoft.com/office/drawing/2014/main" id="{C0C01150-BA62-1C45-B10E-FB3D8E033895}"/>
                  </a:ext>
                </a:extLst>
              </p:cNvPr>
              <p:cNvSpPr txBox="1">
                <a:spLocks noRot="1" noChangeAspect="1" noMove="1" noResize="1" noEditPoints="1" noAdjustHandles="1" noChangeArrowheads="1" noChangeShapeType="1" noTextEdit="1"/>
              </p:cNvSpPr>
              <p:nvPr/>
            </p:nvSpPr>
            <p:spPr>
              <a:xfrm>
                <a:off x="6655566" y="2533508"/>
                <a:ext cx="79085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AD4FBFC3-41DF-A943-C42C-9FDDE89919C7}"/>
                  </a:ext>
                </a:extLst>
              </p:cNvPr>
              <p:cNvSpPr txBox="1"/>
              <p:nvPr/>
            </p:nvSpPr>
            <p:spPr>
              <a:xfrm>
                <a:off x="6667112" y="3773133"/>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=−8</m:t>
                      </m:r>
                    </m:oMath>
                  </m:oMathPara>
                </a14:m>
                <a:endParaRPr lang="en-US" dirty="0">
                  <a:solidFill>
                    <a:srgbClr val="FFC000"/>
                  </a:solidFill>
                </a:endParaRPr>
              </a:p>
            </p:txBody>
          </p:sp>
        </mc:Choice>
        <mc:Fallback>
          <p:sp>
            <p:nvSpPr>
              <p:cNvPr id="39" name="TextBox 38">
                <a:extLst>
                  <a:ext uri="{FF2B5EF4-FFF2-40B4-BE49-F238E27FC236}">
                    <a16:creationId xmlns:a16="http://schemas.microsoft.com/office/drawing/2014/main" id="{AD4FBFC3-41DF-A943-C42C-9FDDE89919C7}"/>
                  </a:ext>
                </a:extLst>
              </p:cNvPr>
              <p:cNvSpPr txBox="1">
                <a:spLocks noRot="1" noChangeAspect="1" noMove="1" noResize="1" noEditPoints="1" noAdjustHandles="1" noChangeArrowheads="1" noChangeShapeType="1" noTextEdit="1"/>
              </p:cNvSpPr>
              <p:nvPr/>
            </p:nvSpPr>
            <p:spPr>
              <a:xfrm>
                <a:off x="6667112" y="3773133"/>
                <a:ext cx="963982"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F31993E1-9BF3-5A78-0E6E-D92C8248C425}"/>
                  </a:ext>
                </a:extLst>
              </p:cNvPr>
              <p:cNvSpPr txBox="1"/>
              <p:nvPr/>
            </p:nvSpPr>
            <p:spPr>
              <a:xfrm>
                <a:off x="9473904" y="2494020"/>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41" name="TextBox 40">
                <a:extLst>
                  <a:ext uri="{FF2B5EF4-FFF2-40B4-BE49-F238E27FC236}">
                    <a16:creationId xmlns:a16="http://schemas.microsoft.com/office/drawing/2014/main" id="{F31993E1-9BF3-5A78-0E6E-D92C8248C425}"/>
                  </a:ext>
                </a:extLst>
              </p:cNvPr>
              <p:cNvSpPr txBox="1">
                <a:spLocks noRot="1" noChangeAspect="1" noMove="1" noResize="1" noEditPoints="1" noAdjustHandles="1" noChangeArrowheads="1" noChangeShapeType="1" noTextEdit="1"/>
              </p:cNvSpPr>
              <p:nvPr/>
            </p:nvSpPr>
            <p:spPr>
              <a:xfrm>
                <a:off x="9473904" y="2494020"/>
                <a:ext cx="963982" cy="369332"/>
              </a:xfrm>
              <a:prstGeom prst="rect">
                <a:avLst/>
              </a:prstGeom>
              <a:blipFill>
                <a:blip r:embed="rId27"/>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6A1CE060-44FF-10BC-252B-BC7A958343A9}"/>
              </a:ext>
            </a:extLst>
          </p:cNvPr>
          <p:cNvSpPr txBox="1"/>
          <p:nvPr/>
        </p:nvSpPr>
        <p:spPr>
          <a:xfrm>
            <a:off x="569095" y="474783"/>
            <a:ext cx="10861628" cy="646331"/>
          </a:xfrm>
          <a:prstGeom prst="rect">
            <a:avLst/>
          </a:prstGeom>
          <a:noFill/>
        </p:spPr>
        <p:txBody>
          <a:bodyPr wrap="none" rtlCol="0">
            <a:spAutoFit/>
          </a:bodyPr>
          <a:lstStyle/>
          <a:p>
            <a:r>
              <a:rPr lang="en-US" sz="3600" dirty="0"/>
              <a:t>The parameters of our network are weights and biases</a:t>
            </a:r>
          </a:p>
        </p:txBody>
      </p:sp>
      <p:sp>
        <p:nvSpPr>
          <p:cNvPr id="47" name="TextBox 46">
            <a:extLst>
              <a:ext uri="{FF2B5EF4-FFF2-40B4-BE49-F238E27FC236}">
                <a16:creationId xmlns:a16="http://schemas.microsoft.com/office/drawing/2014/main" id="{86F2F6EE-4B76-E22D-5FB1-D9BFEB7212D0}"/>
              </a:ext>
            </a:extLst>
          </p:cNvPr>
          <p:cNvSpPr txBox="1"/>
          <p:nvPr/>
        </p:nvSpPr>
        <p:spPr>
          <a:xfrm>
            <a:off x="680482" y="1202324"/>
            <a:ext cx="3529492" cy="369332"/>
          </a:xfrm>
          <a:prstGeom prst="rect">
            <a:avLst/>
          </a:prstGeom>
          <a:noFill/>
        </p:spPr>
        <p:txBody>
          <a:bodyPr wrap="none" rtlCol="0">
            <a:spAutoFit/>
          </a:bodyPr>
          <a:lstStyle/>
          <a:p>
            <a:r>
              <a:rPr lang="en-US" dirty="0"/>
              <a:t>A bias associated with every node</a:t>
            </a:r>
          </a:p>
        </p:txBody>
      </p:sp>
    </p:spTree>
    <p:extLst>
      <p:ext uri="{BB962C8B-B14F-4D97-AF65-F5344CB8AC3E}">
        <p14:creationId xmlns:p14="http://schemas.microsoft.com/office/powerpoint/2010/main" val="1228704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CDDFD-6992-D477-1168-02DD526B20C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793D9769-8D49-ACBD-14FF-7AD308D1E88C}"/>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793D9769-8D49-ACBD-14FF-7AD308D1E88C}"/>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7818DA4E-9C11-7087-7E61-00152520B720}"/>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8856D78-5D34-BC57-4F70-920ACEEB7501}"/>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57B6C55-5EBD-39EA-A92F-84974A800DC7}"/>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63A822E7-0D71-7484-B929-7B7A44A6B3C5}"/>
                  </a:ext>
                </a:extLst>
              </p:cNvPr>
              <p:cNvSpPr txBox="1"/>
              <p:nvPr/>
            </p:nvSpPr>
            <p:spPr>
              <a:xfrm>
                <a:off x="4608493" y="5448073"/>
                <a:ext cx="2793265"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oMath>
                  </m:oMathPara>
                </a14:m>
                <a:endParaRPr lang="en-US" sz="3000" dirty="0"/>
              </a:p>
            </p:txBody>
          </p:sp>
        </mc:Choice>
        <mc:Fallback>
          <p:sp>
            <p:nvSpPr>
              <p:cNvPr id="56" name="TextBox 55">
                <a:extLst>
                  <a:ext uri="{FF2B5EF4-FFF2-40B4-BE49-F238E27FC236}">
                    <a16:creationId xmlns:a16="http://schemas.microsoft.com/office/drawing/2014/main" id="{63A822E7-0D71-7484-B929-7B7A44A6B3C5}"/>
                  </a:ext>
                </a:extLst>
              </p:cNvPr>
              <p:cNvSpPr txBox="1">
                <a:spLocks noRot="1" noChangeAspect="1" noMove="1" noResize="1" noEditPoints="1" noAdjustHandles="1" noChangeArrowheads="1" noChangeShapeType="1" noTextEdit="1"/>
              </p:cNvSpPr>
              <p:nvPr/>
            </p:nvSpPr>
            <p:spPr>
              <a:xfrm>
                <a:off x="4608493" y="5448073"/>
                <a:ext cx="2793265" cy="1117807"/>
              </a:xfrm>
              <a:prstGeom prst="rect">
                <a:avLst/>
              </a:prstGeom>
              <a:blipFill>
                <a:blip r:embed="rId3"/>
                <a:stretch>
                  <a:fillRect l="-1357" t="-148864" r="-4072" b="-2068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5C56F0CF-CD70-34AE-9C31-774D56D325A6}"/>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5C56F0CF-CD70-34AE-9C31-774D56D325A6}"/>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35B4FCB7-4D00-DF82-0A1C-23B0BD881C8F}"/>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35B4FCB7-4D00-DF82-0A1C-23B0BD881C8F}"/>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0B97D1CF-F729-07B2-F11B-7D9A6AAFA34A}"/>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0B97D1CF-F729-07B2-F11B-7D9A6AAFA34A}"/>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1735C135-A12C-AB21-0847-E1B805DB7365}"/>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1735C135-A12C-AB21-0847-E1B805DB7365}"/>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B5DD9533-37E7-224F-4AB6-A4CE2A21A2B7}"/>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B5DD9533-37E7-224F-4AB6-A4CE2A21A2B7}"/>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6A8D237B-EB7D-6AE1-573D-25130EA627D8}"/>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6A8D237B-EB7D-6AE1-573D-25130EA627D8}"/>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2AA3AF50-7E41-36DA-09C3-D7096277FCA1}"/>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2AA3AF50-7E41-36DA-09C3-D7096277FCA1}"/>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10"/>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4BA0197E-924C-7D11-9A77-4319F4E2360B}"/>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67B2ADF-4A83-61F0-526B-D731BC9A2720}"/>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9C3AA54-F024-0A6C-DB68-E37EB2D28476}"/>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EB6DAF9-B9DB-B6F0-5F5D-E7F581A92135}"/>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DBC7D9E-36BE-ADE4-C8C8-5BF4F6BDD6A8}"/>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67CDC40-5051-496C-5A6C-BAB83709697E}"/>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679C88F-F46E-49DD-08A6-3B5E0AFEA50D}"/>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13BA0994-5663-07DC-845D-6B7EE0FC8EC7}"/>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A1BDABF2-22CD-02AB-0611-C930A63D8278}"/>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C9BEFB8-6713-3261-9F12-2AB74AC57802}"/>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B1B6996-9A95-4693-D989-8511B60875A7}"/>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C21437F0-F48C-EED1-905B-3A784C411139}"/>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581AAC7C-EBBC-B9F8-1DF5-E384981D17D7}"/>
              </a:ext>
            </a:extLst>
          </p:cNvPr>
          <p:cNvSpPr/>
          <p:nvPr/>
        </p:nvSpPr>
        <p:spPr>
          <a:xfrm>
            <a:off x="4274919" y="1288380"/>
            <a:ext cx="1306286" cy="1316334"/>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0C9276-187A-8779-C87E-EE53188D04E9}"/>
              </a:ext>
            </a:extLst>
          </p:cNvPr>
          <p:cNvSpPr txBox="1"/>
          <p:nvPr/>
        </p:nvSpPr>
        <p:spPr>
          <a:xfrm>
            <a:off x="2984315" y="873542"/>
            <a:ext cx="3959674" cy="369332"/>
          </a:xfrm>
          <a:prstGeom prst="rect">
            <a:avLst/>
          </a:prstGeom>
          <a:noFill/>
        </p:spPr>
        <p:txBody>
          <a:bodyPr wrap="none" rtlCol="0">
            <a:spAutoFit/>
          </a:bodyPr>
          <a:lstStyle/>
          <a:p>
            <a:r>
              <a:rPr lang="en-US" dirty="0"/>
              <a:t>Let’s compute the value of this neuron</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565BC5F-D66D-87A3-58C6-A4EE87EE3D09}"/>
                  </a:ext>
                </a:extLst>
              </p:cNvPr>
              <p:cNvSpPr txBox="1"/>
              <p:nvPr/>
            </p:nvSpPr>
            <p:spPr>
              <a:xfrm>
                <a:off x="3065103" y="2309354"/>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=3</m:t>
                      </m:r>
                    </m:oMath>
                  </m:oMathPara>
                </a14:m>
                <a:endParaRPr lang="en-US" dirty="0">
                  <a:solidFill>
                    <a:srgbClr val="00B050"/>
                  </a:solidFill>
                </a:endParaRPr>
              </a:p>
            </p:txBody>
          </p:sp>
        </mc:Choice>
        <mc:Fallback>
          <p:sp>
            <p:nvSpPr>
              <p:cNvPr id="12" name="TextBox 11">
                <a:extLst>
                  <a:ext uri="{FF2B5EF4-FFF2-40B4-BE49-F238E27FC236}">
                    <a16:creationId xmlns:a16="http://schemas.microsoft.com/office/drawing/2014/main" id="{3565BC5F-D66D-87A3-58C6-A4EE87EE3D09}"/>
                  </a:ext>
                </a:extLst>
              </p:cNvPr>
              <p:cNvSpPr txBox="1">
                <a:spLocks noRot="1" noChangeAspect="1" noMove="1" noResize="1" noEditPoints="1" noAdjustHandles="1" noChangeArrowheads="1" noChangeShapeType="1" noTextEdit="1"/>
              </p:cNvSpPr>
              <p:nvPr/>
            </p:nvSpPr>
            <p:spPr>
              <a:xfrm>
                <a:off x="3065103" y="2309354"/>
                <a:ext cx="837409"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E9F97C3-2AEC-5F9D-377C-C0220F68BE4F}"/>
                  </a:ext>
                </a:extLst>
              </p:cNvPr>
              <p:cNvSpPr txBox="1"/>
              <p:nvPr/>
            </p:nvSpPr>
            <p:spPr>
              <a:xfrm>
                <a:off x="4532633" y="1295972"/>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=2</m:t>
                      </m:r>
                    </m:oMath>
                  </m:oMathPara>
                </a14:m>
                <a:endParaRPr lang="en-US" dirty="0">
                  <a:solidFill>
                    <a:srgbClr val="FFC000"/>
                  </a:solidFill>
                </a:endParaRPr>
              </a:p>
            </p:txBody>
          </p:sp>
        </mc:Choice>
        <mc:Fallback>
          <p:sp>
            <p:nvSpPr>
              <p:cNvPr id="15" name="TextBox 14">
                <a:extLst>
                  <a:ext uri="{FF2B5EF4-FFF2-40B4-BE49-F238E27FC236}">
                    <a16:creationId xmlns:a16="http://schemas.microsoft.com/office/drawing/2014/main" id="{8E9F97C3-2AEC-5F9D-377C-C0220F68BE4F}"/>
                  </a:ext>
                </a:extLst>
              </p:cNvPr>
              <p:cNvSpPr txBox="1">
                <a:spLocks noRot="1" noChangeAspect="1" noMove="1" noResize="1" noEditPoints="1" noAdjustHandles="1" noChangeArrowheads="1" noChangeShapeType="1" noTextEdit="1"/>
              </p:cNvSpPr>
              <p:nvPr/>
            </p:nvSpPr>
            <p:spPr>
              <a:xfrm>
                <a:off x="4532633" y="1295972"/>
                <a:ext cx="790858" cy="369332"/>
              </a:xfrm>
              <a:prstGeom prst="rect">
                <a:avLst/>
              </a:prstGeom>
              <a:blipFill>
                <a:blip r:embed="rId12"/>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81B52DAC-27A8-E207-1F20-6BF6D513F493}"/>
              </a:ext>
            </a:extLst>
          </p:cNvPr>
          <p:cNvSpPr txBox="1"/>
          <p:nvPr/>
        </p:nvSpPr>
        <p:spPr>
          <a:xfrm>
            <a:off x="7718596" y="6383217"/>
            <a:ext cx="4473404" cy="369332"/>
          </a:xfrm>
          <a:prstGeom prst="rect">
            <a:avLst/>
          </a:prstGeom>
          <a:noFill/>
        </p:spPr>
        <p:txBody>
          <a:bodyPr wrap="none" rtlCol="0">
            <a:spAutoFit/>
          </a:bodyPr>
          <a:lstStyle/>
          <a:p>
            <a:r>
              <a:rPr lang="en-US" dirty="0"/>
              <a:t>(suppose all activations are linear for ease) </a:t>
            </a:r>
          </a:p>
        </p:txBody>
      </p:sp>
    </p:spTree>
    <p:extLst>
      <p:ext uri="{BB962C8B-B14F-4D97-AF65-F5344CB8AC3E}">
        <p14:creationId xmlns:p14="http://schemas.microsoft.com/office/powerpoint/2010/main" val="744971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3B1E-74C7-3F1B-68EC-5042C996790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4ABDAB45-037A-3D6B-AC1B-9C116064F772}"/>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4ABDAB45-037A-3D6B-AC1B-9C116064F772}"/>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DDAAF309-4DA1-A307-E442-A354CE681331}"/>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BD717B-8985-706A-FCBB-EEC32780FA48}"/>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5ED4C97-38C3-9B6D-2616-6D1CE3B1715F}"/>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66C740D4-4FD0-B3E9-A37C-6B1944C9BEF0}"/>
                  </a:ext>
                </a:extLst>
              </p:cNvPr>
              <p:cNvSpPr txBox="1"/>
              <p:nvPr/>
            </p:nvSpPr>
            <p:spPr>
              <a:xfrm>
                <a:off x="4608493" y="5448073"/>
                <a:ext cx="6036140"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2</m:t>
                      </m:r>
                      <m:r>
                        <a:rPr lang="en-US" sz="3000" b="0" i="1" smtClean="0">
                          <a:latin typeface="Cambria Math" panose="02040503050406030204" pitchFamily="18" charset="0"/>
                        </a:rPr>
                        <m:t>+</m:t>
                      </m:r>
                      <m:r>
                        <a:rPr lang="en-US" sz="3000" b="0" i="1" smtClean="0">
                          <a:solidFill>
                            <a:srgbClr val="00B050"/>
                          </a:solidFill>
                          <a:latin typeface="Cambria Math" panose="02040503050406030204" pitchFamily="18" charset="0"/>
                        </a:rPr>
                        <m:t>4</m:t>
                      </m:r>
                      <m:r>
                        <a:rPr lang="en-US" sz="3000" b="0" i="1" smtClean="0">
                          <a:latin typeface="Cambria Math" panose="02040503050406030204" pitchFamily="18" charset="0"/>
                        </a:rPr>
                        <m:t>∗</m:t>
                      </m:r>
                      <m:r>
                        <a:rPr lang="en-US" sz="3000" b="0" i="1" smtClean="0">
                          <a:solidFill>
                            <a:srgbClr val="FF0000"/>
                          </a:solidFill>
                          <a:latin typeface="Cambria Math" panose="02040503050406030204" pitchFamily="18" charset="0"/>
                        </a:rPr>
                        <m:t>−1</m:t>
                      </m:r>
                      <m:r>
                        <a:rPr lang="en-US" sz="3000" b="0" i="1" smtClean="0">
                          <a:latin typeface="Cambria Math" panose="02040503050406030204" pitchFamily="18" charset="0"/>
                        </a:rPr>
                        <m:t>=−2</m:t>
                      </m:r>
                    </m:oMath>
                  </m:oMathPara>
                </a14:m>
                <a:endParaRPr lang="en-US" sz="3000" dirty="0"/>
              </a:p>
            </p:txBody>
          </p:sp>
        </mc:Choice>
        <mc:Fallback>
          <p:sp>
            <p:nvSpPr>
              <p:cNvPr id="56" name="TextBox 55">
                <a:extLst>
                  <a:ext uri="{FF2B5EF4-FFF2-40B4-BE49-F238E27FC236}">
                    <a16:creationId xmlns:a16="http://schemas.microsoft.com/office/drawing/2014/main" id="{66C740D4-4FD0-B3E9-A37C-6B1944C9BEF0}"/>
                  </a:ext>
                </a:extLst>
              </p:cNvPr>
              <p:cNvSpPr txBox="1">
                <a:spLocks noRot="1" noChangeAspect="1" noMove="1" noResize="1" noEditPoints="1" noAdjustHandles="1" noChangeArrowheads="1" noChangeShapeType="1" noTextEdit="1"/>
              </p:cNvSpPr>
              <p:nvPr/>
            </p:nvSpPr>
            <p:spPr>
              <a:xfrm>
                <a:off x="4608493" y="5448073"/>
                <a:ext cx="6036140" cy="1117807"/>
              </a:xfrm>
              <a:prstGeom prst="rect">
                <a:avLst/>
              </a:prstGeom>
              <a:blipFill>
                <a:blip r:embed="rId3"/>
                <a:stretch>
                  <a:fillRect l="-419" t="-148864" r="-839" b="-2068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A4B1EB21-45BD-F1C5-4D2F-2F89705F7FE3}"/>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A4B1EB21-45BD-F1C5-4D2F-2F89705F7FE3}"/>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625252EA-D4EF-058A-4CE3-42857DF47816}"/>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625252EA-D4EF-058A-4CE3-42857DF47816}"/>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C69CBF6C-F299-316B-AA0D-D652FBDECB8A}"/>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C69CBF6C-F299-316B-AA0D-D652FBDECB8A}"/>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257034F6-C580-67FB-A263-CFA520539DB3}"/>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257034F6-C580-67FB-A263-CFA520539DB3}"/>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B3F9D74D-2979-3B4E-6408-44044BB6002F}"/>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B3F9D74D-2979-3B4E-6408-44044BB6002F}"/>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43222A9C-B4BF-12F3-320A-5000CBE317F8}"/>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43222A9C-B4BF-12F3-320A-5000CBE317F8}"/>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347D5907-8DD3-54BB-6209-9E7C195E98E8}"/>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347D5907-8DD3-54BB-6209-9E7C195E98E8}"/>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10"/>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F97D79D4-B2C8-640B-5093-B59F35508F8E}"/>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B704ADB-D314-6685-4ACA-B39C6CEB0B9D}"/>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D6AE765-04AF-DA5F-6702-66B5DE69D5AF}"/>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5D1751F-C822-52C0-9301-9FD508B708F0}"/>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FB83C67-9F7D-5F3A-C274-553E026FE96E}"/>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93B6AD7-ED5D-B3AA-23DC-FD81E1E0A7BC}"/>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C9A97DA-B297-E755-C7B0-1751F7DAC04E}"/>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E1842A6-A8F6-A332-143E-804A9840DEBA}"/>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59CD8EE-8834-DB15-9798-EAFE560A9BAD}"/>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167ADDA6-CA33-B5E7-2321-FCDC89D010E2}"/>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205F946-6359-1EA2-94ED-B06AE79E5BF8}"/>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1B1C34C-3209-4B5A-FACC-6454909F91B2}"/>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659F597-B38D-40F2-6A48-98DDA2B7C493}"/>
              </a:ext>
            </a:extLst>
          </p:cNvPr>
          <p:cNvSpPr/>
          <p:nvPr/>
        </p:nvSpPr>
        <p:spPr>
          <a:xfrm>
            <a:off x="4274919" y="1288380"/>
            <a:ext cx="1306286" cy="1316334"/>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916A2EF-C15D-105C-D33B-798E9AF70B58}"/>
              </a:ext>
            </a:extLst>
          </p:cNvPr>
          <p:cNvSpPr txBox="1"/>
          <p:nvPr/>
        </p:nvSpPr>
        <p:spPr>
          <a:xfrm>
            <a:off x="2984315" y="873542"/>
            <a:ext cx="3959674" cy="369332"/>
          </a:xfrm>
          <a:prstGeom prst="rect">
            <a:avLst/>
          </a:prstGeom>
          <a:noFill/>
        </p:spPr>
        <p:txBody>
          <a:bodyPr wrap="none" rtlCol="0">
            <a:spAutoFit/>
          </a:bodyPr>
          <a:lstStyle/>
          <a:p>
            <a:r>
              <a:rPr lang="en-US" dirty="0"/>
              <a:t>Let’s compute the value of this neuron</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21338AA-CEEE-CB11-1EAE-3D0FCE9E1268}"/>
                  </a:ext>
                </a:extLst>
              </p:cNvPr>
              <p:cNvSpPr txBox="1"/>
              <p:nvPr/>
            </p:nvSpPr>
            <p:spPr>
              <a:xfrm>
                <a:off x="3065103" y="2309354"/>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=4</m:t>
                      </m:r>
                    </m:oMath>
                  </m:oMathPara>
                </a14:m>
                <a:endParaRPr lang="en-US" dirty="0">
                  <a:solidFill>
                    <a:srgbClr val="00B050"/>
                  </a:solidFill>
                </a:endParaRPr>
              </a:p>
            </p:txBody>
          </p:sp>
        </mc:Choice>
        <mc:Fallback>
          <p:sp>
            <p:nvSpPr>
              <p:cNvPr id="12" name="TextBox 11">
                <a:extLst>
                  <a:ext uri="{FF2B5EF4-FFF2-40B4-BE49-F238E27FC236}">
                    <a16:creationId xmlns:a16="http://schemas.microsoft.com/office/drawing/2014/main" id="{D21338AA-CEEE-CB11-1EAE-3D0FCE9E1268}"/>
                  </a:ext>
                </a:extLst>
              </p:cNvPr>
              <p:cNvSpPr txBox="1">
                <a:spLocks noRot="1" noChangeAspect="1" noMove="1" noResize="1" noEditPoints="1" noAdjustHandles="1" noChangeArrowheads="1" noChangeShapeType="1" noTextEdit="1"/>
              </p:cNvSpPr>
              <p:nvPr/>
            </p:nvSpPr>
            <p:spPr>
              <a:xfrm>
                <a:off x="3065103" y="2309354"/>
                <a:ext cx="837409"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3B8089F-AFDC-8E42-A8C9-E2D38F34EF44}"/>
                  </a:ext>
                </a:extLst>
              </p:cNvPr>
              <p:cNvSpPr txBox="1"/>
              <p:nvPr/>
            </p:nvSpPr>
            <p:spPr>
              <a:xfrm>
                <a:off x="4532633" y="1295972"/>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=2</m:t>
                      </m:r>
                    </m:oMath>
                  </m:oMathPara>
                </a14:m>
                <a:endParaRPr lang="en-US" dirty="0">
                  <a:solidFill>
                    <a:srgbClr val="FFC000"/>
                  </a:solidFill>
                </a:endParaRPr>
              </a:p>
            </p:txBody>
          </p:sp>
        </mc:Choice>
        <mc:Fallback>
          <p:sp>
            <p:nvSpPr>
              <p:cNvPr id="15" name="TextBox 14">
                <a:extLst>
                  <a:ext uri="{FF2B5EF4-FFF2-40B4-BE49-F238E27FC236}">
                    <a16:creationId xmlns:a16="http://schemas.microsoft.com/office/drawing/2014/main" id="{A3B8089F-AFDC-8E42-A8C9-E2D38F34EF44}"/>
                  </a:ext>
                </a:extLst>
              </p:cNvPr>
              <p:cNvSpPr txBox="1">
                <a:spLocks noRot="1" noChangeAspect="1" noMove="1" noResize="1" noEditPoints="1" noAdjustHandles="1" noChangeArrowheads="1" noChangeShapeType="1" noTextEdit="1"/>
              </p:cNvSpPr>
              <p:nvPr/>
            </p:nvSpPr>
            <p:spPr>
              <a:xfrm>
                <a:off x="4532633" y="1295972"/>
                <a:ext cx="790858" cy="36933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58029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9CDC-C10D-6523-139F-9B3CAE6DFF6E}"/>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467A5F55-9D64-9332-8991-AB2003F003AF}"/>
              </a:ext>
            </a:extLst>
          </p:cNvPr>
          <p:cNvSpPr/>
          <p:nvPr/>
        </p:nvSpPr>
        <p:spPr>
          <a:xfrm>
            <a:off x="1753310" y="1199276"/>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A462B9EA-81A2-203C-859D-643A5E24153A}"/>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A462B9EA-81A2-203C-859D-643A5E24153A}"/>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69BF46A0-54E6-CEA9-3C72-5355318E4692}"/>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B230499-9E8C-2291-20AC-D4E7991816B0}"/>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4AA15C2-44D9-7412-6196-3A8C57040C95}"/>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A0CFFAA8-61D3-769F-B481-C2B75911596E}"/>
              </a:ext>
            </a:extLst>
          </p:cNvPr>
          <p:cNvSpPr/>
          <p:nvPr/>
        </p:nvSpPr>
        <p:spPr>
          <a:xfrm>
            <a:off x="4245301"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89E2D556-53D0-5366-27B1-496030ECCCFA}"/>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89E2D556-53D0-5366-27B1-496030ECCCFA}"/>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3A8E8A4C-44B4-51A7-EFE4-BE0E0C49BB3B}"/>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3A8E8A4C-44B4-51A7-EFE4-BE0E0C49BB3B}"/>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ADC1C1E5-F875-2E5F-470D-5A794CCFEAF1}"/>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ADC1C1E5-F875-2E5F-470D-5A794CCFEAF1}"/>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2DE240ED-7482-CBCB-60E2-0E1DF7BAE2FC}"/>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2DE240ED-7482-CBCB-60E2-0E1DF7BAE2FC}"/>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87AD7682-67C0-E681-618F-A82721128760}"/>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87AD7682-67C0-E681-618F-A82721128760}"/>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4A86188B-C716-0268-570D-A8E3A7DCA908}"/>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4A86188B-C716-0268-570D-A8E3A7DCA908}"/>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28992AD6-EE93-768B-F1D2-5FBEBDCB3870}"/>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28992AD6-EE93-768B-F1D2-5FBEBDCB3870}"/>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BA34129F-8958-F44B-3C33-1A01773A4B90}"/>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9103482-F6DB-FF8C-6D1A-CBEA60F93ABA}"/>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01F1C5D-4C6E-2896-DF90-F1CC8F3F2EAC}"/>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F65CD7A-1C7F-C57B-D346-0382AC94676F}"/>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87A8C58-0BE8-A12D-D885-2135257C14F7}"/>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632EE97-089B-B667-8E55-18EFF64AEE63}"/>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AC60B3B-E7C1-99C6-C05F-FF03DE1CF88E}"/>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D16C65F-43E2-43F2-256D-99414AB9234D}"/>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3533B36-5BB6-CDDC-AF26-C1F038BCEAE4}"/>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DAB84EF-14B2-EB31-B419-E0AFA48C629C}"/>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2AF33-4EE2-A27F-D032-2A60DD33D568}"/>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D9EEECFE-28E1-81EB-4EDE-4F0C1DB19AE2}"/>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887F523-97F9-4E78-2136-B07F67025E0D}"/>
                  </a:ext>
                </a:extLst>
              </p:cNvPr>
              <p:cNvSpPr txBox="1"/>
              <p:nvPr/>
            </p:nvSpPr>
            <p:spPr>
              <a:xfrm>
                <a:off x="4739590" y="2214683"/>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 name="TextBox 1">
                <a:extLst>
                  <a:ext uri="{FF2B5EF4-FFF2-40B4-BE49-F238E27FC236}">
                    <a16:creationId xmlns:a16="http://schemas.microsoft.com/office/drawing/2014/main" id="{D887F523-97F9-4E78-2136-B07F67025E0D}"/>
                  </a:ext>
                </a:extLst>
              </p:cNvPr>
              <p:cNvSpPr txBox="1">
                <a:spLocks noRot="1" noChangeAspect="1" noMove="1" noResize="1" noEditPoints="1" noAdjustHandles="1" noChangeArrowheads="1" noChangeShapeType="1" noTextEdit="1"/>
              </p:cNvSpPr>
              <p:nvPr/>
            </p:nvSpPr>
            <p:spPr>
              <a:xfrm>
                <a:off x="4739590" y="2214683"/>
                <a:ext cx="347852" cy="276999"/>
              </a:xfrm>
              <a:prstGeom prst="rect">
                <a:avLst/>
              </a:prstGeom>
              <a:blipFill>
                <a:blip r:embed="rId10"/>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CB20F20-E8A6-9367-817E-3AF8A418DF8B}"/>
                  </a:ext>
                </a:extLst>
              </p:cNvPr>
              <p:cNvSpPr txBox="1"/>
              <p:nvPr/>
            </p:nvSpPr>
            <p:spPr>
              <a:xfrm>
                <a:off x="4854891" y="3439601"/>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3</m:t>
                      </m:r>
                    </m:oMath>
                  </m:oMathPara>
                </a14:m>
                <a:endParaRPr lang="en-US" dirty="0">
                  <a:solidFill>
                    <a:schemeClr val="bg1"/>
                  </a:solidFill>
                </a:endParaRPr>
              </a:p>
            </p:txBody>
          </p:sp>
        </mc:Choice>
        <mc:Fallback>
          <p:sp>
            <p:nvSpPr>
              <p:cNvPr id="3" name="TextBox 2">
                <a:extLst>
                  <a:ext uri="{FF2B5EF4-FFF2-40B4-BE49-F238E27FC236}">
                    <a16:creationId xmlns:a16="http://schemas.microsoft.com/office/drawing/2014/main" id="{FCB20F20-E8A6-9367-817E-3AF8A418DF8B}"/>
                  </a:ext>
                </a:extLst>
              </p:cNvPr>
              <p:cNvSpPr txBox="1">
                <a:spLocks noRot="1" noChangeAspect="1" noMove="1" noResize="1" noEditPoints="1" noAdjustHandles="1" noChangeArrowheads="1" noChangeShapeType="1" noTextEdit="1"/>
              </p:cNvSpPr>
              <p:nvPr/>
            </p:nvSpPr>
            <p:spPr>
              <a:xfrm>
                <a:off x="4854891" y="3439601"/>
                <a:ext cx="174728" cy="276999"/>
              </a:xfrm>
              <a:prstGeom prst="rect">
                <a:avLst/>
              </a:prstGeom>
              <a:blipFill>
                <a:blip r:embed="rId11"/>
                <a:stretch>
                  <a:fillRect l="-35714" r="-35714"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B81356B-E1F1-0604-5CBA-8BA5BBA5D39E}"/>
                  </a:ext>
                </a:extLst>
              </p:cNvPr>
              <p:cNvSpPr txBox="1"/>
              <p:nvPr/>
            </p:nvSpPr>
            <p:spPr>
              <a:xfrm>
                <a:off x="4739590" y="4703826"/>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−1</m:t>
                      </m:r>
                    </m:oMath>
                  </m:oMathPara>
                </a14:m>
                <a:endParaRPr lang="en-US" dirty="0">
                  <a:solidFill>
                    <a:schemeClr val="bg1"/>
                  </a:solidFill>
                </a:endParaRPr>
              </a:p>
            </p:txBody>
          </p:sp>
        </mc:Choice>
        <mc:Fallback>
          <p:sp>
            <p:nvSpPr>
              <p:cNvPr id="12" name="TextBox 11">
                <a:extLst>
                  <a:ext uri="{FF2B5EF4-FFF2-40B4-BE49-F238E27FC236}">
                    <a16:creationId xmlns:a16="http://schemas.microsoft.com/office/drawing/2014/main" id="{CB81356B-E1F1-0604-5CBA-8BA5BBA5D39E}"/>
                  </a:ext>
                </a:extLst>
              </p:cNvPr>
              <p:cNvSpPr txBox="1">
                <a:spLocks noRot="1" noChangeAspect="1" noMove="1" noResize="1" noEditPoints="1" noAdjustHandles="1" noChangeArrowheads="1" noChangeShapeType="1" noTextEdit="1"/>
              </p:cNvSpPr>
              <p:nvPr/>
            </p:nvSpPr>
            <p:spPr>
              <a:xfrm>
                <a:off x="4739590" y="4703826"/>
                <a:ext cx="347852" cy="276999"/>
              </a:xfrm>
              <a:prstGeom prst="rect">
                <a:avLst/>
              </a:prstGeom>
              <a:blipFill>
                <a:blip r:embed="rId12"/>
                <a:stretch>
                  <a:fillRect r="-13793" b="-4348"/>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2825E994-C4DF-2DB3-5DF9-0BC3607465E2}"/>
              </a:ext>
            </a:extLst>
          </p:cNvPr>
          <p:cNvSpPr txBox="1"/>
          <p:nvPr/>
        </p:nvSpPr>
        <p:spPr>
          <a:xfrm>
            <a:off x="366169" y="416677"/>
            <a:ext cx="11277912" cy="553998"/>
          </a:xfrm>
          <a:prstGeom prst="rect">
            <a:avLst/>
          </a:prstGeom>
          <a:noFill/>
        </p:spPr>
        <p:txBody>
          <a:bodyPr wrap="square" rtlCol="0">
            <a:spAutoFit/>
          </a:bodyPr>
          <a:lstStyle/>
          <a:p>
            <a:r>
              <a:rPr lang="en-US" sz="3000" dirty="0"/>
              <a:t>We compute the values of neurons in these layers from left to right</a:t>
            </a:r>
          </a:p>
        </p:txBody>
      </p:sp>
    </p:spTree>
    <p:extLst>
      <p:ext uri="{BB962C8B-B14F-4D97-AF65-F5344CB8AC3E}">
        <p14:creationId xmlns:p14="http://schemas.microsoft.com/office/powerpoint/2010/main" val="670326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71051-6D26-1DBA-66F5-0480EFC5DA5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4937050-D87D-9554-713D-4316FCD0E08F}"/>
              </a:ext>
            </a:extLst>
          </p:cNvPr>
          <p:cNvSpPr/>
          <p:nvPr/>
        </p:nvSpPr>
        <p:spPr>
          <a:xfrm>
            <a:off x="6371992"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E8AE07E0-3783-5834-E5E9-C594678FD60D}"/>
              </a:ext>
            </a:extLst>
          </p:cNvPr>
          <p:cNvSpPr/>
          <p:nvPr/>
        </p:nvSpPr>
        <p:spPr>
          <a:xfrm>
            <a:off x="1753310" y="1199276"/>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9C100384-469B-7085-ACA4-E3BD27EB80D3}"/>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9C100384-469B-7085-ACA4-E3BD27EB80D3}"/>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720D5EF1-3587-6107-D935-D18B2BDE6CDD}"/>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EBC9FE7-0FDB-158B-6257-C5CD6CAAD2C0}"/>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423209B-470A-F6C2-6C00-7B55ADC2335D}"/>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4E9B8E02-125F-BBCC-2AD2-47DC83E7AC71}"/>
              </a:ext>
            </a:extLst>
          </p:cNvPr>
          <p:cNvSpPr/>
          <p:nvPr/>
        </p:nvSpPr>
        <p:spPr>
          <a:xfrm>
            <a:off x="4245301"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4B5E1793-DD07-D263-F5BA-ABCE94B958B5}"/>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4B5E1793-DD07-D263-F5BA-ABCE94B958B5}"/>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85F898C3-E748-05C6-BA7A-37C3FEBBCE14}"/>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85F898C3-E748-05C6-BA7A-37C3FEBBCE14}"/>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A0B866BE-0014-F40F-57BB-FA57C1C6B3F2}"/>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A0B866BE-0014-F40F-57BB-FA57C1C6B3F2}"/>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2855BBF1-3BE0-FFED-6F3D-D48D6DC29B38}"/>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2855BBF1-3BE0-FFED-6F3D-D48D6DC29B38}"/>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FF33709F-0B18-28FD-628B-93F83C9A5773}"/>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FF33709F-0B18-28FD-628B-93F83C9A5773}"/>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79FB2F22-9BD8-71C5-D83A-5983217617B9}"/>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79FB2F22-9BD8-71C5-D83A-5983217617B9}"/>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B8F10CDD-C0CD-7161-9746-7E00F8D6D3FD}"/>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B8F10CDD-C0CD-7161-9746-7E00F8D6D3FD}"/>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EC649311-583C-DA0B-4AA1-234F92163732}"/>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FCFA649-D48F-7E30-E385-3F3157174073}"/>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313F0CC-2E8E-6EAD-B913-4C3491EEE2B4}"/>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1C273BA-1C0E-E681-FD0F-59D07DDCD925}"/>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B529791-1361-1558-6054-95EFD9919171}"/>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601616C-96ED-2F19-98F8-29338C263A7D}"/>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E9E3EB1-7AD3-9C28-CCFD-50DCFA2F829D}"/>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4A3868E9-CEB2-4189-A93A-CD761D715EF5}"/>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A34B4F6-D245-B1FB-4611-28D5119590C5}"/>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3CA0C31-A333-C183-FC69-ED540809F445}"/>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6605A9B-EAFC-DEB4-0869-F08A31A3FE68}"/>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2B1144C9-9DBD-6A1F-E9D1-7AFEDAD3D226}"/>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0006BF4-3FA9-3504-51AD-4D7DAE03C3DF}"/>
                  </a:ext>
                </a:extLst>
              </p:cNvPr>
              <p:cNvSpPr txBox="1"/>
              <p:nvPr/>
            </p:nvSpPr>
            <p:spPr>
              <a:xfrm>
                <a:off x="4739590" y="2214683"/>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 name="TextBox 1">
                <a:extLst>
                  <a:ext uri="{FF2B5EF4-FFF2-40B4-BE49-F238E27FC236}">
                    <a16:creationId xmlns:a16="http://schemas.microsoft.com/office/drawing/2014/main" id="{20006BF4-3FA9-3504-51AD-4D7DAE03C3DF}"/>
                  </a:ext>
                </a:extLst>
              </p:cNvPr>
              <p:cNvSpPr txBox="1">
                <a:spLocks noRot="1" noChangeAspect="1" noMove="1" noResize="1" noEditPoints="1" noAdjustHandles="1" noChangeArrowheads="1" noChangeShapeType="1" noTextEdit="1"/>
              </p:cNvSpPr>
              <p:nvPr/>
            </p:nvSpPr>
            <p:spPr>
              <a:xfrm>
                <a:off x="4739590" y="2214683"/>
                <a:ext cx="347852" cy="276999"/>
              </a:xfrm>
              <a:prstGeom prst="rect">
                <a:avLst/>
              </a:prstGeom>
              <a:blipFill>
                <a:blip r:embed="rId10"/>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F7028D0-325D-7CDB-55DF-D84F68C07EA3}"/>
                  </a:ext>
                </a:extLst>
              </p:cNvPr>
              <p:cNvSpPr txBox="1"/>
              <p:nvPr/>
            </p:nvSpPr>
            <p:spPr>
              <a:xfrm>
                <a:off x="4854891" y="3439601"/>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3</m:t>
                      </m:r>
                    </m:oMath>
                  </m:oMathPara>
                </a14:m>
                <a:endParaRPr lang="en-US" dirty="0">
                  <a:solidFill>
                    <a:schemeClr val="bg1"/>
                  </a:solidFill>
                </a:endParaRPr>
              </a:p>
            </p:txBody>
          </p:sp>
        </mc:Choice>
        <mc:Fallback>
          <p:sp>
            <p:nvSpPr>
              <p:cNvPr id="3" name="TextBox 2">
                <a:extLst>
                  <a:ext uri="{FF2B5EF4-FFF2-40B4-BE49-F238E27FC236}">
                    <a16:creationId xmlns:a16="http://schemas.microsoft.com/office/drawing/2014/main" id="{DF7028D0-325D-7CDB-55DF-D84F68C07EA3}"/>
                  </a:ext>
                </a:extLst>
              </p:cNvPr>
              <p:cNvSpPr txBox="1">
                <a:spLocks noRot="1" noChangeAspect="1" noMove="1" noResize="1" noEditPoints="1" noAdjustHandles="1" noChangeArrowheads="1" noChangeShapeType="1" noTextEdit="1"/>
              </p:cNvSpPr>
              <p:nvPr/>
            </p:nvSpPr>
            <p:spPr>
              <a:xfrm>
                <a:off x="4854891" y="3439601"/>
                <a:ext cx="174728" cy="276999"/>
              </a:xfrm>
              <a:prstGeom prst="rect">
                <a:avLst/>
              </a:prstGeom>
              <a:blipFill>
                <a:blip r:embed="rId11"/>
                <a:stretch>
                  <a:fillRect l="-35714" r="-35714"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8ABCCC9-094B-C452-8FC5-1E36195A3DAA}"/>
                  </a:ext>
                </a:extLst>
              </p:cNvPr>
              <p:cNvSpPr txBox="1"/>
              <p:nvPr/>
            </p:nvSpPr>
            <p:spPr>
              <a:xfrm>
                <a:off x="4739590" y="4703826"/>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−1</m:t>
                      </m:r>
                    </m:oMath>
                  </m:oMathPara>
                </a14:m>
                <a:endParaRPr lang="en-US" dirty="0">
                  <a:solidFill>
                    <a:schemeClr val="bg1"/>
                  </a:solidFill>
                </a:endParaRPr>
              </a:p>
            </p:txBody>
          </p:sp>
        </mc:Choice>
        <mc:Fallback>
          <p:sp>
            <p:nvSpPr>
              <p:cNvPr id="12" name="TextBox 11">
                <a:extLst>
                  <a:ext uri="{FF2B5EF4-FFF2-40B4-BE49-F238E27FC236}">
                    <a16:creationId xmlns:a16="http://schemas.microsoft.com/office/drawing/2014/main" id="{A8ABCCC9-094B-C452-8FC5-1E36195A3DAA}"/>
                  </a:ext>
                </a:extLst>
              </p:cNvPr>
              <p:cNvSpPr txBox="1">
                <a:spLocks noRot="1" noChangeAspect="1" noMove="1" noResize="1" noEditPoints="1" noAdjustHandles="1" noChangeArrowheads="1" noChangeShapeType="1" noTextEdit="1"/>
              </p:cNvSpPr>
              <p:nvPr/>
            </p:nvSpPr>
            <p:spPr>
              <a:xfrm>
                <a:off x="4739590" y="4703826"/>
                <a:ext cx="347852" cy="276999"/>
              </a:xfrm>
              <a:prstGeom prst="rect">
                <a:avLst/>
              </a:prstGeom>
              <a:blipFill>
                <a:blip r:embed="rId12"/>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77AFA5D9-8503-2975-F8C4-7A30796A4427}"/>
                  </a:ext>
                </a:extLst>
              </p:cNvPr>
              <p:cNvSpPr txBox="1"/>
              <p:nvPr/>
            </p:nvSpPr>
            <p:spPr>
              <a:xfrm>
                <a:off x="6874726" y="2214682"/>
                <a:ext cx="35105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0.5</m:t>
                      </m:r>
                    </m:oMath>
                  </m:oMathPara>
                </a14:m>
                <a:endParaRPr lang="en-US" dirty="0">
                  <a:solidFill>
                    <a:schemeClr val="bg1"/>
                  </a:solidFill>
                </a:endParaRPr>
              </a:p>
            </p:txBody>
          </p:sp>
        </mc:Choice>
        <mc:Fallback>
          <p:sp>
            <p:nvSpPr>
              <p:cNvPr id="16" name="TextBox 15">
                <a:extLst>
                  <a:ext uri="{FF2B5EF4-FFF2-40B4-BE49-F238E27FC236}">
                    <a16:creationId xmlns:a16="http://schemas.microsoft.com/office/drawing/2014/main" id="{77AFA5D9-8503-2975-F8C4-7A30796A4427}"/>
                  </a:ext>
                </a:extLst>
              </p:cNvPr>
              <p:cNvSpPr txBox="1">
                <a:spLocks noRot="1" noChangeAspect="1" noMove="1" noResize="1" noEditPoints="1" noAdjustHandles="1" noChangeArrowheads="1" noChangeShapeType="1" noTextEdit="1"/>
              </p:cNvSpPr>
              <p:nvPr/>
            </p:nvSpPr>
            <p:spPr>
              <a:xfrm>
                <a:off x="6874726" y="2214682"/>
                <a:ext cx="351058" cy="276999"/>
              </a:xfrm>
              <a:prstGeom prst="rect">
                <a:avLst/>
              </a:prstGeom>
              <a:blipFill>
                <a:blip r:embed="rId13"/>
                <a:stretch>
                  <a:fillRect l="-14286" r="-17857"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58C6046-F851-7292-61F7-ED458DEF3925}"/>
                  </a:ext>
                </a:extLst>
              </p:cNvPr>
              <p:cNvSpPr txBox="1"/>
              <p:nvPr/>
            </p:nvSpPr>
            <p:spPr>
              <a:xfrm>
                <a:off x="6965161" y="3419504"/>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18" name="TextBox 17">
                <a:extLst>
                  <a:ext uri="{FF2B5EF4-FFF2-40B4-BE49-F238E27FC236}">
                    <a16:creationId xmlns:a16="http://schemas.microsoft.com/office/drawing/2014/main" id="{358C6046-F851-7292-61F7-ED458DEF3925}"/>
                  </a:ext>
                </a:extLst>
              </p:cNvPr>
              <p:cNvSpPr txBox="1">
                <a:spLocks noRot="1" noChangeAspect="1" noMove="1" noResize="1" noEditPoints="1" noAdjustHandles="1" noChangeArrowheads="1" noChangeShapeType="1" noTextEdit="1"/>
              </p:cNvSpPr>
              <p:nvPr/>
            </p:nvSpPr>
            <p:spPr>
              <a:xfrm>
                <a:off x="6965161" y="3419504"/>
                <a:ext cx="174728" cy="276999"/>
              </a:xfrm>
              <a:prstGeom prst="rect">
                <a:avLst/>
              </a:prstGeom>
              <a:blipFill>
                <a:blip r:embed="rId14"/>
                <a:stretch>
                  <a:fillRect l="-33333" r="-26667"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F77D3BA-810E-1717-B7BD-B4472C928050}"/>
                  </a:ext>
                </a:extLst>
              </p:cNvPr>
              <p:cNvSpPr txBox="1"/>
              <p:nvPr/>
            </p:nvSpPr>
            <p:spPr>
              <a:xfrm>
                <a:off x="6965161" y="4660933"/>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2" name="TextBox 21">
                <a:extLst>
                  <a:ext uri="{FF2B5EF4-FFF2-40B4-BE49-F238E27FC236}">
                    <a16:creationId xmlns:a16="http://schemas.microsoft.com/office/drawing/2014/main" id="{AF77D3BA-810E-1717-B7BD-B4472C928050}"/>
                  </a:ext>
                </a:extLst>
              </p:cNvPr>
              <p:cNvSpPr txBox="1">
                <a:spLocks noRot="1" noChangeAspect="1" noMove="1" noResize="1" noEditPoints="1" noAdjustHandles="1" noChangeArrowheads="1" noChangeShapeType="1" noTextEdit="1"/>
              </p:cNvSpPr>
              <p:nvPr/>
            </p:nvSpPr>
            <p:spPr>
              <a:xfrm>
                <a:off x="6965161" y="4660933"/>
                <a:ext cx="174728" cy="276999"/>
              </a:xfrm>
              <a:prstGeom prst="rect">
                <a:avLst/>
              </a:prstGeom>
              <a:blipFill>
                <a:blip r:embed="rId15"/>
                <a:stretch>
                  <a:fillRect l="-33333" r="-26667" b="-9091"/>
                </a:stretch>
              </a:blipFill>
            </p:spPr>
            <p:txBody>
              <a:bodyPr/>
              <a:lstStyle/>
              <a:p>
                <a:r>
                  <a:rPr lang="en-US">
                    <a:noFill/>
                  </a:rPr>
                  <a:t> </a:t>
                </a:r>
              </a:p>
            </p:txBody>
          </p:sp>
        </mc:Fallback>
      </mc:AlternateContent>
    </p:spTree>
    <p:extLst>
      <p:ext uri="{BB962C8B-B14F-4D97-AF65-F5344CB8AC3E}">
        <p14:creationId xmlns:p14="http://schemas.microsoft.com/office/powerpoint/2010/main" val="3795586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8CE4C-4B97-8B9E-D5FD-0DCA9766359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4E72A3A-F142-BB6D-1FF6-D809CF10AEA7}"/>
              </a:ext>
            </a:extLst>
          </p:cNvPr>
          <p:cNvSpPr/>
          <p:nvPr/>
        </p:nvSpPr>
        <p:spPr>
          <a:xfrm>
            <a:off x="6371992"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D3197B-6EAE-C631-E4D7-E339BBB599A3}"/>
              </a:ext>
            </a:extLst>
          </p:cNvPr>
          <p:cNvSpPr/>
          <p:nvPr/>
        </p:nvSpPr>
        <p:spPr>
          <a:xfrm>
            <a:off x="1753310" y="1199276"/>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0480A191-DD18-AA9E-472A-10BF972AEA69}"/>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0480A191-DD18-AA9E-472A-10BF972AEA69}"/>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5921FBA7-87AD-3B3B-1EAF-1163747BA018}"/>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15BECA5-4677-7F2F-6566-6F80370E9D62}"/>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A6593E0-3464-D5C3-F2A3-9ADE2EAD8C31}"/>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7D4054DC-E9F5-04E4-8FFC-67F8B5831F2F}"/>
              </a:ext>
            </a:extLst>
          </p:cNvPr>
          <p:cNvSpPr/>
          <p:nvPr/>
        </p:nvSpPr>
        <p:spPr>
          <a:xfrm>
            <a:off x="4245301"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584085FC-DCDE-1CDE-A8B7-651550943D26}"/>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584085FC-DCDE-1CDE-A8B7-651550943D26}"/>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7C60CE75-820C-4962-4CBD-8B2776C8314D}"/>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oMath>
                  </m:oMathPara>
                </a14:m>
                <a:endParaRPr lang="en-US" dirty="0"/>
              </a:p>
            </p:txBody>
          </p:sp>
        </mc:Choice>
        <mc:Fallback>
          <p:sp>
            <p:nvSpPr>
              <p:cNvPr id="6" name="Oval 5">
                <a:extLst>
                  <a:ext uri="{FF2B5EF4-FFF2-40B4-BE49-F238E27FC236}">
                    <a16:creationId xmlns:a16="http://schemas.microsoft.com/office/drawing/2014/main" id="{7C60CE75-820C-4962-4CBD-8B2776C8314D}"/>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06EDCEFE-62C6-2DF1-E8AC-5B6BF17B84A5}"/>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06EDCEFE-62C6-2DF1-E8AC-5B6BF17B84A5}"/>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811EEB74-6CBC-D3BC-4596-434E965E12A9}"/>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811EEB74-6CBC-D3BC-4596-434E965E12A9}"/>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C8F644F7-5E67-67C4-6D19-6E324414E92E}"/>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C8F644F7-5E67-67C4-6D19-6E324414E92E}"/>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9F40A4BF-6B8A-D7C3-3B5E-92C270F314EA}"/>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9F40A4BF-6B8A-D7C3-3B5E-92C270F314EA}"/>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31201032-0E9B-E707-953C-A29CD18BEFFA}"/>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31201032-0E9B-E707-953C-A29CD18BEFFA}"/>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9ADB17F2-2B2F-FED4-50C1-6C7E2B03E016}"/>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D79CB3F-FCE6-325F-7881-DA1E6C268665}"/>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E52054F-4C32-E8FA-982D-8807761E7826}"/>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81AB58D-B0FE-8364-DB25-4C60B1E7D254}"/>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2BD3D83-898F-BD39-5BE9-EC7E776CCCCB}"/>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63C46A2-CD26-7FE3-297C-A89BB707A358}"/>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46F3795-30D9-744C-341C-AD58E704CE8D}"/>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AD6E961-6B8F-45C3-AAD6-73CF38789D6B}"/>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651B5F8-2C36-11A0-1041-4765CC95F559}"/>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4908AC7-42B0-A013-4B30-E23D573C8F8A}"/>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39A81F5-5C14-F159-6802-28E900D37E37}"/>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86B60BD2-9508-539C-5E6C-4A55523A522A}"/>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5012F12-9A5E-403A-E319-D3968AA9E447}"/>
                  </a:ext>
                </a:extLst>
              </p:cNvPr>
              <p:cNvSpPr txBox="1"/>
              <p:nvPr/>
            </p:nvSpPr>
            <p:spPr>
              <a:xfrm>
                <a:off x="4739590" y="2214683"/>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 name="TextBox 1">
                <a:extLst>
                  <a:ext uri="{FF2B5EF4-FFF2-40B4-BE49-F238E27FC236}">
                    <a16:creationId xmlns:a16="http://schemas.microsoft.com/office/drawing/2014/main" id="{65012F12-9A5E-403A-E319-D3968AA9E447}"/>
                  </a:ext>
                </a:extLst>
              </p:cNvPr>
              <p:cNvSpPr txBox="1">
                <a:spLocks noRot="1" noChangeAspect="1" noMove="1" noResize="1" noEditPoints="1" noAdjustHandles="1" noChangeArrowheads="1" noChangeShapeType="1" noTextEdit="1"/>
              </p:cNvSpPr>
              <p:nvPr/>
            </p:nvSpPr>
            <p:spPr>
              <a:xfrm>
                <a:off x="4739590" y="2214683"/>
                <a:ext cx="347852" cy="276999"/>
              </a:xfrm>
              <a:prstGeom prst="rect">
                <a:avLst/>
              </a:prstGeom>
              <a:blipFill>
                <a:blip r:embed="rId10"/>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9C3782E-3D61-6F6C-7D4C-7D86B9ED0478}"/>
                  </a:ext>
                </a:extLst>
              </p:cNvPr>
              <p:cNvSpPr txBox="1"/>
              <p:nvPr/>
            </p:nvSpPr>
            <p:spPr>
              <a:xfrm>
                <a:off x="4854891" y="3439601"/>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3</m:t>
                      </m:r>
                    </m:oMath>
                  </m:oMathPara>
                </a14:m>
                <a:endParaRPr lang="en-US" dirty="0">
                  <a:solidFill>
                    <a:schemeClr val="bg1"/>
                  </a:solidFill>
                </a:endParaRPr>
              </a:p>
            </p:txBody>
          </p:sp>
        </mc:Choice>
        <mc:Fallback>
          <p:sp>
            <p:nvSpPr>
              <p:cNvPr id="3" name="TextBox 2">
                <a:extLst>
                  <a:ext uri="{FF2B5EF4-FFF2-40B4-BE49-F238E27FC236}">
                    <a16:creationId xmlns:a16="http://schemas.microsoft.com/office/drawing/2014/main" id="{09C3782E-3D61-6F6C-7D4C-7D86B9ED0478}"/>
                  </a:ext>
                </a:extLst>
              </p:cNvPr>
              <p:cNvSpPr txBox="1">
                <a:spLocks noRot="1" noChangeAspect="1" noMove="1" noResize="1" noEditPoints="1" noAdjustHandles="1" noChangeArrowheads="1" noChangeShapeType="1" noTextEdit="1"/>
              </p:cNvSpPr>
              <p:nvPr/>
            </p:nvSpPr>
            <p:spPr>
              <a:xfrm>
                <a:off x="4854891" y="3439601"/>
                <a:ext cx="174728" cy="276999"/>
              </a:xfrm>
              <a:prstGeom prst="rect">
                <a:avLst/>
              </a:prstGeom>
              <a:blipFill>
                <a:blip r:embed="rId11"/>
                <a:stretch>
                  <a:fillRect l="-35714" r="-35714"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6D986D4-C5DD-9132-2BA0-20529FEB1669}"/>
                  </a:ext>
                </a:extLst>
              </p:cNvPr>
              <p:cNvSpPr txBox="1"/>
              <p:nvPr/>
            </p:nvSpPr>
            <p:spPr>
              <a:xfrm>
                <a:off x="4739590" y="4703826"/>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−1</m:t>
                      </m:r>
                    </m:oMath>
                  </m:oMathPara>
                </a14:m>
                <a:endParaRPr lang="en-US" dirty="0">
                  <a:solidFill>
                    <a:schemeClr val="bg1"/>
                  </a:solidFill>
                </a:endParaRPr>
              </a:p>
            </p:txBody>
          </p:sp>
        </mc:Choice>
        <mc:Fallback>
          <p:sp>
            <p:nvSpPr>
              <p:cNvPr id="12" name="TextBox 11">
                <a:extLst>
                  <a:ext uri="{FF2B5EF4-FFF2-40B4-BE49-F238E27FC236}">
                    <a16:creationId xmlns:a16="http://schemas.microsoft.com/office/drawing/2014/main" id="{06D986D4-C5DD-9132-2BA0-20529FEB1669}"/>
                  </a:ext>
                </a:extLst>
              </p:cNvPr>
              <p:cNvSpPr txBox="1">
                <a:spLocks noRot="1" noChangeAspect="1" noMove="1" noResize="1" noEditPoints="1" noAdjustHandles="1" noChangeArrowheads="1" noChangeShapeType="1" noTextEdit="1"/>
              </p:cNvSpPr>
              <p:nvPr/>
            </p:nvSpPr>
            <p:spPr>
              <a:xfrm>
                <a:off x="4739590" y="4703826"/>
                <a:ext cx="347852" cy="276999"/>
              </a:xfrm>
              <a:prstGeom prst="rect">
                <a:avLst/>
              </a:prstGeom>
              <a:blipFill>
                <a:blip r:embed="rId12"/>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457C5FF-37EC-6005-9EAC-499DD6F40073}"/>
                  </a:ext>
                </a:extLst>
              </p:cNvPr>
              <p:cNvSpPr txBox="1"/>
              <p:nvPr/>
            </p:nvSpPr>
            <p:spPr>
              <a:xfrm>
                <a:off x="6874726" y="2214682"/>
                <a:ext cx="35105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0.5</m:t>
                      </m:r>
                    </m:oMath>
                  </m:oMathPara>
                </a14:m>
                <a:endParaRPr lang="en-US" dirty="0">
                  <a:solidFill>
                    <a:srgbClr val="FF0000"/>
                  </a:solidFill>
                </a:endParaRPr>
              </a:p>
            </p:txBody>
          </p:sp>
        </mc:Choice>
        <mc:Fallback>
          <p:sp>
            <p:nvSpPr>
              <p:cNvPr id="16" name="TextBox 15">
                <a:extLst>
                  <a:ext uri="{FF2B5EF4-FFF2-40B4-BE49-F238E27FC236}">
                    <a16:creationId xmlns:a16="http://schemas.microsoft.com/office/drawing/2014/main" id="{1457C5FF-37EC-6005-9EAC-499DD6F40073}"/>
                  </a:ext>
                </a:extLst>
              </p:cNvPr>
              <p:cNvSpPr txBox="1">
                <a:spLocks noRot="1" noChangeAspect="1" noMove="1" noResize="1" noEditPoints="1" noAdjustHandles="1" noChangeArrowheads="1" noChangeShapeType="1" noTextEdit="1"/>
              </p:cNvSpPr>
              <p:nvPr/>
            </p:nvSpPr>
            <p:spPr>
              <a:xfrm>
                <a:off x="6874726" y="2214682"/>
                <a:ext cx="351058" cy="276999"/>
              </a:xfrm>
              <a:prstGeom prst="rect">
                <a:avLst/>
              </a:prstGeom>
              <a:blipFill>
                <a:blip r:embed="rId13"/>
                <a:stretch>
                  <a:fillRect l="-14286" r="-17857"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FB4833E6-CA20-E589-46B4-D6BB668CD5C9}"/>
                  </a:ext>
                </a:extLst>
              </p:cNvPr>
              <p:cNvSpPr txBox="1"/>
              <p:nvPr/>
            </p:nvSpPr>
            <p:spPr>
              <a:xfrm>
                <a:off x="6965161" y="3419504"/>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oMath>
                  </m:oMathPara>
                </a14:m>
                <a:endParaRPr lang="en-US" dirty="0">
                  <a:solidFill>
                    <a:schemeClr val="bg1"/>
                  </a:solidFill>
                </a:endParaRPr>
              </a:p>
            </p:txBody>
          </p:sp>
        </mc:Choice>
        <mc:Fallback>
          <p:sp>
            <p:nvSpPr>
              <p:cNvPr id="18" name="TextBox 17">
                <a:extLst>
                  <a:ext uri="{FF2B5EF4-FFF2-40B4-BE49-F238E27FC236}">
                    <a16:creationId xmlns:a16="http://schemas.microsoft.com/office/drawing/2014/main" id="{FB4833E6-CA20-E589-46B4-D6BB668CD5C9}"/>
                  </a:ext>
                </a:extLst>
              </p:cNvPr>
              <p:cNvSpPr txBox="1">
                <a:spLocks noRot="1" noChangeAspect="1" noMove="1" noResize="1" noEditPoints="1" noAdjustHandles="1" noChangeArrowheads="1" noChangeShapeType="1" noTextEdit="1"/>
              </p:cNvSpPr>
              <p:nvPr/>
            </p:nvSpPr>
            <p:spPr>
              <a:xfrm>
                <a:off x="6965161" y="3419504"/>
                <a:ext cx="174728" cy="276999"/>
              </a:xfrm>
              <a:prstGeom prst="rect">
                <a:avLst/>
              </a:prstGeom>
              <a:blipFill>
                <a:blip r:embed="rId14"/>
                <a:stretch>
                  <a:fillRect l="-33333" r="-26667"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6B7DB14-C3CB-EF16-79D8-3766A929F10B}"/>
                  </a:ext>
                </a:extLst>
              </p:cNvPr>
              <p:cNvSpPr txBox="1"/>
              <p:nvPr/>
            </p:nvSpPr>
            <p:spPr>
              <a:xfrm>
                <a:off x="4608493" y="5448073"/>
                <a:ext cx="2793265"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oMath>
                  </m:oMathPara>
                </a14:m>
                <a:endParaRPr lang="en-US" sz="3000" dirty="0"/>
              </a:p>
            </p:txBody>
          </p:sp>
        </mc:Choice>
        <mc:Fallback>
          <p:sp>
            <p:nvSpPr>
              <p:cNvPr id="19" name="TextBox 18">
                <a:extLst>
                  <a:ext uri="{FF2B5EF4-FFF2-40B4-BE49-F238E27FC236}">
                    <a16:creationId xmlns:a16="http://schemas.microsoft.com/office/drawing/2014/main" id="{E6B7DB14-C3CB-EF16-79D8-3766A929F10B}"/>
                  </a:ext>
                </a:extLst>
              </p:cNvPr>
              <p:cNvSpPr txBox="1">
                <a:spLocks noRot="1" noChangeAspect="1" noMove="1" noResize="1" noEditPoints="1" noAdjustHandles="1" noChangeArrowheads="1" noChangeShapeType="1" noTextEdit="1"/>
              </p:cNvSpPr>
              <p:nvPr/>
            </p:nvSpPr>
            <p:spPr>
              <a:xfrm>
                <a:off x="4608493" y="5448073"/>
                <a:ext cx="2793265" cy="1117807"/>
              </a:xfrm>
              <a:prstGeom prst="rect">
                <a:avLst/>
              </a:prstGeom>
              <a:blipFill>
                <a:blip r:embed="rId15"/>
                <a:stretch>
                  <a:fillRect l="-1357" t="-148864" r="-4072" b="-2068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41161D-BB5A-C1D7-FB94-A9839085CD7C}"/>
                  </a:ext>
                </a:extLst>
              </p:cNvPr>
              <p:cNvSpPr txBox="1"/>
              <p:nvPr/>
            </p:nvSpPr>
            <p:spPr>
              <a:xfrm>
                <a:off x="6965161" y="4660933"/>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oMath>
                  </m:oMathPara>
                </a14:m>
                <a:endParaRPr lang="en-US" dirty="0">
                  <a:solidFill>
                    <a:schemeClr val="bg1"/>
                  </a:solidFill>
                </a:endParaRPr>
              </a:p>
            </p:txBody>
          </p:sp>
        </mc:Choice>
        <mc:Fallback>
          <p:sp>
            <p:nvSpPr>
              <p:cNvPr id="22" name="TextBox 21">
                <a:extLst>
                  <a:ext uri="{FF2B5EF4-FFF2-40B4-BE49-F238E27FC236}">
                    <a16:creationId xmlns:a16="http://schemas.microsoft.com/office/drawing/2014/main" id="{3C41161D-BB5A-C1D7-FB94-A9839085CD7C}"/>
                  </a:ext>
                </a:extLst>
              </p:cNvPr>
              <p:cNvSpPr txBox="1">
                <a:spLocks noRot="1" noChangeAspect="1" noMove="1" noResize="1" noEditPoints="1" noAdjustHandles="1" noChangeArrowheads="1" noChangeShapeType="1" noTextEdit="1"/>
              </p:cNvSpPr>
              <p:nvPr/>
            </p:nvSpPr>
            <p:spPr>
              <a:xfrm>
                <a:off x="6965161" y="4660933"/>
                <a:ext cx="174728" cy="276999"/>
              </a:xfrm>
              <a:prstGeom prst="rect">
                <a:avLst/>
              </a:prstGeom>
              <a:blipFill>
                <a:blip r:embed="rId16"/>
                <a:stretch>
                  <a:fillRect l="-33333" r="-26667"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8E57400A-0C3A-07E8-EB06-47781774A9FC}"/>
                  </a:ext>
                </a:extLst>
              </p:cNvPr>
              <p:cNvSpPr txBox="1"/>
              <p:nvPr/>
            </p:nvSpPr>
            <p:spPr>
              <a:xfrm>
                <a:off x="8186905" y="226942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1" name="TextBox 20">
                <a:extLst>
                  <a:ext uri="{FF2B5EF4-FFF2-40B4-BE49-F238E27FC236}">
                    <a16:creationId xmlns:a16="http://schemas.microsoft.com/office/drawing/2014/main" id="{8E57400A-0C3A-07E8-EB06-47781774A9FC}"/>
                  </a:ext>
                </a:extLst>
              </p:cNvPr>
              <p:cNvSpPr txBox="1">
                <a:spLocks noRot="1" noChangeAspect="1" noMove="1" noResize="1" noEditPoints="1" noAdjustHandles="1" noChangeArrowheads="1" noChangeShapeType="1" noTextEdit="1"/>
              </p:cNvSpPr>
              <p:nvPr/>
            </p:nvSpPr>
            <p:spPr>
              <a:xfrm>
                <a:off x="8186905" y="2269425"/>
                <a:ext cx="837409"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395C5D1-545E-DFBB-C677-36CB131EE5BD}"/>
                  </a:ext>
                </a:extLst>
              </p:cNvPr>
              <p:cNvSpPr txBox="1"/>
              <p:nvPr/>
            </p:nvSpPr>
            <p:spPr>
              <a:xfrm>
                <a:off x="8112641" y="290724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=5</m:t>
                      </m:r>
                    </m:oMath>
                  </m:oMathPara>
                </a14:m>
                <a:endParaRPr lang="en-US" dirty="0">
                  <a:solidFill>
                    <a:srgbClr val="00B050"/>
                  </a:solidFill>
                </a:endParaRPr>
              </a:p>
            </p:txBody>
          </p:sp>
        </mc:Choice>
        <mc:Fallback>
          <p:sp>
            <p:nvSpPr>
              <p:cNvPr id="24" name="TextBox 23">
                <a:extLst>
                  <a:ext uri="{FF2B5EF4-FFF2-40B4-BE49-F238E27FC236}">
                    <a16:creationId xmlns:a16="http://schemas.microsoft.com/office/drawing/2014/main" id="{8395C5D1-545E-DFBB-C677-36CB131EE5BD}"/>
                  </a:ext>
                </a:extLst>
              </p:cNvPr>
              <p:cNvSpPr txBox="1">
                <a:spLocks noRot="1" noChangeAspect="1" noMove="1" noResize="1" noEditPoints="1" noAdjustHandles="1" noChangeArrowheads="1" noChangeShapeType="1" noTextEdit="1"/>
              </p:cNvSpPr>
              <p:nvPr/>
            </p:nvSpPr>
            <p:spPr>
              <a:xfrm>
                <a:off x="8112641" y="2907246"/>
                <a:ext cx="83740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3F560E4C-5D2E-CAA2-1275-B83E49889E9F}"/>
                  </a:ext>
                </a:extLst>
              </p:cNvPr>
              <p:cNvSpPr txBox="1"/>
              <p:nvPr/>
            </p:nvSpPr>
            <p:spPr>
              <a:xfrm>
                <a:off x="7789143" y="3484946"/>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25" name="TextBox 24">
                <a:extLst>
                  <a:ext uri="{FF2B5EF4-FFF2-40B4-BE49-F238E27FC236}">
                    <a16:creationId xmlns:a16="http://schemas.microsoft.com/office/drawing/2014/main" id="{3F560E4C-5D2E-CAA2-1275-B83E49889E9F}"/>
                  </a:ext>
                </a:extLst>
              </p:cNvPr>
              <p:cNvSpPr txBox="1">
                <a:spLocks noRot="1" noChangeAspect="1" noMove="1" noResize="1" noEditPoints="1" noAdjustHandles="1" noChangeArrowheads="1" noChangeShapeType="1" noTextEdit="1"/>
              </p:cNvSpPr>
              <p:nvPr/>
            </p:nvSpPr>
            <p:spPr>
              <a:xfrm>
                <a:off x="7789143" y="3484946"/>
                <a:ext cx="1010533"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7250257F-90D8-C096-C009-0BC22BC145CD}"/>
                  </a:ext>
                </a:extLst>
              </p:cNvPr>
              <p:cNvSpPr txBox="1"/>
              <p:nvPr/>
            </p:nvSpPr>
            <p:spPr>
              <a:xfrm>
                <a:off x="9387342" y="2505235"/>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27" name="TextBox 26">
                <a:extLst>
                  <a:ext uri="{FF2B5EF4-FFF2-40B4-BE49-F238E27FC236}">
                    <a16:creationId xmlns:a16="http://schemas.microsoft.com/office/drawing/2014/main" id="{7250257F-90D8-C096-C009-0BC22BC145CD}"/>
                  </a:ext>
                </a:extLst>
              </p:cNvPr>
              <p:cNvSpPr txBox="1">
                <a:spLocks noRot="1" noChangeAspect="1" noMove="1" noResize="1" noEditPoints="1" noAdjustHandles="1" noChangeArrowheads="1" noChangeShapeType="1" noTextEdit="1"/>
              </p:cNvSpPr>
              <p:nvPr/>
            </p:nvSpPr>
            <p:spPr>
              <a:xfrm>
                <a:off x="9387342" y="2505235"/>
                <a:ext cx="963982" cy="369332"/>
              </a:xfrm>
              <a:prstGeom prst="rect">
                <a:avLst/>
              </a:prstGeom>
              <a:blipFill>
                <a:blip r:embed="rId20"/>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77AD459F-D37D-7842-076C-989A1AF0A23B}"/>
              </a:ext>
            </a:extLst>
          </p:cNvPr>
          <p:cNvSpPr/>
          <p:nvPr/>
        </p:nvSpPr>
        <p:spPr>
          <a:xfrm>
            <a:off x="9201107" y="2506909"/>
            <a:ext cx="1306286" cy="1316334"/>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DACE9C4-D447-FB4A-B7C9-CC02D8A5B551}"/>
              </a:ext>
            </a:extLst>
          </p:cNvPr>
          <p:cNvSpPr txBox="1"/>
          <p:nvPr/>
        </p:nvSpPr>
        <p:spPr>
          <a:xfrm>
            <a:off x="8468664" y="4091732"/>
            <a:ext cx="3010884" cy="646331"/>
          </a:xfrm>
          <a:prstGeom prst="rect">
            <a:avLst/>
          </a:prstGeom>
          <a:noFill/>
        </p:spPr>
        <p:txBody>
          <a:bodyPr wrap="square" rtlCol="0">
            <a:spAutoFit/>
          </a:bodyPr>
          <a:lstStyle/>
          <a:p>
            <a:pPr algn="ctr"/>
            <a:r>
              <a:rPr lang="en-US" dirty="0"/>
              <a:t>Let’s compute the value of the output neuron</a:t>
            </a:r>
          </a:p>
        </p:txBody>
      </p:sp>
    </p:spTree>
    <p:extLst>
      <p:ext uri="{BB962C8B-B14F-4D97-AF65-F5344CB8AC3E}">
        <p14:creationId xmlns:p14="http://schemas.microsoft.com/office/powerpoint/2010/main" val="3927818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80AA8-C9BA-DDF3-4F59-6841094EB09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CB510DD-A8A5-D218-0F17-30F438AD6831}"/>
              </a:ext>
            </a:extLst>
          </p:cNvPr>
          <p:cNvSpPr/>
          <p:nvPr/>
        </p:nvSpPr>
        <p:spPr>
          <a:xfrm>
            <a:off x="6371992"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5E8FDB6-B125-1A7C-D050-EF8DCC1CB4AD}"/>
              </a:ext>
            </a:extLst>
          </p:cNvPr>
          <p:cNvSpPr/>
          <p:nvPr/>
        </p:nvSpPr>
        <p:spPr>
          <a:xfrm>
            <a:off x="1753310" y="1199276"/>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89E01311-49C0-1671-65FF-A2E151C04AE4}"/>
                  </a:ext>
                </a:extLst>
              </p:cNvPr>
              <p:cNvSpPr/>
              <p:nvPr/>
            </p:nvSpPr>
            <p:spPr>
              <a:xfrm>
                <a:off x="1974374"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89E01311-49C0-1671-65FF-A2E151C04AE4}"/>
                  </a:ext>
                </a:extLst>
              </p:cNvPr>
              <p:cNvSpPr>
                <a:spLocks noRot="1" noChangeAspect="1" noMove="1" noResize="1" noEditPoints="1" noAdjustHandles="1" noChangeArrowheads="1" noChangeShapeType="1" noTextEdit="1"/>
              </p:cNvSpPr>
              <p:nvPr/>
            </p:nvSpPr>
            <p:spPr>
              <a:xfrm>
                <a:off x="1974374" y="2832134"/>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65F9A53A-CEE3-9DC2-3D9D-F8B224BB9FEF}"/>
              </a:ext>
            </a:extLst>
          </p:cNvPr>
          <p:cNvCxnSpPr>
            <a:stCxn id="4" idx="6"/>
            <a:endCxn id="5" idx="2"/>
          </p:cNvCxnSpPr>
          <p:nvPr/>
        </p:nvCxnSpPr>
        <p:spPr>
          <a:xfrm flipV="1">
            <a:off x="2888774" y="2049709"/>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BE83AB-75DA-6BEE-3B21-86EE43814BE5}"/>
              </a:ext>
            </a:extLst>
          </p:cNvPr>
          <p:cNvCxnSpPr>
            <a:cxnSpLocks/>
            <a:stCxn id="4" idx="6"/>
            <a:endCxn id="7" idx="2"/>
          </p:cNvCxnSpPr>
          <p:nvPr/>
        </p:nvCxnSpPr>
        <p:spPr>
          <a:xfrm>
            <a:off x="2888774" y="3289334"/>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B5B388B-44EE-4B41-9F09-150B0A745741}"/>
              </a:ext>
            </a:extLst>
          </p:cNvPr>
          <p:cNvCxnSpPr>
            <a:cxnSpLocks/>
            <a:stCxn id="4" idx="6"/>
            <a:endCxn id="8" idx="2"/>
          </p:cNvCxnSpPr>
          <p:nvPr/>
        </p:nvCxnSpPr>
        <p:spPr>
          <a:xfrm>
            <a:off x="2888774" y="3289334"/>
            <a:ext cx="1596281"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55433705-9141-0385-0577-99AB76BFB446}"/>
              </a:ext>
            </a:extLst>
          </p:cNvPr>
          <p:cNvSpPr/>
          <p:nvPr/>
        </p:nvSpPr>
        <p:spPr>
          <a:xfrm>
            <a:off x="4245301" y="1199275"/>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91FB951D-DEE4-3FF3-69D9-9C058473B9C1}"/>
                  </a:ext>
                </a:extLst>
              </p:cNvPr>
              <p:cNvSpPr/>
              <p:nvPr/>
            </p:nvSpPr>
            <p:spPr>
              <a:xfrm>
                <a:off x="4485055"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91FB951D-DEE4-3FF3-69D9-9C058473B9C1}"/>
                  </a:ext>
                </a:extLst>
              </p:cNvPr>
              <p:cNvSpPr>
                <a:spLocks noRot="1" noChangeAspect="1" noMove="1" noResize="1" noEditPoints="1" noAdjustHandles="1" noChangeArrowheads="1" noChangeShapeType="1" noTextEdit="1"/>
              </p:cNvSpPr>
              <p:nvPr/>
            </p:nvSpPr>
            <p:spPr>
              <a:xfrm>
                <a:off x="4485055" y="159250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9894FBF9-B0FF-8ED4-6E47-A7CF876207B0}"/>
                  </a:ext>
                </a:extLst>
              </p:cNvPr>
              <p:cNvSpPr/>
              <p:nvPr/>
            </p:nvSpPr>
            <p:spPr>
              <a:xfrm>
                <a:off x="9412133"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r>
                        <a:rPr lang="en-US" b="0" i="1" smtClean="0">
                          <a:latin typeface="Cambria Math" panose="02040503050406030204" pitchFamily="18" charset="0"/>
                        </a:rPr>
                        <m:t>=8</m:t>
                      </m:r>
                    </m:oMath>
                  </m:oMathPara>
                </a14:m>
                <a:endParaRPr lang="en-US" dirty="0"/>
              </a:p>
            </p:txBody>
          </p:sp>
        </mc:Choice>
        <mc:Fallback>
          <p:sp>
            <p:nvSpPr>
              <p:cNvPr id="6" name="Oval 5">
                <a:extLst>
                  <a:ext uri="{FF2B5EF4-FFF2-40B4-BE49-F238E27FC236}">
                    <a16:creationId xmlns:a16="http://schemas.microsoft.com/office/drawing/2014/main" id="{9894FBF9-B0FF-8ED4-6E47-A7CF876207B0}"/>
                  </a:ext>
                </a:extLst>
              </p:cNvPr>
              <p:cNvSpPr>
                <a:spLocks noRot="1" noChangeAspect="1" noMove="1" noResize="1" noEditPoints="1" noAdjustHandles="1" noChangeArrowheads="1" noChangeShapeType="1" noTextEdit="1"/>
              </p:cNvSpPr>
              <p:nvPr/>
            </p:nvSpPr>
            <p:spPr>
              <a:xfrm>
                <a:off x="9412133" y="2832134"/>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EE5A43D7-39F9-7F7E-61F2-4CAFF40FC732}"/>
                  </a:ext>
                </a:extLst>
              </p:cNvPr>
              <p:cNvSpPr/>
              <p:nvPr/>
            </p:nvSpPr>
            <p:spPr>
              <a:xfrm>
                <a:off x="4485055" y="283449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EE5A43D7-39F9-7F7E-61F2-4CAFF40FC732}"/>
                  </a:ext>
                </a:extLst>
              </p:cNvPr>
              <p:cNvSpPr>
                <a:spLocks noRot="1" noChangeAspect="1" noMove="1" noResize="1" noEditPoints="1" noAdjustHandles="1" noChangeArrowheads="1" noChangeShapeType="1" noTextEdit="1"/>
              </p:cNvSpPr>
              <p:nvPr/>
            </p:nvSpPr>
            <p:spPr>
              <a:xfrm>
                <a:off x="4485055" y="2834491"/>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86DB56D8-C07F-797C-C4CD-DD5E75CD81E1}"/>
                  </a:ext>
                </a:extLst>
              </p:cNvPr>
              <p:cNvSpPr/>
              <p:nvPr/>
            </p:nvSpPr>
            <p:spPr>
              <a:xfrm>
                <a:off x="4485055"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86DB56D8-C07F-797C-C4CD-DD5E75CD81E1}"/>
                  </a:ext>
                </a:extLst>
              </p:cNvPr>
              <p:cNvSpPr>
                <a:spLocks noRot="1" noChangeAspect="1" noMove="1" noResize="1" noEditPoints="1" noAdjustHandles="1" noChangeArrowheads="1" noChangeShapeType="1" noTextEdit="1"/>
              </p:cNvSpPr>
              <p:nvPr/>
            </p:nvSpPr>
            <p:spPr>
              <a:xfrm>
                <a:off x="4485055" y="4076473"/>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A4634343-B3A7-FE0F-7E6C-D8E9B4309482}"/>
                  </a:ext>
                </a:extLst>
              </p:cNvPr>
              <p:cNvSpPr/>
              <p:nvPr/>
            </p:nvSpPr>
            <p:spPr>
              <a:xfrm>
                <a:off x="6610796" y="159250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A4634343-B3A7-FE0F-7E6C-D8E9B4309482}"/>
                  </a:ext>
                </a:extLst>
              </p:cNvPr>
              <p:cNvSpPr>
                <a:spLocks noRot="1" noChangeAspect="1" noMove="1" noResize="1" noEditPoints="1" noAdjustHandles="1" noChangeArrowheads="1" noChangeShapeType="1" noTextEdit="1"/>
              </p:cNvSpPr>
              <p:nvPr/>
            </p:nvSpPr>
            <p:spPr>
              <a:xfrm>
                <a:off x="6610796" y="1592509"/>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582F5B33-0EB5-F667-E7C2-B13AA886A754}"/>
                  </a:ext>
                </a:extLst>
              </p:cNvPr>
              <p:cNvSpPr/>
              <p:nvPr/>
            </p:nvSpPr>
            <p:spPr>
              <a:xfrm>
                <a:off x="6610796" y="2832134"/>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582F5B33-0EB5-F667-E7C2-B13AA886A754}"/>
                  </a:ext>
                </a:extLst>
              </p:cNvPr>
              <p:cNvSpPr>
                <a:spLocks noRot="1" noChangeAspect="1" noMove="1" noResize="1" noEditPoints="1" noAdjustHandles="1" noChangeArrowheads="1" noChangeShapeType="1" noTextEdit="1"/>
              </p:cNvSpPr>
              <p:nvPr/>
            </p:nvSpPr>
            <p:spPr>
              <a:xfrm>
                <a:off x="6610796" y="2832134"/>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7D5324D7-39DC-3879-8651-77F885B8F2E4}"/>
                  </a:ext>
                </a:extLst>
              </p:cNvPr>
              <p:cNvSpPr/>
              <p:nvPr/>
            </p:nvSpPr>
            <p:spPr>
              <a:xfrm>
                <a:off x="6610796" y="407647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7D5324D7-39DC-3879-8651-77F885B8F2E4}"/>
                  </a:ext>
                </a:extLst>
              </p:cNvPr>
              <p:cNvSpPr>
                <a:spLocks noRot="1" noChangeAspect="1" noMove="1" noResize="1" noEditPoints="1" noAdjustHandles="1" noChangeArrowheads="1" noChangeShapeType="1" noTextEdit="1"/>
              </p:cNvSpPr>
              <p:nvPr/>
            </p:nvSpPr>
            <p:spPr>
              <a:xfrm>
                <a:off x="6610796" y="4076473"/>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48EE49D9-C214-9766-5DFD-2E4F0FCBDA62}"/>
              </a:ext>
            </a:extLst>
          </p:cNvPr>
          <p:cNvCxnSpPr>
            <a:cxnSpLocks/>
            <a:stCxn id="11" idx="2"/>
            <a:endCxn id="8" idx="6"/>
          </p:cNvCxnSpPr>
          <p:nvPr/>
        </p:nvCxnSpPr>
        <p:spPr>
          <a:xfrm flipH="1">
            <a:off x="5399455" y="4533673"/>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EE2544B-91C3-21C5-76FF-7B548C438730}"/>
              </a:ext>
            </a:extLst>
          </p:cNvPr>
          <p:cNvCxnSpPr>
            <a:cxnSpLocks/>
            <a:stCxn id="10" idx="2"/>
            <a:endCxn id="8" idx="6"/>
          </p:cNvCxnSpPr>
          <p:nvPr/>
        </p:nvCxnSpPr>
        <p:spPr>
          <a:xfrm flipH="1">
            <a:off x="5399455" y="3289334"/>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846700D-F955-0357-B2C2-19888E9007AF}"/>
              </a:ext>
            </a:extLst>
          </p:cNvPr>
          <p:cNvCxnSpPr>
            <a:cxnSpLocks/>
            <a:stCxn id="9" idx="2"/>
            <a:endCxn id="8" idx="6"/>
          </p:cNvCxnSpPr>
          <p:nvPr/>
        </p:nvCxnSpPr>
        <p:spPr>
          <a:xfrm flipH="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9EE9FF5-E25C-EDA3-B487-DF20CCAD6277}"/>
              </a:ext>
            </a:extLst>
          </p:cNvPr>
          <p:cNvCxnSpPr>
            <a:cxnSpLocks/>
          </p:cNvCxnSpPr>
          <p:nvPr/>
        </p:nvCxnSpPr>
        <p:spPr>
          <a:xfrm flipH="1">
            <a:off x="5399455" y="2049708"/>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F29101A-081C-4E61-E1D8-FB1B8D32AEC1}"/>
              </a:ext>
            </a:extLst>
          </p:cNvPr>
          <p:cNvCxnSpPr>
            <a:cxnSpLocks/>
            <a:stCxn id="10" idx="2"/>
          </p:cNvCxnSpPr>
          <p:nvPr/>
        </p:nvCxnSpPr>
        <p:spPr>
          <a:xfrm flipH="1" flipV="1">
            <a:off x="5399455" y="2049708"/>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2C0B3C8-C562-4420-185D-B4C637503FB1}"/>
              </a:ext>
            </a:extLst>
          </p:cNvPr>
          <p:cNvCxnSpPr>
            <a:cxnSpLocks/>
            <a:stCxn id="11" idx="2"/>
          </p:cNvCxnSpPr>
          <p:nvPr/>
        </p:nvCxnSpPr>
        <p:spPr>
          <a:xfrm flipH="1" flipV="1">
            <a:off x="5399455" y="2049709"/>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1300714-FD8B-7616-F648-DE23BAFE4378}"/>
              </a:ext>
            </a:extLst>
          </p:cNvPr>
          <p:cNvCxnSpPr>
            <a:cxnSpLocks/>
            <a:stCxn id="9" idx="2"/>
            <a:endCxn id="7" idx="6"/>
          </p:cNvCxnSpPr>
          <p:nvPr/>
        </p:nvCxnSpPr>
        <p:spPr>
          <a:xfrm flipH="1">
            <a:off x="5399455" y="2049709"/>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37E2CBF-8CF8-2E7B-7554-CB79B99A43DF}"/>
              </a:ext>
            </a:extLst>
          </p:cNvPr>
          <p:cNvCxnSpPr>
            <a:cxnSpLocks/>
            <a:stCxn id="10" idx="2"/>
            <a:endCxn id="7" idx="6"/>
          </p:cNvCxnSpPr>
          <p:nvPr/>
        </p:nvCxnSpPr>
        <p:spPr>
          <a:xfrm flipH="1">
            <a:off x="5399455" y="3289334"/>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DD32EDF-B139-1620-CC79-37FC3EC3DF9E}"/>
              </a:ext>
            </a:extLst>
          </p:cNvPr>
          <p:cNvCxnSpPr>
            <a:cxnSpLocks/>
            <a:stCxn id="11" idx="2"/>
            <a:endCxn id="7" idx="6"/>
          </p:cNvCxnSpPr>
          <p:nvPr/>
        </p:nvCxnSpPr>
        <p:spPr>
          <a:xfrm flipH="1" flipV="1">
            <a:off x="5399455" y="329169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3075182-5B5D-5032-8302-F7BDD199934E}"/>
              </a:ext>
            </a:extLst>
          </p:cNvPr>
          <p:cNvCxnSpPr>
            <a:cxnSpLocks/>
            <a:stCxn id="6" idx="2"/>
            <a:endCxn id="9" idx="6"/>
          </p:cNvCxnSpPr>
          <p:nvPr/>
        </p:nvCxnSpPr>
        <p:spPr>
          <a:xfrm flipH="1" flipV="1">
            <a:off x="7525196" y="2049709"/>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88E29178-B4E2-A3E5-EAA6-2275894C01FE}"/>
              </a:ext>
            </a:extLst>
          </p:cNvPr>
          <p:cNvCxnSpPr>
            <a:cxnSpLocks/>
            <a:stCxn id="6" idx="2"/>
            <a:endCxn id="10" idx="6"/>
          </p:cNvCxnSpPr>
          <p:nvPr/>
        </p:nvCxnSpPr>
        <p:spPr>
          <a:xfrm flipH="1">
            <a:off x="7525196" y="3289334"/>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6138DA6E-C22E-6C0A-AF1A-38DCEF5A9E0D}"/>
              </a:ext>
            </a:extLst>
          </p:cNvPr>
          <p:cNvCxnSpPr>
            <a:cxnSpLocks/>
            <a:stCxn id="6" idx="2"/>
            <a:endCxn id="11" idx="6"/>
          </p:cNvCxnSpPr>
          <p:nvPr/>
        </p:nvCxnSpPr>
        <p:spPr>
          <a:xfrm flipH="1">
            <a:off x="7525196" y="3289334"/>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9A9DE9B-09C3-BDF5-7068-CB928E888267}"/>
                  </a:ext>
                </a:extLst>
              </p:cNvPr>
              <p:cNvSpPr txBox="1"/>
              <p:nvPr/>
            </p:nvSpPr>
            <p:spPr>
              <a:xfrm>
                <a:off x="4739590" y="2214683"/>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 name="TextBox 1">
                <a:extLst>
                  <a:ext uri="{FF2B5EF4-FFF2-40B4-BE49-F238E27FC236}">
                    <a16:creationId xmlns:a16="http://schemas.microsoft.com/office/drawing/2014/main" id="{99A9DE9B-09C3-BDF5-7068-CB928E888267}"/>
                  </a:ext>
                </a:extLst>
              </p:cNvPr>
              <p:cNvSpPr txBox="1">
                <a:spLocks noRot="1" noChangeAspect="1" noMove="1" noResize="1" noEditPoints="1" noAdjustHandles="1" noChangeArrowheads="1" noChangeShapeType="1" noTextEdit="1"/>
              </p:cNvSpPr>
              <p:nvPr/>
            </p:nvSpPr>
            <p:spPr>
              <a:xfrm>
                <a:off x="4739590" y="2214683"/>
                <a:ext cx="347852" cy="276999"/>
              </a:xfrm>
              <a:prstGeom prst="rect">
                <a:avLst/>
              </a:prstGeom>
              <a:blipFill>
                <a:blip r:embed="rId10"/>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4F4F3BA-92CB-7926-72A5-D69969C5DFDF}"/>
                  </a:ext>
                </a:extLst>
              </p:cNvPr>
              <p:cNvSpPr txBox="1"/>
              <p:nvPr/>
            </p:nvSpPr>
            <p:spPr>
              <a:xfrm>
                <a:off x="4854891" y="3439601"/>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3</m:t>
                      </m:r>
                    </m:oMath>
                  </m:oMathPara>
                </a14:m>
                <a:endParaRPr lang="en-US" dirty="0">
                  <a:solidFill>
                    <a:schemeClr val="bg1"/>
                  </a:solidFill>
                </a:endParaRPr>
              </a:p>
            </p:txBody>
          </p:sp>
        </mc:Choice>
        <mc:Fallback>
          <p:sp>
            <p:nvSpPr>
              <p:cNvPr id="3" name="TextBox 2">
                <a:extLst>
                  <a:ext uri="{FF2B5EF4-FFF2-40B4-BE49-F238E27FC236}">
                    <a16:creationId xmlns:a16="http://schemas.microsoft.com/office/drawing/2014/main" id="{24F4F3BA-92CB-7926-72A5-D69969C5DFDF}"/>
                  </a:ext>
                </a:extLst>
              </p:cNvPr>
              <p:cNvSpPr txBox="1">
                <a:spLocks noRot="1" noChangeAspect="1" noMove="1" noResize="1" noEditPoints="1" noAdjustHandles="1" noChangeArrowheads="1" noChangeShapeType="1" noTextEdit="1"/>
              </p:cNvSpPr>
              <p:nvPr/>
            </p:nvSpPr>
            <p:spPr>
              <a:xfrm>
                <a:off x="4854891" y="3439601"/>
                <a:ext cx="174728" cy="276999"/>
              </a:xfrm>
              <a:prstGeom prst="rect">
                <a:avLst/>
              </a:prstGeom>
              <a:blipFill>
                <a:blip r:embed="rId11"/>
                <a:stretch>
                  <a:fillRect l="-35714" r="-35714"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8122D8D-2362-52DC-1D89-9FF2CF75AD2D}"/>
                  </a:ext>
                </a:extLst>
              </p:cNvPr>
              <p:cNvSpPr txBox="1"/>
              <p:nvPr/>
            </p:nvSpPr>
            <p:spPr>
              <a:xfrm>
                <a:off x="4739590" y="4703826"/>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−1</m:t>
                      </m:r>
                    </m:oMath>
                  </m:oMathPara>
                </a14:m>
                <a:endParaRPr lang="en-US" dirty="0">
                  <a:solidFill>
                    <a:schemeClr val="bg1"/>
                  </a:solidFill>
                </a:endParaRPr>
              </a:p>
            </p:txBody>
          </p:sp>
        </mc:Choice>
        <mc:Fallback>
          <p:sp>
            <p:nvSpPr>
              <p:cNvPr id="12" name="TextBox 11">
                <a:extLst>
                  <a:ext uri="{FF2B5EF4-FFF2-40B4-BE49-F238E27FC236}">
                    <a16:creationId xmlns:a16="http://schemas.microsoft.com/office/drawing/2014/main" id="{F8122D8D-2362-52DC-1D89-9FF2CF75AD2D}"/>
                  </a:ext>
                </a:extLst>
              </p:cNvPr>
              <p:cNvSpPr txBox="1">
                <a:spLocks noRot="1" noChangeAspect="1" noMove="1" noResize="1" noEditPoints="1" noAdjustHandles="1" noChangeArrowheads="1" noChangeShapeType="1" noTextEdit="1"/>
              </p:cNvSpPr>
              <p:nvPr/>
            </p:nvSpPr>
            <p:spPr>
              <a:xfrm>
                <a:off x="4739590" y="4703826"/>
                <a:ext cx="347852" cy="276999"/>
              </a:xfrm>
              <a:prstGeom prst="rect">
                <a:avLst/>
              </a:prstGeom>
              <a:blipFill>
                <a:blip r:embed="rId12"/>
                <a:stretch>
                  <a:fillRect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1AF7744-8E60-ECD8-871C-2D5ECD96CF12}"/>
                  </a:ext>
                </a:extLst>
              </p:cNvPr>
              <p:cNvSpPr txBox="1"/>
              <p:nvPr/>
            </p:nvSpPr>
            <p:spPr>
              <a:xfrm>
                <a:off x="6874726" y="2214682"/>
                <a:ext cx="35105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0.5</m:t>
                      </m:r>
                    </m:oMath>
                  </m:oMathPara>
                </a14:m>
                <a:endParaRPr lang="en-US" dirty="0">
                  <a:solidFill>
                    <a:srgbClr val="FF0000"/>
                  </a:solidFill>
                </a:endParaRPr>
              </a:p>
            </p:txBody>
          </p:sp>
        </mc:Choice>
        <mc:Fallback>
          <p:sp>
            <p:nvSpPr>
              <p:cNvPr id="16" name="TextBox 15">
                <a:extLst>
                  <a:ext uri="{FF2B5EF4-FFF2-40B4-BE49-F238E27FC236}">
                    <a16:creationId xmlns:a16="http://schemas.microsoft.com/office/drawing/2014/main" id="{11AF7744-8E60-ECD8-871C-2D5ECD96CF12}"/>
                  </a:ext>
                </a:extLst>
              </p:cNvPr>
              <p:cNvSpPr txBox="1">
                <a:spLocks noRot="1" noChangeAspect="1" noMove="1" noResize="1" noEditPoints="1" noAdjustHandles="1" noChangeArrowheads="1" noChangeShapeType="1" noTextEdit="1"/>
              </p:cNvSpPr>
              <p:nvPr/>
            </p:nvSpPr>
            <p:spPr>
              <a:xfrm>
                <a:off x="6874726" y="2214682"/>
                <a:ext cx="351058" cy="276999"/>
              </a:xfrm>
              <a:prstGeom prst="rect">
                <a:avLst/>
              </a:prstGeom>
              <a:blipFill>
                <a:blip r:embed="rId13"/>
                <a:stretch>
                  <a:fillRect l="-14286" r="-17857"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B325C28-EC83-F7CB-9D9A-CF7628EE6213}"/>
                  </a:ext>
                </a:extLst>
              </p:cNvPr>
              <p:cNvSpPr txBox="1"/>
              <p:nvPr/>
            </p:nvSpPr>
            <p:spPr>
              <a:xfrm>
                <a:off x="6965161" y="3419504"/>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oMath>
                  </m:oMathPara>
                </a14:m>
                <a:endParaRPr lang="en-US" dirty="0">
                  <a:solidFill>
                    <a:schemeClr val="bg1"/>
                  </a:solidFill>
                </a:endParaRPr>
              </a:p>
            </p:txBody>
          </p:sp>
        </mc:Choice>
        <mc:Fallback>
          <p:sp>
            <p:nvSpPr>
              <p:cNvPr id="18" name="TextBox 17">
                <a:extLst>
                  <a:ext uri="{FF2B5EF4-FFF2-40B4-BE49-F238E27FC236}">
                    <a16:creationId xmlns:a16="http://schemas.microsoft.com/office/drawing/2014/main" id="{8B325C28-EC83-F7CB-9D9A-CF7628EE6213}"/>
                  </a:ext>
                </a:extLst>
              </p:cNvPr>
              <p:cNvSpPr txBox="1">
                <a:spLocks noRot="1" noChangeAspect="1" noMove="1" noResize="1" noEditPoints="1" noAdjustHandles="1" noChangeArrowheads="1" noChangeShapeType="1" noTextEdit="1"/>
              </p:cNvSpPr>
              <p:nvPr/>
            </p:nvSpPr>
            <p:spPr>
              <a:xfrm>
                <a:off x="6965161" y="3419504"/>
                <a:ext cx="174728" cy="276999"/>
              </a:xfrm>
              <a:prstGeom prst="rect">
                <a:avLst/>
              </a:prstGeom>
              <a:blipFill>
                <a:blip r:embed="rId14"/>
                <a:stretch>
                  <a:fillRect l="-33333" r="-26667"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9D444268-7EE5-F631-E59F-67A3A72A2C33}"/>
                  </a:ext>
                </a:extLst>
              </p:cNvPr>
              <p:cNvSpPr txBox="1"/>
              <p:nvPr/>
            </p:nvSpPr>
            <p:spPr>
              <a:xfrm>
                <a:off x="1403069" y="5618226"/>
                <a:ext cx="8843896"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−1</m:t>
                      </m:r>
                      <m:r>
                        <a:rPr lang="en-US" sz="3000" b="0" i="1" smtClean="0">
                          <a:latin typeface="Cambria Math" panose="02040503050406030204" pitchFamily="18" charset="0"/>
                        </a:rPr>
                        <m:t>+(</m:t>
                      </m:r>
                      <m:r>
                        <a:rPr lang="en-US" sz="3000" b="0" i="1" smtClean="0">
                          <a:solidFill>
                            <a:srgbClr val="00B050"/>
                          </a:solidFill>
                          <a:latin typeface="Cambria Math" panose="02040503050406030204" pitchFamily="18" charset="0"/>
                        </a:rPr>
                        <m:t>2</m:t>
                      </m:r>
                      <m:r>
                        <a:rPr lang="en-US" sz="3000" b="0" i="1" smtClean="0">
                          <a:latin typeface="Cambria Math" panose="02040503050406030204" pitchFamily="18" charset="0"/>
                        </a:rPr>
                        <m:t>∗</m:t>
                      </m:r>
                      <m:r>
                        <a:rPr lang="en-US" sz="3000" b="0" i="1" smtClean="0">
                          <a:solidFill>
                            <a:srgbClr val="FF0000"/>
                          </a:solidFill>
                          <a:latin typeface="Cambria Math" panose="02040503050406030204" pitchFamily="18" charset="0"/>
                        </a:rPr>
                        <m:t>0.5</m:t>
                      </m:r>
                      <m:r>
                        <a:rPr lang="en-US" sz="3000" b="0" i="1" smtClean="0">
                          <a:latin typeface="Cambria Math" panose="02040503050406030204" pitchFamily="18" charset="0"/>
                        </a:rPr>
                        <m:t>+</m:t>
                      </m:r>
                      <m:r>
                        <a:rPr lang="en-US" sz="3000" b="0" i="1" smtClean="0">
                          <a:solidFill>
                            <a:srgbClr val="00B050"/>
                          </a:solidFill>
                          <a:latin typeface="Cambria Math" panose="02040503050406030204" pitchFamily="18" charset="0"/>
                        </a:rPr>
                        <m:t>5</m:t>
                      </m:r>
                      <m:r>
                        <a:rPr lang="en-US" sz="3000" b="0" i="1" smtClean="0">
                          <a:latin typeface="Cambria Math" panose="02040503050406030204" pitchFamily="18" charset="0"/>
                        </a:rPr>
                        <m:t>∗</m:t>
                      </m:r>
                      <m:r>
                        <a:rPr lang="en-US" sz="3000" b="0" i="1" smtClean="0">
                          <a:solidFill>
                            <a:srgbClr val="FF0000"/>
                          </a:solidFill>
                          <a:latin typeface="Cambria Math" panose="02040503050406030204" pitchFamily="18" charset="0"/>
                        </a:rPr>
                        <m:t>2</m:t>
                      </m:r>
                      <m:r>
                        <a:rPr lang="en-US" sz="3000" b="0" i="1" smtClean="0">
                          <a:latin typeface="Cambria Math" panose="02040503050406030204" pitchFamily="18" charset="0"/>
                        </a:rPr>
                        <m:t>−</m:t>
                      </m:r>
                      <m:r>
                        <a:rPr lang="en-US" sz="3000" b="0" i="1" smtClean="0">
                          <a:solidFill>
                            <a:srgbClr val="00B050"/>
                          </a:solidFill>
                          <a:latin typeface="Cambria Math" panose="02040503050406030204" pitchFamily="18" charset="0"/>
                        </a:rPr>
                        <m:t>1</m:t>
                      </m:r>
                      <m:r>
                        <a:rPr lang="en-US" sz="3000" b="0" i="1" smtClean="0">
                          <a:latin typeface="Cambria Math" panose="02040503050406030204" pitchFamily="18" charset="0"/>
                        </a:rPr>
                        <m:t>∗</m:t>
                      </m:r>
                      <m:r>
                        <a:rPr lang="en-US" sz="3000" b="0" i="1" smtClean="0">
                          <a:solidFill>
                            <a:srgbClr val="FF0000"/>
                          </a:solidFill>
                          <a:latin typeface="Cambria Math" panose="02040503050406030204" pitchFamily="18" charset="0"/>
                        </a:rPr>
                        <m:t>2</m:t>
                      </m:r>
                      <m:r>
                        <a:rPr lang="en-US" sz="3000" b="0" i="1" smtClean="0">
                          <a:solidFill>
                            <a:schemeClr val="tx1"/>
                          </a:solidFill>
                          <a:latin typeface="Cambria Math" panose="02040503050406030204" pitchFamily="18" charset="0"/>
                        </a:rPr>
                        <m:t>)=8</m:t>
                      </m:r>
                    </m:oMath>
                  </m:oMathPara>
                </a14:m>
                <a:endParaRPr lang="en-US" sz="3000" dirty="0"/>
              </a:p>
            </p:txBody>
          </p:sp>
        </mc:Choice>
        <mc:Fallback>
          <p:sp>
            <p:nvSpPr>
              <p:cNvPr id="19" name="TextBox 18">
                <a:extLst>
                  <a:ext uri="{FF2B5EF4-FFF2-40B4-BE49-F238E27FC236}">
                    <a16:creationId xmlns:a16="http://schemas.microsoft.com/office/drawing/2014/main" id="{9D444268-7EE5-F631-E59F-67A3A72A2C33}"/>
                  </a:ext>
                </a:extLst>
              </p:cNvPr>
              <p:cNvSpPr txBox="1">
                <a:spLocks noRot="1" noChangeAspect="1" noMove="1" noResize="1" noEditPoints="1" noAdjustHandles="1" noChangeArrowheads="1" noChangeShapeType="1" noTextEdit="1"/>
              </p:cNvSpPr>
              <p:nvPr/>
            </p:nvSpPr>
            <p:spPr>
              <a:xfrm>
                <a:off x="1403069" y="5618226"/>
                <a:ext cx="8843896" cy="1117807"/>
              </a:xfrm>
              <a:prstGeom prst="rect">
                <a:avLst/>
              </a:prstGeom>
              <a:blipFill>
                <a:blip r:embed="rId15"/>
                <a:stretch>
                  <a:fillRect l="-143" t="-146067" r="-574" b="-2033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41D128DE-AAB9-AED7-ACE9-A19EB120CB01}"/>
                  </a:ext>
                </a:extLst>
              </p:cNvPr>
              <p:cNvSpPr txBox="1"/>
              <p:nvPr/>
            </p:nvSpPr>
            <p:spPr>
              <a:xfrm>
                <a:off x="6965161" y="4660933"/>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oMath>
                  </m:oMathPara>
                </a14:m>
                <a:endParaRPr lang="en-US" dirty="0">
                  <a:solidFill>
                    <a:schemeClr val="bg1"/>
                  </a:solidFill>
                </a:endParaRPr>
              </a:p>
            </p:txBody>
          </p:sp>
        </mc:Choice>
        <mc:Fallback>
          <p:sp>
            <p:nvSpPr>
              <p:cNvPr id="22" name="TextBox 21">
                <a:extLst>
                  <a:ext uri="{FF2B5EF4-FFF2-40B4-BE49-F238E27FC236}">
                    <a16:creationId xmlns:a16="http://schemas.microsoft.com/office/drawing/2014/main" id="{41D128DE-AAB9-AED7-ACE9-A19EB120CB01}"/>
                  </a:ext>
                </a:extLst>
              </p:cNvPr>
              <p:cNvSpPr txBox="1">
                <a:spLocks noRot="1" noChangeAspect="1" noMove="1" noResize="1" noEditPoints="1" noAdjustHandles="1" noChangeArrowheads="1" noChangeShapeType="1" noTextEdit="1"/>
              </p:cNvSpPr>
              <p:nvPr/>
            </p:nvSpPr>
            <p:spPr>
              <a:xfrm>
                <a:off x="6965161" y="4660933"/>
                <a:ext cx="174728" cy="276999"/>
              </a:xfrm>
              <a:prstGeom prst="rect">
                <a:avLst/>
              </a:prstGeom>
              <a:blipFill>
                <a:blip r:embed="rId16"/>
                <a:stretch>
                  <a:fillRect l="-33333" r="-26667"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4A824B25-5FD7-72C2-3E82-E1769560EAFF}"/>
                  </a:ext>
                </a:extLst>
              </p:cNvPr>
              <p:cNvSpPr txBox="1"/>
              <p:nvPr/>
            </p:nvSpPr>
            <p:spPr>
              <a:xfrm>
                <a:off x="8186905" y="226942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21" name="TextBox 20">
                <a:extLst>
                  <a:ext uri="{FF2B5EF4-FFF2-40B4-BE49-F238E27FC236}">
                    <a16:creationId xmlns:a16="http://schemas.microsoft.com/office/drawing/2014/main" id="{4A824B25-5FD7-72C2-3E82-E1769560EAFF}"/>
                  </a:ext>
                </a:extLst>
              </p:cNvPr>
              <p:cNvSpPr txBox="1">
                <a:spLocks noRot="1" noChangeAspect="1" noMove="1" noResize="1" noEditPoints="1" noAdjustHandles="1" noChangeArrowheads="1" noChangeShapeType="1" noTextEdit="1"/>
              </p:cNvSpPr>
              <p:nvPr/>
            </p:nvSpPr>
            <p:spPr>
              <a:xfrm>
                <a:off x="8186905" y="2269425"/>
                <a:ext cx="837409"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1FE79567-064A-CA95-B0A8-ACDC82F148FE}"/>
                  </a:ext>
                </a:extLst>
              </p:cNvPr>
              <p:cNvSpPr txBox="1"/>
              <p:nvPr/>
            </p:nvSpPr>
            <p:spPr>
              <a:xfrm>
                <a:off x="8112641" y="2907246"/>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=5</m:t>
                      </m:r>
                    </m:oMath>
                  </m:oMathPara>
                </a14:m>
                <a:endParaRPr lang="en-US" dirty="0">
                  <a:solidFill>
                    <a:srgbClr val="00B050"/>
                  </a:solidFill>
                </a:endParaRPr>
              </a:p>
            </p:txBody>
          </p:sp>
        </mc:Choice>
        <mc:Fallback>
          <p:sp>
            <p:nvSpPr>
              <p:cNvPr id="24" name="TextBox 23">
                <a:extLst>
                  <a:ext uri="{FF2B5EF4-FFF2-40B4-BE49-F238E27FC236}">
                    <a16:creationId xmlns:a16="http://schemas.microsoft.com/office/drawing/2014/main" id="{1FE79567-064A-CA95-B0A8-ACDC82F148FE}"/>
                  </a:ext>
                </a:extLst>
              </p:cNvPr>
              <p:cNvSpPr txBox="1">
                <a:spLocks noRot="1" noChangeAspect="1" noMove="1" noResize="1" noEditPoints="1" noAdjustHandles="1" noChangeArrowheads="1" noChangeShapeType="1" noTextEdit="1"/>
              </p:cNvSpPr>
              <p:nvPr/>
            </p:nvSpPr>
            <p:spPr>
              <a:xfrm>
                <a:off x="8112641" y="2907246"/>
                <a:ext cx="83740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9B8D06BD-D23C-0722-0D08-0AD8CF917C52}"/>
                  </a:ext>
                </a:extLst>
              </p:cNvPr>
              <p:cNvSpPr txBox="1"/>
              <p:nvPr/>
            </p:nvSpPr>
            <p:spPr>
              <a:xfrm>
                <a:off x="7789143" y="3484946"/>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25" name="TextBox 24">
                <a:extLst>
                  <a:ext uri="{FF2B5EF4-FFF2-40B4-BE49-F238E27FC236}">
                    <a16:creationId xmlns:a16="http://schemas.microsoft.com/office/drawing/2014/main" id="{9B8D06BD-D23C-0722-0D08-0AD8CF917C52}"/>
                  </a:ext>
                </a:extLst>
              </p:cNvPr>
              <p:cNvSpPr txBox="1">
                <a:spLocks noRot="1" noChangeAspect="1" noMove="1" noResize="1" noEditPoints="1" noAdjustHandles="1" noChangeArrowheads="1" noChangeShapeType="1" noTextEdit="1"/>
              </p:cNvSpPr>
              <p:nvPr/>
            </p:nvSpPr>
            <p:spPr>
              <a:xfrm>
                <a:off x="7789143" y="3484946"/>
                <a:ext cx="1010533"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500C5DD-780C-BFE0-DB2D-0AC2E491C873}"/>
                  </a:ext>
                </a:extLst>
              </p:cNvPr>
              <p:cNvSpPr txBox="1"/>
              <p:nvPr/>
            </p:nvSpPr>
            <p:spPr>
              <a:xfrm>
                <a:off x="9387342" y="2505235"/>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27" name="TextBox 26">
                <a:extLst>
                  <a:ext uri="{FF2B5EF4-FFF2-40B4-BE49-F238E27FC236}">
                    <a16:creationId xmlns:a16="http://schemas.microsoft.com/office/drawing/2014/main" id="{C500C5DD-780C-BFE0-DB2D-0AC2E491C873}"/>
                  </a:ext>
                </a:extLst>
              </p:cNvPr>
              <p:cNvSpPr txBox="1">
                <a:spLocks noRot="1" noChangeAspect="1" noMove="1" noResize="1" noEditPoints="1" noAdjustHandles="1" noChangeArrowheads="1" noChangeShapeType="1" noTextEdit="1"/>
              </p:cNvSpPr>
              <p:nvPr/>
            </p:nvSpPr>
            <p:spPr>
              <a:xfrm>
                <a:off x="9387342" y="2505235"/>
                <a:ext cx="963982" cy="369332"/>
              </a:xfrm>
              <a:prstGeom prst="rect">
                <a:avLst/>
              </a:prstGeom>
              <a:blipFill>
                <a:blip r:embed="rId20"/>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6E372CC9-D0A5-3248-2970-EF69525D970F}"/>
              </a:ext>
            </a:extLst>
          </p:cNvPr>
          <p:cNvSpPr/>
          <p:nvPr/>
        </p:nvSpPr>
        <p:spPr>
          <a:xfrm>
            <a:off x="9201107" y="2506909"/>
            <a:ext cx="1306286" cy="1316334"/>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F33AE92-3833-1FB7-5355-AACF40B63820}"/>
              </a:ext>
            </a:extLst>
          </p:cNvPr>
          <p:cNvSpPr txBox="1"/>
          <p:nvPr/>
        </p:nvSpPr>
        <p:spPr>
          <a:xfrm>
            <a:off x="8468664" y="4091732"/>
            <a:ext cx="3010884" cy="646331"/>
          </a:xfrm>
          <a:prstGeom prst="rect">
            <a:avLst/>
          </a:prstGeom>
          <a:noFill/>
        </p:spPr>
        <p:txBody>
          <a:bodyPr wrap="square" rtlCol="0">
            <a:spAutoFit/>
          </a:bodyPr>
          <a:lstStyle/>
          <a:p>
            <a:pPr algn="ctr"/>
            <a:r>
              <a:rPr lang="en-US" dirty="0"/>
              <a:t>Let’s compute the value of the output neuron</a:t>
            </a:r>
          </a:p>
        </p:txBody>
      </p:sp>
    </p:spTree>
    <p:extLst>
      <p:ext uri="{BB962C8B-B14F-4D97-AF65-F5344CB8AC3E}">
        <p14:creationId xmlns:p14="http://schemas.microsoft.com/office/powerpoint/2010/main" val="446041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6FF8-3E94-5AAE-3AE7-2C3C571E9724}"/>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A1CA5EDD-6B6E-6360-2A92-754CAE0E3A20}"/>
              </a:ext>
            </a:extLst>
          </p:cNvPr>
          <p:cNvSpPr/>
          <p:nvPr/>
        </p:nvSpPr>
        <p:spPr>
          <a:xfrm>
            <a:off x="9120731" y="505936"/>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B4388B2-9810-EAD6-4323-B150BCCD860A}"/>
              </a:ext>
            </a:extLst>
          </p:cNvPr>
          <p:cNvSpPr/>
          <p:nvPr/>
        </p:nvSpPr>
        <p:spPr>
          <a:xfrm>
            <a:off x="6301654" y="505937"/>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393C0E9-4666-DD79-9346-C632B2ABDCFF}"/>
              </a:ext>
            </a:extLst>
          </p:cNvPr>
          <p:cNvSpPr/>
          <p:nvPr/>
        </p:nvSpPr>
        <p:spPr>
          <a:xfrm>
            <a:off x="1682972" y="505938"/>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061EF360-9E10-0E59-0F69-D7D397CB31F0}"/>
                  </a:ext>
                </a:extLst>
              </p:cNvPr>
              <p:cNvSpPr/>
              <p:nvPr/>
            </p:nvSpPr>
            <p:spPr>
              <a:xfrm>
                <a:off x="1904036" y="2138796"/>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4" name="Oval 3">
                <a:extLst>
                  <a:ext uri="{FF2B5EF4-FFF2-40B4-BE49-F238E27FC236}">
                    <a16:creationId xmlns:a16="http://schemas.microsoft.com/office/drawing/2014/main" id="{061EF360-9E10-0E59-0F69-D7D397CB31F0}"/>
                  </a:ext>
                </a:extLst>
              </p:cNvPr>
              <p:cNvSpPr>
                <a:spLocks noRot="1" noChangeAspect="1" noMove="1" noResize="1" noEditPoints="1" noAdjustHandles="1" noChangeArrowheads="1" noChangeShapeType="1" noTextEdit="1"/>
              </p:cNvSpPr>
              <p:nvPr/>
            </p:nvSpPr>
            <p:spPr>
              <a:xfrm>
                <a:off x="1904036" y="2138796"/>
                <a:ext cx="914400" cy="914400"/>
              </a:xfrm>
              <a:prstGeom prst="ellipse">
                <a:avLst/>
              </a:prstGeom>
              <a:blipFill>
                <a:blip r:embed="rId2"/>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F1857E58-7A02-FA20-CF9C-3B0A88388E37}"/>
              </a:ext>
            </a:extLst>
          </p:cNvPr>
          <p:cNvCxnSpPr>
            <a:stCxn id="4" idx="6"/>
            <a:endCxn id="5" idx="2"/>
          </p:cNvCxnSpPr>
          <p:nvPr/>
        </p:nvCxnSpPr>
        <p:spPr>
          <a:xfrm flipV="1">
            <a:off x="2818436" y="1356371"/>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02B9560-F162-221F-A699-05AA74864C54}"/>
              </a:ext>
            </a:extLst>
          </p:cNvPr>
          <p:cNvCxnSpPr>
            <a:cxnSpLocks/>
            <a:stCxn id="4" idx="6"/>
            <a:endCxn id="7" idx="2"/>
          </p:cNvCxnSpPr>
          <p:nvPr/>
        </p:nvCxnSpPr>
        <p:spPr>
          <a:xfrm>
            <a:off x="2818436" y="2595996"/>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8771A74-B2E5-9DB9-2E78-3E86F7AF5323}"/>
              </a:ext>
            </a:extLst>
          </p:cNvPr>
          <p:cNvCxnSpPr>
            <a:cxnSpLocks/>
            <a:stCxn id="4" idx="6"/>
            <a:endCxn id="8" idx="2"/>
          </p:cNvCxnSpPr>
          <p:nvPr/>
        </p:nvCxnSpPr>
        <p:spPr>
          <a:xfrm>
            <a:off x="2818436" y="2595996"/>
            <a:ext cx="1596281" cy="1244339"/>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86381F95-6B48-406F-40CC-430E0FE8BDE7}"/>
              </a:ext>
            </a:extLst>
          </p:cNvPr>
          <p:cNvSpPr/>
          <p:nvPr/>
        </p:nvSpPr>
        <p:spPr>
          <a:xfrm>
            <a:off x="4174963" y="505937"/>
            <a:ext cx="1356527" cy="4180115"/>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75DB50ED-9996-239C-72AD-B2BC8B763963}"/>
                  </a:ext>
                </a:extLst>
              </p:cNvPr>
              <p:cNvSpPr/>
              <p:nvPr/>
            </p:nvSpPr>
            <p:spPr>
              <a:xfrm>
                <a:off x="4414717" y="89917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5" name="Oval 4">
                <a:extLst>
                  <a:ext uri="{FF2B5EF4-FFF2-40B4-BE49-F238E27FC236}">
                    <a16:creationId xmlns:a16="http://schemas.microsoft.com/office/drawing/2014/main" id="{75DB50ED-9996-239C-72AD-B2BC8B763963}"/>
                  </a:ext>
                </a:extLst>
              </p:cNvPr>
              <p:cNvSpPr>
                <a:spLocks noRot="1" noChangeAspect="1" noMove="1" noResize="1" noEditPoints="1" noAdjustHandles="1" noChangeArrowheads="1" noChangeShapeType="1" noTextEdit="1"/>
              </p:cNvSpPr>
              <p:nvPr/>
            </p:nvSpPr>
            <p:spPr>
              <a:xfrm>
                <a:off x="4414717" y="899171"/>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0FC555EB-BE98-165B-626D-1982F92363B7}"/>
                  </a:ext>
                </a:extLst>
              </p:cNvPr>
              <p:cNvSpPr/>
              <p:nvPr/>
            </p:nvSpPr>
            <p:spPr>
              <a:xfrm>
                <a:off x="9341795" y="2138796"/>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r>
                        <a:rPr lang="en-US" b="0" i="1" smtClean="0">
                          <a:latin typeface="Cambria Math" panose="02040503050406030204" pitchFamily="18" charset="0"/>
                        </a:rPr>
                        <m:t>=8</m:t>
                      </m:r>
                    </m:oMath>
                  </m:oMathPara>
                </a14:m>
                <a:endParaRPr lang="en-US" dirty="0"/>
              </a:p>
            </p:txBody>
          </p:sp>
        </mc:Choice>
        <mc:Fallback>
          <p:sp>
            <p:nvSpPr>
              <p:cNvPr id="6" name="Oval 5">
                <a:extLst>
                  <a:ext uri="{FF2B5EF4-FFF2-40B4-BE49-F238E27FC236}">
                    <a16:creationId xmlns:a16="http://schemas.microsoft.com/office/drawing/2014/main" id="{0FC555EB-BE98-165B-626D-1982F92363B7}"/>
                  </a:ext>
                </a:extLst>
              </p:cNvPr>
              <p:cNvSpPr>
                <a:spLocks noRot="1" noChangeAspect="1" noMove="1" noResize="1" noEditPoints="1" noAdjustHandles="1" noChangeArrowheads="1" noChangeShapeType="1" noTextEdit="1"/>
              </p:cNvSpPr>
              <p:nvPr/>
            </p:nvSpPr>
            <p:spPr>
              <a:xfrm>
                <a:off x="9341795" y="2138796"/>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C6EF9A40-D278-B560-9DFD-D2A2293FB99A}"/>
                  </a:ext>
                </a:extLst>
              </p:cNvPr>
              <p:cNvSpPr/>
              <p:nvPr/>
            </p:nvSpPr>
            <p:spPr>
              <a:xfrm>
                <a:off x="4414717" y="214115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7" name="Oval 6">
                <a:extLst>
                  <a:ext uri="{FF2B5EF4-FFF2-40B4-BE49-F238E27FC236}">
                    <a16:creationId xmlns:a16="http://schemas.microsoft.com/office/drawing/2014/main" id="{C6EF9A40-D278-B560-9DFD-D2A2293FB99A}"/>
                  </a:ext>
                </a:extLst>
              </p:cNvPr>
              <p:cNvSpPr>
                <a:spLocks noRot="1" noChangeAspect="1" noMove="1" noResize="1" noEditPoints="1" noAdjustHandles="1" noChangeArrowheads="1" noChangeShapeType="1" noTextEdit="1"/>
              </p:cNvSpPr>
              <p:nvPr/>
            </p:nvSpPr>
            <p:spPr>
              <a:xfrm>
                <a:off x="4414717" y="2141153"/>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FB9E548D-0B70-C84D-0141-4DBB54C3294E}"/>
                  </a:ext>
                </a:extLst>
              </p:cNvPr>
              <p:cNvSpPr/>
              <p:nvPr/>
            </p:nvSpPr>
            <p:spPr>
              <a:xfrm>
                <a:off x="4414717" y="3383135"/>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8" name="Oval 7">
                <a:extLst>
                  <a:ext uri="{FF2B5EF4-FFF2-40B4-BE49-F238E27FC236}">
                    <a16:creationId xmlns:a16="http://schemas.microsoft.com/office/drawing/2014/main" id="{FB9E548D-0B70-C84D-0141-4DBB54C3294E}"/>
                  </a:ext>
                </a:extLst>
              </p:cNvPr>
              <p:cNvSpPr>
                <a:spLocks noRot="1" noChangeAspect="1" noMove="1" noResize="1" noEditPoints="1" noAdjustHandles="1" noChangeArrowheads="1" noChangeShapeType="1" noTextEdit="1"/>
              </p:cNvSpPr>
              <p:nvPr/>
            </p:nvSpPr>
            <p:spPr>
              <a:xfrm>
                <a:off x="4414717" y="3383135"/>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AE16AA77-C15C-B67D-FE63-05801D3225C3}"/>
                  </a:ext>
                </a:extLst>
              </p:cNvPr>
              <p:cNvSpPr/>
              <p:nvPr/>
            </p:nvSpPr>
            <p:spPr>
              <a:xfrm>
                <a:off x="6540458" y="899171"/>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9" name="Oval 8">
                <a:extLst>
                  <a:ext uri="{FF2B5EF4-FFF2-40B4-BE49-F238E27FC236}">
                    <a16:creationId xmlns:a16="http://schemas.microsoft.com/office/drawing/2014/main" id="{AE16AA77-C15C-B67D-FE63-05801D3225C3}"/>
                  </a:ext>
                </a:extLst>
              </p:cNvPr>
              <p:cNvSpPr>
                <a:spLocks noRot="1" noChangeAspect="1" noMove="1" noResize="1" noEditPoints="1" noAdjustHandles="1" noChangeArrowheads="1" noChangeShapeType="1" noTextEdit="1"/>
              </p:cNvSpPr>
              <p:nvPr/>
            </p:nvSpPr>
            <p:spPr>
              <a:xfrm>
                <a:off x="6540458" y="899171"/>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C5FEB29D-4AE5-AA10-3D7D-9E12E5C8253B}"/>
                  </a:ext>
                </a:extLst>
              </p:cNvPr>
              <p:cNvSpPr/>
              <p:nvPr/>
            </p:nvSpPr>
            <p:spPr>
              <a:xfrm>
                <a:off x="6540458" y="2138796"/>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10" name="Oval 9">
                <a:extLst>
                  <a:ext uri="{FF2B5EF4-FFF2-40B4-BE49-F238E27FC236}">
                    <a16:creationId xmlns:a16="http://schemas.microsoft.com/office/drawing/2014/main" id="{C5FEB29D-4AE5-AA10-3D7D-9E12E5C8253B}"/>
                  </a:ext>
                </a:extLst>
              </p:cNvPr>
              <p:cNvSpPr>
                <a:spLocks noRot="1" noChangeAspect="1" noMove="1" noResize="1" noEditPoints="1" noAdjustHandles="1" noChangeArrowheads="1" noChangeShapeType="1" noTextEdit="1"/>
              </p:cNvSpPr>
              <p:nvPr/>
            </p:nvSpPr>
            <p:spPr>
              <a:xfrm>
                <a:off x="6540458" y="2138796"/>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5E01FED3-38C2-4484-388D-0F984324CD7C}"/>
                  </a:ext>
                </a:extLst>
              </p:cNvPr>
              <p:cNvSpPr/>
              <p:nvPr/>
            </p:nvSpPr>
            <p:spPr>
              <a:xfrm>
                <a:off x="6540458" y="3383135"/>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11" name="Oval 10">
                <a:extLst>
                  <a:ext uri="{FF2B5EF4-FFF2-40B4-BE49-F238E27FC236}">
                    <a16:creationId xmlns:a16="http://schemas.microsoft.com/office/drawing/2014/main" id="{5E01FED3-38C2-4484-388D-0F984324CD7C}"/>
                  </a:ext>
                </a:extLst>
              </p:cNvPr>
              <p:cNvSpPr>
                <a:spLocks noRot="1" noChangeAspect="1" noMove="1" noResize="1" noEditPoints="1" noAdjustHandles="1" noChangeArrowheads="1" noChangeShapeType="1" noTextEdit="1"/>
              </p:cNvSpPr>
              <p:nvPr/>
            </p:nvSpPr>
            <p:spPr>
              <a:xfrm>
                <a:off x="6540458" y="3383135"/>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705B34D2-273B-BFBA-845D-846BB3483656}"/>
              </a:ext>
            </a:extLst>
          </p:cNvPr>
          <p:cNvCxnSpPr>
            <a:cxnSpLocks/>
            <a:stCxn id="11" idx="2"/>
            <a:endCxn id="8" idx="6"/>
          </p:cNvCxnSpPr>
          <p:nvPr/>
        </p:nvCxnSpPr>
        <p:spPr>
          <a:xfrm flipH="1">
            <a:off x="5329117" y="3840335"/>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960DE74-9713-ACC3-9EE0-F15EA9DCF949}"/>
              </a:ext>
            </a:extLst>
          </p:cNvPr>
          <p:cNvCxnSpPr>
            <a:cxnSpLocks/>
            <a:stCxn id="10" idx="2"/>
            <a:endCxn id="8" idx="6"/>
          </p:cNvCxnSpPr>
          <p:nvPr/>
        </p:nvCxnSpPr>
        <p:spPr>
          <a:xfrm flipH="1">
            <a:off x="5329117" y="2595996"/>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447EC61-F0F3-A314-31A8-74F65D6C9C5F}"/>
              </a:ext>
            </a:extLst>
          </p:cNvPr>
          <p:cNvCxnSpPr>
            <a:cxnSpLocks/>
            <a:stCxn id="9" idx="2"/>
            <a:endCxn id="8" idx="6"/>
          </p:cNvCxnSpPr>
          <p:nvPr/>
        </p:nvCxnSpPr>
        <p:spPr>
          <a:xfrm flipH="1">
            <a:off x="5329117" y="1356371"/>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874D173-DFAF-85B7-4944-80C91BE08C18}"/>
              </a:ext>
            </a:extLst>
          </p:cNvPr>
          <p:cNvCxnSpPr>
            <a:cxnSpLocks/>
          </p:cNvCxnSpPr>
          <p:nvPr/>
        </p:nvCxnSpPr>
        <p:spPr>
          <a:xfrm flipH="1">
            <a:off x="5329117" y="1356370"/>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F1AC6ED-B320-CC74-0172-F8A2FB3510D5}"/>
              </a:ext>
            </a:extLst>
          </p:cNvPr>
          <p:cNvCxnSpPr>
            <a:cxnSpLocks/>
            <a:stCxn id="10" idx="2"/>
          </p:cNvCxnSpPr>
          <p:nvPr/>
        </p:nvCxnSpPr>
        <p:spPr>
          <a:xfrm flipH="1" flipV="1">
            <a:off x="5329117" y="1356370"/>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2C3101C-5C2B-D92B-CFBB-E9B43DA03F43}"/>
              </a:ext>
            </a:extLst>
          </p:cNvPr>
          <p:cNvCxnSpPr>
            <a:cxnSpLocks/>
            <a:stCxn id="11" idx="2"/>
          </p:cNvCxnSpPr>
          <p:nvPr/>
        </p:nvCxnSpPr>
        <p:spPr>
          <a:xfrm flipH="1" flipV="1">
            <a:off x="5329117" y="1356371"/>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B631662-9D6C-A34B-A132-633AA37E7CA9}"/>
              </a:ext>
            </a:extLst>
          </p:cNvPr>
          <p:cNvCxnSpPr>
            <a:cxnSpLocks/>
            <a:stCxn id="9" idx="2"/>
            <a:endCxn id="7" idx="6"/>
          </p:cNvCxnSpPr>
          <p:nvPr/>
        </p:nvCxnSpPr>
        <p:spPr>
          <a:xfrm flipH="1">
            <a:off x="5329117" y="1356371"/>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2F00887-CFA0-64C8-4FA7-8A2B8AC34F75}"/>
              </a:ext>
            </a:extLst>
          </p:cNvPr>
          <p:cNvCxnSpPr>
            <a:cxnSpLocks/>
            <a:stCxn id="10" idx="2"/>
            <a:endCxn id="7" idx="6"/>
          </p:cNvCxnSpPr>
          <p:nvPr/>
        </p:nvCxnSpPr>
        <p:spPr>
          <a:xfrm flipH="1">
            <a:off x="5329117" y="2595996"/>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57B0FF2-2037-540C-E2E2-4DC3CC061CF4}"/>
              </a:ext>
            </a:extLst>
          </p:cNvPr>
          <p:cNvCxnSpPr>
            <a:cxnSpLocks/>
            <a:stCxn id="11" idx="2"/>
            <a:endCxn id="7" idx="6"/>
          </p:cNvCxnSpPr>
          <p:nvPr/>
        </p:nvCxnSpPr>
        <p:spPr>
          <a:xfrm flipH="1" flipV="1">
            <a:off x="5329117" y="2598353"/>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60EE8EED-4F4B-B173-1034-AA8830E85834}"/>
              </a:ext>
            </a:extLst>
          </p:cNvPr>
          <p:cNvCxnSpPr>
            <a:cxnSpLocks/>
            <a:stCxn id="6" idx="2"/>
            <a:endCxn id="9" idx="6"/>
          </p:cNvCxnSpPr>
          <p:nvPr/>
        </p:nvCxnSpPr>
        <p:spPr>
          <a:xfrm flipH="1" flipV="1">
            <a:off x="7454858" y="1356371"/>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335B331-02AB-8D1B-5550-DA41EEB240F9}"/>
              </a:ext>
            </a:extLst>
          </p:cNvPr>
          <p:cNvCxnSpPr>
            <a:cxnSpLocks/>
            <a:stCxn id="6" idx="2"/>
            <a:endCxn id="10" idx="6"/>
          </p:cNvCxnSpPr>
          <p:nvPr/>
        </p:nvCxnSpPr>
        <p:spPr>
          <a:xfrm flipH="1">
            <a:off x="7454858" y="2595996"/>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98F2F9FE-BDF1-5238-0EF4-AA19D9D2D8FB}"/>
              </a:ext>
            </a:extLst>
          </p:cNvPr>
          <p:cNvCxnSpPr>
            <a:cxnSpLocks/>
            <a:stCxn id="6" idx="2"/>
            <a:endCxn id="11" idx="6"/>
          </p:cNvCxnSpPr>
          <p:nvPr/>
        </p:nvCxnSpPr>
        <p:spPr>
          <a:xfrm flipH="1">
            <a:off x="7454858" y="2595996"/>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D324FF9-FB38-3511-A8A6-4A6CBAD36089}"/>
                  </a:ext>
                </a:extLst>
              </p:cNvPr>
              <p:cNvSpPr txBox="1"/>
              <p:nvPr/>
            </p:nvSpPr>
            <p:spPr>
              <a:xfrm>
                <a:off x="4669252" y="1521345"/>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 name="TextBox 1">
                <a:extLst>
                  <a:ext uri="{FF2B5EF4-FFF2-40B4-BE49-F238E27FC236}">
                    <a16:creationId xmlns:a16="http://schemas.microsoft.com/office/drawing/2014/main" id="{ED324FF9-FB38-3511-A8A6-4A6CBAD36089}"/>
                  </a:ext>
                </a:extLst>
              </p:cNvPr>
              <p:cNvSpPr txBox="1">
                <a:spLocks noRot="1" noChangeAspect="1" noMove="1" noResize="1" noEditPoints="1" noAdjustHandles="1" noChangeArrowheads="1" noChangeShapeType="1" noTextEdit="1"/>
              </p:cNvSpPr>
              <p:nvPr/>
            </p:nvSpPr>
            <p:spPr>
              <a:xfrm>
                <a:off x="4669252" y="1521345"/>
                <a:ext cx="347852" cy="276999"/>
              </a:xfrm>
              <a:prstGeom prst="rect">
                <a:avLst/>
              </a:prstGeom>
              <a:blipFill>
                <a:blip r:embed="rId10"/>
                <a:stretch>
                  <a:fillRect l="-3448" r="-13793"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F58E06A-8E22-23F0-22DA-2AE766E0C185}"/>
                  </a:ext>
                </a:extLst>
              </p:cNvPr>
              <p:cNvSpPr txBox="1"/>
              <p:nvPr/>
            </p:nvSpPr>
            <p:spPr>
              <a:xfrm>
                <a:off x="4784553" y="2746263"/>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3</m:t>
                      </m:r>
                    </m:oMath>
                  </m:oMathPara>
                </a14:m>
                <a:endParaRPr lang="en-US" dirty="0">
                  <a:solidFill>
                    <a:schemeClr val="bg1"/>
                  </a:solidFill>
                </a:endParaRPr>
              </a:p>
            </p:txBody>
          </p:sp>
        </mc:Choice>
        <mc:Fallback>
          <p:sp>
            <p:nvSpPr>
              <p:cNvPr id="3" name="TextBox 2">
                <a:extLst>
                  <a:ext uri="{FF2B5EF4-FFF2-40B4-BE49-F238E27FC236}">
                    <a16:creationId xmlns:a16="http://schemas.microsoft.com/office/drawing/2014/main" id="{CF58E06A-8E22-23F0-22DA-2AE766E0C185}"/>
                  </a:ext>
                </a:extLst>
              </p:cNvPr>
              <p:cNvSpPr txBox="1">
                <a:spLocks noRot="1" noChangeAspect="1" noMove="1" noResize="1" noEditPoints="1" noAdjustHandles="1" noChangeArrowheads="1" noChangeShapeType="1" noTextEdit="1"/>
              </p:cNvSpPr>
              <p:nvPr/>
            </p:nvSpPr>
            <p:spPr>
              <a:xfrm>
                <a:off x="4784553" y="2746263"/>
                <a:ext cx="174728" cy="276999"/>
              </a:xfrm>
              <a:prstGeom prst="rect">
                <a:avLst/>
              </a:prstGeom>
              <a:blipFill>
                <a:blip r:embed="rId11"/>
                <a:stretch>
                  <a:fillRect l="-26667" r="-3333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895086C3-95EF-270D-1D99-4775C25AC410}"/>
                  </a:ext>
                </a:extLst>
              </p:cNvPr>
              <p:cNvSpPr txBox="1"/>
              <p:nvPr/>
            </p:nvSpPr>
            <p:spPr>
              <a:xfrm>
                <a:off x="4669252" y="4010488"/>
                <a:ext cx="3478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−1</m:t>
                      </m:r>
                    </m:oMath>
                  </m:oMathPara>
                </a14:m>
                <a:endParaRPr lang="en-US" dirty="0">
                  <a:solidFill>
                    <a:schemeClr val="bg1"/>
                  </a:solidFill>
                </a:endParaRPr>
              </a:p>
            </p:txBody>
          </p:sp>
        </mc:Choice>
        <mc:Fallback>
          <p:sp>
            <p:nvSpPr>
              <p:cNvPr id="12" name="TextBox 11">
                <a:extLst>
                  <a:ext uri="{FF2B5EF4-FFF2-40B4-BE49-F238E27FC236}">
                    <a16:creationId xmlns:a16="http://schemas.microsoft.com/office/drawing/2014/main" id="{895086C3-95EF-270D-1D99-4775C25AC410}"/>
                  </a:ext>
                </a:extLst>
              </p:cNvPr>
              <p:cNvSpPr txBox="1">
                <a:spLocks noRot="1" noChangeAspect="1" noMove="1" noResize="1" noEditPoints="1" noAdjustHandles="1" noChangeArrowheads="1" noChangeShapeType="1" noTextEdit="1"/>
              </p:cNvSpPr>
              <p:nvPr/>
            </p:nvSpPr>
            <p:spPr>
              <a:xfrm>
                <a:off x="4669252" y="4010488"/>
                <a:ext cx="347852" cy="276999"/>
              </a:xfrm>
              <a:prstGeom prst="rect">
                <a:avLst/>
              </a:prstGeom>
              <a:blipFill>
                <a:blip r:embed="rId12"/>
                <a:stretch>
                  <a:fillRect l="-3448" r="-13793"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27248EF9-CBBA-F57A-D05E-1BF323565E9D}"/>
                  </a:ext>
                </a:extLst>
              </p:cNvPr>
              <p:cNvSpPr txBox="1"/>
              <p:nvPr/>
            </p:nvSpPr>
            <p:spPr>
              <a:xfrm>
                <a:off x="6804388" y="1521344"/>
                <a:ext cx="35105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0.5</m:t>
                      </m:r>
                    </m:oMath>
                  </m:oMathPara>
                </a14:m>
                <a:endParaRPr lang="en-US" dirty="0">
                  <a:solidFill>
                    <a:schemeClr val="bg1"/>
                  </a:solidFill>
                </a:endParaRPr>
              </a:p>
            </p:txBody>
          </p:sp>
        </mc:Choice>
        <mc:Fallback>
          <p:sp>
            <p:nvSpPr>
              <p:cNvPr id="16" name="TextBox 15">
                <a:extLst>
                  <a:ext uri="{FF2B5EF4-FFF2-40B4-BE49-F238E27FC236}">
                    <a16:creationId xmlns:a16="http://schemas.microsoft.com/office/drawing/2014/main" id="{27248EF9-CBBA-F57A-D05E-1BF323565E9D}"/>
                  </a:ext>
                </a:extLst>
              </p:cNvPr>
              <p:cNvSpPr txBox="1">
                <a:spLocks noRot="1" noChangeAspect="1" noMove="1" noResize="1" noEditPoints="1" noAdjustHandles="1" noChangeArrowheads="1" noChangeShapeType="1" noTextEdit="1"/>
              </p:cNvSpPr>
              <p:nvPr/>
            </p:nvSpPr>
            <p:spPr>
              <a:xfrm>
                <a:off x="6804388" y="1521344"/>
                <a:ext cx="351058" cy="276999"/>
              </a:xfrm>
              <a:prstGeom prst="rect">
                <a:avLst/>
              </a:prstGeom>
              <a:blipFill>
                <a:blip r:embed="rId13"/>
                <a:stretch>
                  <a:fillRect l="-13793" r="-17241"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D8068E2-26EC-7627-A2EE-46763544232F}"/>
                  </a:ext>
                </a:extLst>
              </p:cNvPr>
              <p:cNvSpPr txBox="1"/>
              <p:nvPr/>
            </p:nvSpPr>
            <p:spPr>
              <a:xfrm>
                <a:off x="6894823" y="2726166"/>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18" name="TextBox 17">
                <a:extLst>
                  <a:ext uri="{FF2B5EF4-FFF2-40B4-BE49-F238E27FC236}">
                    <a16:creationId xmlns:a16="http://schemas.microsoft.com/office/drawing/2014/main" id="{9D8068E2-26EC-7627-A2EE-46763544232F}"/>
                  </a:ext>
                </a:extLst>
              </p:cNvPr>
              <p:cNvSpPr txBox="1">
                <a:spLocks noRot="1" noChangeAspect="1" noMove="1" noResize="1" noEditPoints="1" noAdjustHandles="1" noChangeArrowheads="1" noChangeShapeType="1" noTextEdit="1"/>
              </p:cNvSpPr>
              <p:nvPr/>
            </p:nvSpPr>
            <p:spPr>
              <a:xfrm>
                <a:off x="6894823" y="2726166"/>
                <a:ext cx="174728" cy="276999"/>
              </a:xfrm>
              <a:prstGeom prst="rect">
                <a:avLst/>
              </a:prstGeom>
              <a:blipFill>
                <a:blip r:embed="rId14"/>
                <a:stretch>
                  <a:fillRect l="-26667" r="-33333"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1FD0581-54E5-0402-D183-CE696C4E004C}"/>
                  </a:ext>
                </a:extLst>
              </p:cNvPr>
              <p:cNvSpPr txBox="1"/>
              <p:nvPr/>
            </p:nvSpPr>
            <p:spPr>
              <a:xfrm>
                <a:off x="6894823" y="3967595"/>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2</m:t>
                      </m:r>
                    </m:oMath>
                  </m:oMathPara>
                </a14:m>
                <a:endParaRPr lang="en-US" dirty="0">
                  <a:solidFill>
                    <a:schemeClr val="bg1"/>
                  </a:solidFill>
                </a:endParaRPr>
              </a:p>
            </p:txBody>
          </p:sp>
        </mc:Choice>
        <mc:Fallback>
          <p:sp>
            <p:nvSpPr>
              <p:cNvPr id="22" name="TextBox 21">
                <a:extLst>
                  <a:ext uri="{FF2B5EF4-FFF2-40B4-BE49-F238E27FC236}">
                    <a16:creationId xmlns:a16="http://schemas.microsoft.com/office/drawing/2014/main" id="{A1FD0581-54E5-0402-D183-CE696C4E004C}"/>
                  </a:ext>
                </a:extLst>
              </p:cNvPr>
              <p:cNvSpPr txBox="1">
                <a:spLocks noRot="1" noChangeAspect="1" noMove="1" noResize="1" noEditPoints="1" noAdjustHandles="1" noChangeArrowheads="1" noChangeShapeType="1" noTextEdit="1"/>
              </p:cNvSpPr>
              <p:nvPr/>
            </p:nvSpPr>
            <p:spPr>
              <a:xfrm>
                <a:off x="6894823" y="3967595"/>
                <a:ext cx="174728" cy="276999"/>
              </a:xfrm>
              <a:prstGeom prst="rect">
                <a:avLst/>
              </a:prstGeom>
              <a:blipFill>
                <a:blip r:embed="rId15"/>
                <a:stretch>
                  <a:fillRect l="-26667" r="-33333" b="-4348"/>
                </a:stretch>
              </a:blipFill>
            </p:spPr>
            <p:txBody>
              <a:bodyPr/>
              <a:lstStyle/>
              <a:p>
                <a:r>
                  <a:rPr lang="en-US">
                    <a:noFill/>
                  </a:rPr>
                  <a:t> </a:t>
                </a:r>
              </a:p>
            </p:txBody>
          </p:sp>
        </mc:Fallback>
      </mc:AlternateContent>
      <p:sp>
        <p:nvSpPr>
          <p:cNvPr id="21" name="Title 1">
            <a:extLst>
              <a:ext uri="{FF2B5EF4-FFF2-40B4-BE49-F238E27FC236}">
                <a16:creationId xmlns:a16="http://schemas.microsoft.com/office/drawing/2014/main" id="{2044D6D4-2BDC-F34D-9E3C-813988C6EE03}"/>
              </a:ext>
            </a:extLst>
          </p:cNvPr>
          <p:cNvSpPr>
            <a:spLocks noGrp="1"/>
          </p:cNvSpPr>
          <p:nvPr>
            <p:ph type="title"/>
          </p:nvPr>
        </p:nvSpPr>
        <p:spPr>
          <a:xfrm>
            <a:off x="189663" y="5140894"/>
            <a:ext cx="11812674" cy="1325563"/>
          </a:xfrm>
        </p:spPr>
        <p:txBody>
          <a:bodyPr>
            <a:normAutofit fontScale="90000"/>
          </a:bodyPr>
          <a:lstStyle/>
          <a:p>
            <a:pPr algn="ctr"/>
            <a:r>
              <a:rPr lang="en-US" dirty="0"/>
              <a:t>We know how to make a prediction given a set of weights a biases. But how do we tune them to represent a particular function? </a:t>
            </a:r>
            <a:r>
              <a:rPr lang="en-US" u="sng" dirty="0"/>
              <a:t>That’s the learning part</a:t>
            </a:r>
            <a:r>
              <a:rPr lang="en-US" dirty="0"/>
              <a:t>.</a:t>
            </a:r>
          </a:p>
        </p:txBody>
      </p:sp>
    </p:spTree>
    <p:extLst>
      <p:ext uri="{BB962C8B-B14F-4D97-AF65-F5344CB8AC3E}">
        <p14:creationId xmlns:p14="http://schemas.microsoft.com/office/powerpoint/2010/main" val="247957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8D035-3AD9-6642-7D2D-4E485BAE64B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77D4EFC1-C1CC-318C-91BC-9A5F2D56ACFE}"/>
                  </a:ext>
                </a:extLst>
              </p:cNvPr>
              <p:cNvSpPr txBox="1"/>
              <p:nvPr/>
            </p:nvSpPr>
            <p:spPr>
              <a:xfrm>
                <a:off x="2558465" y="4854418"/>
                <a:ext cx="7178388" cy="1754326"/>
              </a:xfrm>
              <a:prstGeom prst="rect">
                <a:avLst/>
              </a:prstGeom>
              <a:noFill/>
            </p:spPr>
            <p:txBody>
              <a:bodyPr wrap="square" rtlCol="0">
                <a:spAutoFit/>
              </a:bodyPr>
              <a:lstStyle/>
              <a:p>
                <a:r>
                  <a:rPr lang="en-US" b="0" dirty="0"/>
                  <a:t>Lets suppose we want this to represent the function </a:t>
                </a:r>
                <a14:m>
                  <m:oMath xmlns:m="http://schemas.openxmlformats.org/officeDocument/2006/math">
                    <m:r>
                      <m:rPr>
                        <m:sty m:val="p"/>
                      </m:rPr>
                      <a:rPr lang="en-US" b="0" i="0" smtClean="0">
                        <a:latin typeface="Cambria Math" panose="02040503050406030204" pitchFamily="18" charset="0"/>
                      </a:rPr>
                      <m:t>f</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x</m:t>
                        </m:r>
                      </m:e>
                    </m:d>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r>
                  <a:rPr lang="en-US" dirty="0"/>
                  <a:t>. </a:t>
                </a:r>
              </a:p>
              <a:p>
                <a:endParaRPr lang="en-US" dirty="0"/>
              </a:p>
              <a:p>
                <a:r>
                  <a:rPr lang="en-US" dirty="0"/>
                  <a:t>It should’ve output </a:t>
                </a:r>
                <a14:m>
                  <m:oMath xmlns:m="http://schemas.openxmlformats.org/officeDocument/2006/math">
                    <m:r>
                      <m:rPr>
                        <m:sty m:val="p"/>
                      </m:rPr>
                      <a:rPr lang="en-US">
                        <a:latin typeface="Cambria Math" panose="02040503050406030204" pitchFamily="18" charset="0"/>
                      </a:rPr>
                      <m:t>f</m:t>
                    </m:r>
                    <m:d>
                      <m:dPr>
                        <m:ctrlPr>
                          <a:rPr lang="en-US" i="1">
                            <a:latin typeface="Cambria Math" panose="02040503050406030204" pitchFamily="18" charset="0"/>
                          </a:rPr>
                        </m:ctrlPr>
                      </m:dPr>
                      <m:e>
                        <m:r>
                          <a:rPr lang="en-US" b="0" i="0" smtClean="0">
                            <a:latin typeface="Cambria Math" panose="02040503050406030204" pitchFamily="18" charset="0"/>
                          </a:rPr>
                          <m:t>−1</m:t>
                        </m:r>
                      </m:e>
                    </m:d>
                    <m:r>
                      <a:rPr lang="en-US" b="0" i="1" smtClean="0">
                        <a:latin typeface="Cambria Math" panose="02040503050406030204" pitchFamily="18" charset="0"/>
                      </a:rPr>
                      <m:t>=1</m:t>
                    </m:r>
                  </m:oMath>
                </a14:m>
                <a:r>
                  <a:rPr lang="en-US" dirty="0"/>
                  <a:t>, but instead we got 8.</a:t>
                </a:r>
              </a:p>
              <a:p>
                <a:endParaRPr lang="en-US" dirty="0"/>
              </a:p>
              <a:p>
                <a:r>
                  <a:rPr lang="en-US" dirty="0"/>
                  <a:t>We need to update the weights and biases so that next time we input -1 the model outputs something closer to 1.</a:t>
                </a:r>
              </a:p>
            </p:txBody>
          </p:sp>
        </mc:Choice>
        <mc:Fallback>
          <p:sp>
            <p:nvSpPr>
              <p:cNvPr id="27" name="TextBox 26">
                <a:extLst>
                  <a:ext uri="{FF2B5EF4-FFF2-40B4-BE49-F238E27FC236}">
                    <a16:creationId xmlns:a16="http://schemas.microsoft.com/office/drawing/2014/main" id="{77D4EFC1-C1CC-318C-91BC-9A5F2D56ACFE}"/>
                  </a:ext>
                </a:extLst>
              </p:cNvPr>
              <p:cNvSpPr txBox="1">
                <a:spLocks noRot="1" noChangeAspect="1" noMove="1" noResize="1" noEditPoints="1" noAdjustHandles="1" noChangeArrowheads="1" noChangeShapeType="1" noTextEdit="1"/>
              </p:cNvSpPr>
              <p:nvPr/>
            </p:nvSpPr>
            <p:spPr>
              <a:xfrm>
                <a:off x="2558465" y="4854418"/>
                <a:ext cx="7178388" cy="1754326"/>
              </a:xfrm>
              <a:prstGeom prst="rect">
                <a:avLst/>
              </a:prstGeom>
              <a:blipFill>
                <a:blip r:embed="rId2"/>
                <a:stretch>
                  <a:fillRect l="-707" t="-1439" r="-353" b="-50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Oval 27">
                <a:extLst>
                  <a:ext uri="{FF2B5EF4-FFF2-40B4-BE49-F238E27FC236}">
                    <a16:creationId xmlns:a16="http://schemas.microsoft.com/office/drawing/2014/main" id="{6B54D93A-70D0-7480-4421-A03090D0916C}"/>
                  </a:ext>
                </a:extLst>
              </p:cNvPr>
              <p:cNvSpPr/>
              <p:nvPr/>
            </p:nvSpPr>
            <p:spPr>
              <a:xfrm>
                <a:off x="1914084" y="226036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28" name="Oval 27">
                <a:extLst>
                  <a:ext uri="{FF2B5EF4-FFF2-40B4-BE49-F238E27FC236}">
                    <a16:creationId xmlns:a16="http://schemas.microsoft.com/office/drawing/2014/main" id="{6B54D93A-70D0-7480-4421-A03090D0916C}"/>
                  </a:ext>
                </a:extLst>
              </p:cNvPr>
              <p:cNvSpPr>
                <a:spLocks noRot="1" noChangeAspect="1" noMove="1" noResize="1" noEditPoints="1" noAdjustHandles="1" noChangeArrowheads="1" noChangeShapeType="1" noTextEdit="1"/>
              </p:cNvSpPr>
              <p:nvPr/>
            </p:nvSpPr>
            <p:spPr>
              <a:xfrm>
                <a:off x="1914084" y="2260368"/>
                <a:ext cx="914400" cy="914400"/>
              </a:xfrm>
              <a:prstGeom prst="ellipse">
                <a:avLst/>
              </a:prstGeom>
              <a:blipFill>
                <a:blip r:embed="rId3"/>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30D544D6-C235-A5B3-2D67-3DD737B99E80}"/>
              </a:ext>
            </a:extLst>
          </p:cNvPr>
          <p:cNvCxnSpPr>
            <a:stCxn id="28" idx="6"/>
            <a:endCxn id="35" idx="2"/>
          </p:cNvCxnSpPr>
          <p:nvPr/>
        </p:nvCxnSpPr>
        <p:spPr>
          <a:xfrm flipV="1">
            <a:off x="2828484" y="1477943"/>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C794B47-7A32-37E0-B5F6-6F58D83E980E}"/>
              </a:ext>
            </a:extLst>
          </p:cNvPr>
          <p:cNvCxnSpPr>
            <a:cxnSpLocks/>
            <a:stCxn id="28" idx="6"/>
            <a:endCxn id="38" idx="2"/>
          </p:cNvCxnSpPr>
          <p:nvPr/>
        </p:nvCxnSpPr>
        <p:spPr>
          <a:xfrm>
            <a:off x="2828484" y="2717568"/>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3DAF768-A4A6-D30F-9826-6454CC2C2FDF}"/>
              </a:ext>
            </a:extLst>
          </p:cNvPr>
          <p:cNvCxnSpPr>
            <a:cxnSpLocks/>
            <a:stCxn id="28" idx="6"/>
            <a:endCxn id="39" idx="2"/>
          </p:cNvCxnSpPr>
          <p:nvPr/>
        </p:nvCxnSpPr>
        <p:spPr>
          <a:xfrm>
            <a:off x="2828484" y="2717568"/>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5" name="Oval 34">
                <a:extLst>
                  <a:ext uri="{FF2B5EF4-FFF2-40B4-BE49-F238E27FC236}">
                    <a16:creationId xmlns:a16="http://schemas.microsoft.com/office/drawing/2014/main" id="{8651BE51-E43B-3999-C00D-F0ADD7A6A5B3}"/>
                  </a:ext>
                </a:extLst>
              </p:cNvPr>
              <p:cNvSpPr/>
              <p:nvPr/>
            </p:nvSpPr>
            <p:spPr>
              <a:xfrm>
                <a:off x="4424765" y="102074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35" name="Oval 34">
                <a:extLst>
                  <a:ext uri="{FF2B5EF4-FFF2-40B4-BE49-F238E27FC236}">
                    <a16:creationId xmlns:a16="http://schemas.microsoft.com/office/drawing/2014/main" id="{8651BE51-E43B-3999-C00D-F0ADD7A6A5B3}"/>
                  </a:ext>
                </a:extLst>
              </p:cNvPr>
              <p:cNvSpPr>
                <a:spLocks noRot="1" noChangeAspect="1" noMove="1" noResize="1" noEditPoints="1" noAdjustHandles="1" noChangeArrowheads="1" noChangeShapeType="1" noTextEdit="1"/>
              </p:cNvSpPr>
              <p:nvPr/>
            </p:nvSpPr>
            <p:spPr>
              <a:xfrm>
                <a:off x="4424765" y="1020743"/>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Oval 35">
                <a:extLst>
                  <a:ext uri="{FF2B5EF4-FFF2-40B4-BE49-F238E27FC236}">
                    <a16:creationId xmlns:a16="http://schemas.microsoft.com/office/drawing/2014/main" id="{DBE577C7-900C-DA7D-60EC-947E4A99177A}"/>
                  </a:ext>
                </a:extLst>
              </p:cNvPr>
              <p:cNvSpPr/>
              <p:nvPr/>
            </p:nvSpPr>
            <p:spPr>
              <a:xfrm>
                <a:off x="9351843" y="226036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r>
                        <a:rPr lang="en-US" b="0" i="0" smtClean="0">
                          <a:latin typeface="Cambria Math" panose="02040503050406030204" pitchFamily="18" charset="0"/>
                        </a:rPr>
                        <m:t>=8</m:t>
                      </m:r>
                    </m:oMath>
                  </m:oMathPara>
                </a14:m>
                <a:endParaRPr lang="en-US" dirty="0"/>
              </a:p>
            </p:txBody>
          </p:sp>
        </mc:Choice>
        <mc:Fallback>
          <p:sp>
            <p:nvSpPr>
              <p:cNvPr id="36" name="Oval 35">
                <a:extLst>
                  <a:ext uri="{FF2B5EF4-FFF2-40B4-BE49-F238E27FC236}">
                    <a16:creationId xmlns:a16="http://schemas.microsoft.com/office/drawing/2014/main" id="{DBE577C7-900C-DA7D-60EC-947E4A99177A}"/>
                  </a:ext>
                </a:extLst>
              </p:cNvPr>
              <p:cNvSpPr>
                <a:spLocks noRot="1" noChangeAspect="1" noMove="1" noResize="1" noEditPoints="1" noAdjustHandles="1" noChangeArrowheads="1" noChangeShapeType="1" noTextEdit="1"/>
              </p:cNvSpPr>
              <p:nvPr/>
            </p:nvSpPr>
            <p:spPr>
              <a:xfrm>
                <a:off x="9351843" y="2260368"/>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Oval 37">
                <a:extLst>
                  <a:ext uri="{FF2B5EF4-FFF2-40B4-BE49-F238E27FC236}">
                    <a16:creationId xmlns:a16="http://schemas.microsoft.com/office/drawing/2014/main" id="{08BAEA2D-EF24-01BB-AA1E-1A52CF9405FD}"/>
                  </a:ext>
                </a:extLst>
              </p:cNvPr>
              <p:cNvSpPr/>
              <p:nvPr/>
            </p:nvSpPr>
            <p:spPr>
              <a:xfrm>
                <a:off x="4424765" y="2262725"/>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38" name="Oval 37">
                <a:extLst>
                  <a:ext uri="{FF2B5EF4-FFF2-40B4-BE49-F238E27FC236}">
                    <a16:creationId xmlns:a16="http://schemas.microsoft.com/office/drawing/2014/main" id="{08BAEA2D-EF24-01BB-AA1E-1A52CF9405FD}"/>
                  </a:ext>
                </a:extLst>
              </p:cNvPr>
              <p:cNvSpPr>
                <a:spLocks noRot="1" noChangeAspect="1" noMove="1" noResize="1" noEditPoints="1" noAdjustHandles="1" noChangeArrowheads="1" noChangeShapeType="1" noTextEdit="1"/>
              </p:cNvSpPr>
              <p:nvPr/>
            </p:nvSpPr>
            <p:spPr>
              <a:xfrm>
                <a:off x="4424765" y="2262725"/>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Oval 38">
                <a:extLst>
                  <a:ext uri="{FF2B5EF4-FFF2-40B4-BE49-F238E27FC236}">
                    <a16:creationId xmlns:a16="http://schemas.microsoft.com/office/drawing/2014/main" id="{21385D9C-3097-1360-F90A-A6D89D7747C2}"/>
                  </a:ext>
                </a:extLst>
              </p:cNvPr>
              <p:cNvSpPr/>
              <p:nvPr/>
            </p:nvSpPr>
            <p:spPr>
              <a:xfrm>
                <a:off x="4424765" y="3504707"/>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39" name="Oval 38">
                <a:extLst>
                  <a:ext uri="{FF2B5EF4-FFF2-40B4-BE49-F238E27FC236}">
                    <a16:creationId xmlns:a16="http://schemas.microsoft.com/office/drawing/2014/main" id="{21385D9C-3097-1360-F90A-A6D89D7747C2}"/>
                  </a:ext>
                </a:extLst>
              </p:cNvPr>
              <p:cNvSpPr>
                <a:spLocks noRot="1" noChangeAspect="1" noMove="1" noResize="1" noEditPoints="1" noAdjustHandles="1" noChangeArrowheads="1" noChangeShapeType="1" noTextEdit="1"/>
              </p:cNvSpPr>
              <p:nvPr/>
            </p:nvSpPr>
            <p:spPr>
              <a:xfrm>
                <a:off x="4424765" y="3504707"/>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val 40">
                <a:extLst>
                  <a:ext uri="{FF2B5EF4-FFF2-40B4-BE49-F238E27FC236}">
                    <a16:creationId xmlns:a16="http://schemas.microsoft.com/office/drawing/2014/main" id="{EAC48864-3535-447D-E6DE-506E47C5F1D4}"/>
                  </a:ext>
                </a:extLst>
              </p:cNvPr>
              <p:cNvSpPr/>
              <p:nvPr/>
            </p:nvSpPr>
            <p:spPr>
              <a:xfrm>
                <a:off x="6550506" y="102074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41" name="Oval 40">
                <a:extLst>
                  <a:ext uri="{FF2B5EF4-FFF2-40B4-BE49-F238E27FC236}">
                    <a16:creationId xmlns:a16="http://schemas.microsoft.com/office/drawing/2014/main" id="{EAC48864-3535-447D-E6DE-506E47C5F1D4}"/>
                  </a:ext>
                </a:extLst>
              </p:cNvPr>
              <p:cNvSpPr>
                <a:spLocks noRot="1" noChangeAspect="1" noMove="1" noResize="1" noEditPoints="1" noAdjustHandles="1" noChangeArrowheads="1" noChangeShapeType="1" noTextEdit="1"/>
              </p:cNvSpPr>
              <p:nvPr/>
            </p:nvSpPr>
            <p:spPr>
              <a:xfrm>
                <a:off x="6550506" y="1020743"/>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Oval 41">
                <a:extLst>
                  <a:ext uri="{FF2B5EF4-FFF2-40B4-BE49-F238E27FC236}">
                    <a16:creationId xmlns:a16="http://schemas.microsoft.com/office/drawing/2014/main" id="{60A194E1-81B2-5CBF-FB4D-10E992C66BAF}"/>
                  </a:ext>
                </a:extLst>
              </p:cNvPr>
              <p:cNvSpPr/>
              <p:nvPr/>
            </p:nvSpPr>
            <p:spPr>
              <a:xfrm>
                <a:off x="6550506" y="226036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42" name="Oval 41">
                <a:extLst>
                  <a:ext uri="{FF2B5EF4-FFF2-40B4-BE49-F238E27FC236}">
                    <a16:creationId xmlns:a16="http://schemas.microsoft.com/office/drawing/2014/main" id="{60A194E1-81B2-5CBF-FB4D-10E992C66BAF}"/>
                  </a:ext>
                </a:extLst>
              </p:cNvPr>
              <p:cNvSpPr>
                <a:spLocks noRot="1" noChangeAspect="1" noMove="1" noResize="1" noEditPoints="1" noAdjustHandles="1" noChangeArrowheads="1" noChangeShapeType="1" noTextEdit="1"/>
              </p:cNvSpPr>
              <p:nvPr/>
            </p:nvSpPr>
            <p:spPr>
              <a:xfrm>
                <a:off x="6550506" y="2260368"/>
                <a:ext cx="914400" cy="9144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Oval 43">
                <a:extLst>
                  <a:ext uri="{FF2B5EF4-FFF2-40B4-BE49-F238E27FC236}">
                    <a16:creationId xmlns:a16="http://schemas.microsoft.com/office/drawing/2014/main" id="{C663D957-4192-DBA2-BFEC-AC84ADC823FC}"/>
                  </a:ext>
                </a:extLst>
              </p:cNvPr>
              <p:cNvSpPr/>
              <p:nvPr/>
            </p:nvSpPr>
            <p:spPr>
              <a:xfrm>
                <a:off x="6550506" y="3504707"/>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44" name="Oval 43">
                <a:extLst>
                  <a:ext uri="{FF2B5EF4-FFF2-40B4-BE49-F238E27FC236}">
                    <a16:creationId xmlns:a16="http://schemas.microsoft.com/office/drawing/2014/main" id="{C663D957-4192-DBA2-BFEC-AC84ADC823FC}"/>
                  </a:ext>
                </a:extLst>
              </p:cNvPr>
              <p:cNvSpPr>
                <a:spLocks noRot="1" noChangeAspect="1" noMove="1" noResize="1" noEditPoints="1" noAdjustHandles="1" noChangeArrowheads="1" noChangeShapeType="1" noTextEdit="1"/>
              </p:cNvSpPr>
              <p:nvPr/>
            </p:nvSpPr>
            <p:spPr>
              <a:xfrm>
                <a:off x="6550506" y="3504707"/>
                <a:ext cx="914400" cy="914400"/>
              </a:xfrm>
              <a:prstGeom prst="ellipse">
                <a:avLst/>
              </a:prstGeom>
              <a:blipFill>
                <a:blip r:embed="rId10"/>
                <a:stretch>
                  <a:fillRect/>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33EA4A9D-6920-A9B2-7400-68E76E8CBF33}"/>
              </a:ext>
            </a:extLst>
          </p:cNvPr>
          <p:cNvCxnSpPr>
            <a:cxnSpLocks/>
            <a:stCxn id="44" idx="2"/>
            <a:endCxn id="39" idx="6"/>
          </p:cNvCxnSpPr>
          <p:nvPr/>
        </p:nvCxnSpPr>
        <p:spPr>
          <a:xfrm flipH="1">
            <a:off x="5339165" y="3961907"/>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DC7D839-7E09-6B62-BB6C-CD5C80C78873}"/>
              </a:ext>
            </a:extLst>
          </p:cNvPr>
          <p:cNvCxnSpPr>
            <a:cxnSpLocks/>
            <a:stCxn id="42" idx="2"/>
            <a:endCxn id="39" idx="6"/>
          </p:cNvCxnSpPr>
          <p:nvPr/>
        </p:nvCxnSpPr>
        <p:spPr>
          <a:xfrm flipH="1">
            <a:off x="5339165" y="2717568"/>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75E13134-67CC-05F3-56C2-D0F0C3AB506B}"/>
              </a:ext>
            </a:extLst>
          </p:cNvPr>
          <p:cNvCxnSpPr>
            <a:cxnSpLocks/>
            <a:stCxn id="41" idx="2"/>
            <a:endCxn id="39" idx="6"/>
          </p:cNvCxnSpPr>
          <p:nvPr/>
        </p:nvCxnSpPr>
        <p:spPr>
          <a:xfrm flipH="1">
            <a:off x="5339165" y="1477943"/>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6A6DF030-3D72-5E22-AF5B-334169DE2288}"/>
              </a:ext>
            </a:extLst>
          </p:cNvPr>
          <p:cNvCxnSpPr>
            <a:cxnSpLocks/>
          </p:cNvCxnSpPr>
          <p:nvPr/>
        </p:nvCxnSpPr>
        <p:spPr>
          <a:xfrm flipH="1">
            <a:off x="5339165" y="1477942"/>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ACFBCD0-C39C-C4D3-927A-0C060BE6D02D}"/>
              </a:ext>
            </a:extLst>
          </p:cNvPr>
          <p:cNvCxnSpPr>
            <a:cxnSpLocks/>
            <a:stCxn id="42" idx="2"/>
          </p:cNvCxnSpPr>
          <p:nvPr/>
        </p:nvCxnSpPr>
        <p:spPr>
          <a:xfrm flipH="1" flipV="1">
            <a:off x="5339165" y="1477942"/>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6FFEC40-37D5-D6A4-758B-A95EC14643D6}"/>
              </a:ext>
            </a:extLst>
          </p:cNvPr>
          <p:cNvCxnSpPr>
            <a:cxnSpLocks/>
            <a:stCxn id="44" idx="2"/>
          </p:cNvCxnSpPr>
          <p:nvPr/>
        </p:nvCxnSpPr>
        <p:spPr>
          <a:xfrm flipH="1" flipV="1">
            <a:off x="5339165" y="1477943"/>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DEEEDCA9-CAC3-7F4D-4780-D7791D04F914}"/>
              </a:ext>
            </a:extLst>
          </p:cNvPr>
          <p:cNvCxnSpPr>
            <a:cxnSpLocks/>
            <a:stCxn id="41" idx="2"/>
            <a:endCxn id="38" idx="6"/>
          </p:cNvCxnSpPr>
          <p:nvPr/>
        </p:nvCxnSpPr>
        <p:spPr>
          <a:xfrm flipH="1">
            <a:off x="5339165" y="1477943"/>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3677B2DF-036A-BF6C-6AC4-6EF89AC63813}"/>
              </a:ext>
            </a:extLst>
          </p:cNvPr>
          <p:cNvCxnSpPr>
            <a:cxnSpLocks/>
            <a:stCxn id="42" idx="2"/>
            <a:endCxn id="38" idx="6"/>
          </p:cNvCxnSpPr>
          <p:nvPr/>
        </p:nvCxnSpPr>
        <p:spPr>
          <a:xfrm flipH="1">
            <a:off x="5339165" y="2717568"/>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0142FFF-AF32-9A74-8662-0FF4AA6C7D68}"/>
              </a:ext>
            </a:extLst>
          </p:cNvPr>
          <p:cNvCxnSpPr>
            <a:cxnSpLocks/>
            <a:stCxn id="44" idx="2"/>
            <a:endCxn id="38" idx="6"/>
          </p:cNvCxnSpPr>
          <p:nvPr/>
        </p:nvCxnSpPr>
        <p:spPr>
          <a:xfrm flipH="1" flipV="1">
            <a:off x="5339165" y="2719925"/>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B11E475F-2F37-43CB-E44D-57A3F5A3A4E8}"/>
              </a:ext>
            </a:extLst>
          </p:cNvPr>
          <p:cNvCxnSpPr>
            <a:cxnSpLocks/>
            <a:stCxn id="36" idx="2"/>
            <a:endCxn id="41" idx="6"/>
          </p:cNvCxnSpPr>
          <p:nvPr/>
        </p:nvCxnSpPr>
        <p:spPr>
          <a:xfrm flipH="1" flipV="1">
            <a:off x="7464906" y="1477943"/>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F940A79-E01A-D041-EE3E-69A93EA360E5}"/>
              </a:ext>
            </a:extLst>
          </p:cNvPr>
          <p:cNvCxnSpPr>
            <a:cxnSpLocks/>
            <a:stCxn id="36" idx="2"/>
            <a:endCxn id="42" idx="6"/>
          </p:cNvCxnSpPr>
          <p:nvPr/>
        </p:nvCxnSpPr>
        <p:spPr>
          <a:xfrm flipH="1">
            <a:off x="7464906" y="2717568"/>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66C0A93A-D117-44F9-A0B4-4C4EE7AEFFA6}"/>
              </a:ext>
            </a:extLst>
          </p:cNvPr>
          <p:cNvCxnSpPr>
            <a:cxnSpLocks/>
            <a:stCxn id="36" idx="2"/>
            <a:endCxn id="44" idx="6"/>
          </p:cNvCxnSpPr>
          <p:nvPr/>
        </p:nvCxnSpPr>
        <p:spPr>
          <a:xfrm flipH="1">
            <a:off x="7464906" y="2717568"/>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699C393F-FC46-1F9B-427C-12CF1D27747F}"/>
                  </a:ext>
                </a:extLst>
              </p:cNvPr>
              <p:cNvSpPr txBox="1"/>
              <p:nvPr/>
            </p:nvSpPr>
            <p:spPr>
              <a:xfrm>
                <a:off x="3004813" y="1737588"/>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=3</m:t>
                      </m:r>
                    </m:oMath>
                  </m:oMathPara>
                </a14:m>
                <a:endParaRPr lang="en-US" dirty="0">
                  <a:solidFill>
                    <a:srgbClr val="00B050"/>
                  </a:solidFill>
                </a:endParaRPr>
              </a:p>
            </p:txBody>
          </p:sp>
        </mc:Choice>
        <mc:Fallback>
          <p:sp>
            <p:nvSpPr>
              <p:cNvPr id="62" name="TextBox 61">
                <a:extLst>
                  <a:ext uri="{FF2B5EF4-FFF2-40B4-BE49-F238E27FC236}">
                    <a16:creationId xmlns:a16="http://schemas.microsoft.com/office/drawing/2014/main" id="{699C393F-FC46-1F9B-427C-12CF1D27747F}"/>
                  </a:ext>
                </a:extLst>
              </p:cNvPr>
              <p:cNvSpPr txBox="1">
                <a:spLocks noRot="1" noChangeAspect="1" noMove="1" noResize="1" noEditPoints="1" noAdjustHandles="1" noChangeArrowheads="1" noChangeShapeType="1" noTextEdit="1"/>
              </p:cNvSpPr>
              <p:nvPr/>
            </p:nvSpPr>
            <p:spPr>
              <a:xfrm>
                <a:off x="3004813" y="1737588"/>
                <a:ext cx="837409"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270B9F0E-CFF7-1935-7B48-8A21B3FDC4E3}"/>
                  </a:ext>
                </a:extLst>
              </p:cNvPr>
              <p:cNvSpPr txBox="1"/>
              <p:nvPr/>
            </p:nvSpPr>
            <p:spPr>
              <a:xfrm>
                <a:off x="3353248" y="2323192"/>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63" name="TextBox 62">
                <a:extLst>
                  <a:ext uri="{FF2B5EF4-FFF2-40B4-BE49-F238E27FC236}">
                    <a16:creationId xmlns:a16="http://schemas.microsoft.com/office/drawing/2014/main" id="{270B9F0E-CFF7-1935-7B48-8A21B3FDC4E3}"/>
                  </a:ext>
                </a:extLst>
              </p:cNvPr>
              <p:cNvSpPr txBox="1">
                <a:spLocks noRot="1" noChangeAspect="1" noMove="1" noResize="1" noEditPoints="1" noAdjustHandles="1" noChangeArrowheads="1" noChangeShapeType="1" noTextEdit="1"/>
              </p:cNvSpPr>
              <p:nvPr/>
            </p:nvSpPr>
            <p:spPr>
              <a:xfrm>
                <a:off x="3353248" y="2323192"/>
                <a:ext cx="1010533"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8D90EFAE-107C-A902-45DA-CAEC583B9CD3}"/>
                  </a:ext>
                </a:extLst>
              </p:cNvPr>
              <p:cNvSpPr txBox="1"/>
              <p:nvPr/>
            </p:nvSpPr>
            <p:spPr>
              <a:xfrm>
                <a:off x="3569729" y="3105617"/>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4" name="TextBox 63">
                <a:extLst>
                  <a:ext uri="{FF2B5EF4-FFF2-40B4-BE49-F238E27FC236}">
                    <a16:creationId xmlns:a16="http://schemas.microsoft.com/office/drawing/2014/main" id="{8D90EFAE-107C-A902-45DA-CAEC583B9CD3}"/>
                  </a:ext>
                </a:extLst>
              </p:cNvPr>
              <p:cNvSpPr txBox="1">
                <a:spLocks noRot="1" noChangeAspect="1" noMove="1" noResize="1" noEditPoints="1" noAdjustHandles="1" noChangeArrowheads="1" noChangeShapeType="1" noTextEdit="1"/>
              </p:cNvSpPr>
              <p:nvPr/>
            </p:nvSpPr>
            <p:spPr>
              <a:xfrm>
                <a:off x="3569729" y="3105617"/>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FDC649FA-C1C1-1720-6D14-D628ABD64647}"/>
                  </a:ext>
                </a:extLst>
              </p:cNvPr>
              <p:cNvSpPr txBox="1"/>
              <p:nvPr/>
            </p:nvSpPr>
            <p:spPr>
              <a:xfrm>
                <a:off x="5520915" y="203485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5" name="TextBox 64">
                <a:extLst>
                  <a:ext uri="{FF2B5EF4-FFF2-40B4-BE49-F238E27FC236}">
                    <a16:creationId xmlns:a16="http://schemas.microsoft.com/office/drawing/2014/main" id="{FDC649FA-C1C1-1720-6D14-D628ABD64647}"/>
                  </a:ext>
                </a:extLst>
              </p:cNvPr>
              <p:cNvSpPr txBox="1">
                <a:spLocks noRot="1" noChangeAspect="1" noMove="1" noResize="1" noEditPoints="1" noAdjustHandles="1" noChangeArrowheads="1" noChangeShapeType="1" noTextEdit="1"/>
              </p:cNvSpPr>
              <p:nvPr/>
            </p:nvSpPr>
            <p:spPr>
              <a:xfrm>
                <a:off x="5520915" y="203485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9F1D3A68-EAD8-ED35-B477-F2F731BDE909}"/>
                  </a:ext>
                </a:extLst>
              </p:cNvPr>
              <p:cNvSpPr txBox="1"/>
              <p:nvPr/>
            </p:nvSpPr>
            <p:spPr>
              <a:xfrm>
                <a:off x="5673315" y="218725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6" name="TextBox 65">
                <a:extLst>
                  <a:ext uri="{FF2B5EF4-FFF2-40B4-BE49-F238E27FC236}">
                    <a16:creationId xmlns:a16="http://schemas.microsoft.com/office/drawing/2014/main" id="{9F1D3A68-EAD8-ED35-B477-F2F731BDE909}"/>
                  </a:ext>
                </a:extLst>
              </p:cNvPr>
              <p:cNvSpPr txBox="1">
                <a:spLocks noRot="1" noChangeAspect="1" noMove="1" noResize="1" noEditPoints="1" noAdjustHandles="1" noChangeArrowheads="1" noChangeShapeType="1" noTextEdit="1"/>
              </p:cNvSpPr>
              <p:nvPr/>
            </p:nvSpPr>
            <p:spPr>
              <a:xfrm>
                <a:off x="5673315" y="218725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445C23E0-99E2-AE8B-8D36-2AFEC6E4340A}"/>
                  </a:ext>
                </a:extLst>
              </p:cNvPr>
              <p:cNvSpPr txBox="1"/>
              <p:nvPr/>
            </p:nvSpPr>
            <p:spPr>
              <a:xfrm>
                <a:off x="5825715" y="233965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7" name="TextBox 66">
                <a:extLst>
                  <a:ext uri="{FF2B5EF4-FFF2-40B4-BE49-F238E27FC236}">
                    <a16:creationId xmlns:a16="http://schemas.microsoft.com/office/drawing/2014/main" id="{445C23E0-99E2-AE8B-8D36-2AFEC6E4340A}"/>
                  </a:ext>
                </a:extLst>
              </p:cNvPr>
              <p:cNvSpPr txBox="1">
                <a:spLocks noRot="1" noChangeAspect="1" noMove="1" noResize="1" noEditPoints="1" noAdjustHandles="1" noChangeArrowheads="1" noChangeShapeType="1" noTextEdit="1"/>
              </p:cNvSpPr>
              <p:nvPr/>
            </p:nvSpPr>
            <p:spPr>
              <a:xfrm>
                <a:off x="5825715" y="233965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D5018880-7721-E9B0-7469-BDE1C6267396}"/>
                  </a:ext>
                </a:extLst>
              </p:cNvPr>
              <p:cNvSpPr txBox="1"/>
              <p:nvPr/>
            </p:nvSpPr>
            <p:spPr>
              <a:xfrm>
                <a:off x="5606861" y="2500449"/>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8" name="TextBox 67">
                <a:extLst>
                  <a:ext uri="{FF2B5EF4-FFF2-40B4-BE49-F238E27FC236}">
                    <a16:creationId xmlns:a16="http://schemas.microsoft.com/office/drawing/2014/main" id="{D5018880-7721-E9B0-7469-BDE1C6267396}"/>
                  </a:ext>
                </a:extLst>
              </p:cNvPr>
              <p:cNvSpPr txBox="1">
                <a:spLocks noRot="1" noChangeAspect="1" noMove="1" noResize="1" noEditPoints="1" noAdjustHandles="1" noChangeArrowheads="1" noChangeShapeType="1" noTextEdit="1"/>
              </p:cNvSpPr>
              <p:nvPr/>
            </p:nvSpPr>
            <p:spPr>
              <a:xfrm>
                <a:off x="5606861" y="2500449"/>
                <a:ext cx="837409"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9" name="TextBox 68">
                <a:extLst>
                  <a:ext uri="{FF2B5EF4-FFF2-40B4-BE49-F238E27FC236}">
                    <a16:creationId xmlns:a16="http://schemas.microsoft.com/office/drawing/2014/main" id="{F5A94A0B-39AC-A6EF-13DC-B63E11A3D229}"/>
                  </a:ext>
                </a:extLst>
              </p:cNvPr>
              <p:cNvSpPr txBox="1"/>
              <p:nvPr/>
            </p:nvSpPr>
            <p:spPr>
              <a:xfrm>
                <a:off x="5746710" y="269624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9" name="TextBox 68">
                <a:extLst>
                  <a:ext uri="{FF2B5EF4-FFF2-40B4-BE49-F238E27FC236}">
                    <a16:creationId xmlns:a16="http://schemas.microsoft.com/office/drawing/2014/main" id="{F5A94A0B-39AC-A6EF-13DC-B63E11A3D229}"/>
                  </a:ext>
                </a:extLst>
              </p:cNvPr>
              <p:cNvSpPr txBox="1">
                <a:spLocks noRot="1" noChangeAspect="1" noMove="1" noResize="1" noEditPoints="1" noAdjustHandles="1" noChangeArrowheads="1" noChangeShapeType="1" noTextEdit="1"/>
              </p:cNvSpPr>
              <p:nvPr/>
            </p:nvSpPr>
            <p:spPr>
              <a:xfrm>
                <a:off x="5746710" y="2696240"/>
                <a:ext cx="837409"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TextBox 69">
                <a:extLst>
                  <a:ext uri="{FF2B5EF4-FFF2-40B4-BE49-F238E27FC236}">
                    <a16:creationId xmlns:a16="http://schemas.microsoft.com/office/drawing/2014/main" id="{47226EF6-EECA-D108-911C-D2D478C91057}"/>
                  </a:ext>
                </a:extLst>
              </p:cNvPr>
              <p:cNvSpPr txBox="1"/>
              <p:nvPr/>
            </p:nvSpPr>
            <p:spPr>
              <a:xfrm>
                <a:off x="5679484" y="300812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70" name="TextBox 69">
                <a:extLst>
                  <a:ext uri="{FF2B5EF4-FFF2-40B4-BE49-F238E27FC236}">
                    <a16:creationId xmlns:a16="http://schemas.microsoft.com/office/drawing/2014/main" id="{47226EF6-EECA-D108-911C-D2D478C91057}"/>
                  </a:ext>
                </a:extLst>
              </p:cNvPr>
              <p:cNvSpPr txBox="1">
                <a:spLocks noRot="1" noChangeAspect="1" noMove="1" noResize="1" noEditPoints="1" noAdjustHandles="1" noChangeArrowheads="1" noChangeShapeType="1" noTextEdit="1"/>
              </p:cNvSpPr>
              <p:nvPr/>
            </p:nvSpPr>
            <p:spPr>
              <a:xfrm>
                <a:off x="5679484" y="3008120"/>
                <a:ext cx="837409"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96A5E98C-7B56-A614-6205-05AA25426C06}"/>
                  </a:ext>
                </a:extLst>
              </p:cNvPr>
              <p:cNvSpPr txBox="1"/>
              <p:nvPr/>
            </p:nvSpPr>
            <p:spPr>
              <a:xfrm>
                <a:off x="5617005" y="3157264"/>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71" name="TextBox 70">
                <a:extLst>
                  <a:ext uri="{FF2B5EF4-FFF2-40B4-BE49-F238E27FC236}">
                    <a16:creationId xmlns:a16="http://schemas.microsoft.com/office/drawing/2014/main" id="{96A5E98C-7B56-A614-6205-05AA25426C06}"/>
                  </a:ext>
                </a:extLst>
              </p:cNvPr>
              <p:cNvSpPr txBox="1">
                <a:spLocks noRot="1" noChangeAspect="1" noMove="1" noResize="1" noEditPoints="1" noAdjustHandles="1" noChangeArrowheads="1" noChangeShapeType="1" noTextEdit="1"/>
              </p:cNvSpPr>
              <p:nvPr/>
            </p:nvSpPr>
            <p:spPr>
              <a:xfrm>
                <a:off x="5617005" y="3157264"/>
                <a:ext cx="83740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AA1F020A-45D9-A7B7-BB90-D54752AF17BE}"/>
                  </a:ext>
                </a:extLst>
              </p:cNvPr>
              <p:cNvSpPr txBox="1"/>
              <p:nvPr/>
            </p:nvSpPr>
            <p:spPr>
              <a:xfrm>
                <a:off x="8012604" y="167023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72" name="TextBox 71">
                <a:extLst>
                  <a:ext uri="{FF2B5EF4-FFF2-40B4-BE49-F238E27FC236}">
                    <a16:creationId xmlns:a16="http://schemas.microsoft.com/office/drawing/2014/main" id="{AA1F020A-45D9-A7B7-BB90-D54752AF17BE}"/>
                  </a:ext>
                </a:extLst>
              </p:cNvPr>
              <p:cNvSpPr txBox="1">
                <a:spLocks noRot="1" noChangeAspect="1" noMove="1" noResize="1" noEditPoints="1" noAdjustHandles="1" noChangeArrowheads="1" noChangeShapeType="1" noTextEdit="1"/>
              </p:cNvSpPr>
              <p:nvPr/>
            </p:nvSpPr>
            <p:spPr>
              <a:xfrm>
                <a:off x="8012604" y="1670235"/>
                <a:ext cx="837409"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B3BCEA2A-B809-C70C-56AB-EE4AA0FA0FFE}"/>
                  </a:ext>
                </a:extLst>
              </p:cNvPr>
              <p:cNvSpPr txBox="1"/>
              <p:nvPr/>
            </p:nvSpPr>
            <p:spPr>
              <a:xfrm>
                <a:off x="8052351" y="233548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=5</m:t>
                      </m:r>
                    </m:oMath>
                  </m:oMathPara>
                </a14:m>
                <a:endParaRPr lang="en-US" dirty="0">
                  <a:solidFill>
                    <a:srgbClr val="00B050"/>
                  </a:solidFill>
                </a:endParaRPr>
              </a:p>
            </p:txBody>
          </p:sp>
        </mc:Choice>
        <mc:Fallback>
          <p:sp>
            <p:nvSpPr>
              <p:cNvPr id="73" name="TextBox 72">
                <a:extLst>
                  <a:ext uri="{FF2B5EF4-FFF2-40B4-BE49-F238E27FC236}">
                    <a16:creationId xmlns:a16="http://schemas.microsoft.com/office/drawing/2014/main" id="{B3BCEA2A-B809-C70C-56AB-EE4AA0FA0FFE}"/>
                  </a:ext>
                </a:extLst>
              </p:cNvPr>
              <p:cNvSpPr txBox="1">
                <a:spLocks noRot="1" noChangeAspect="1" noMove="1" noResize="1" noEditPoints="1" noAdjustHandles="1" noChangeArrowheads="1" noChangeShapeType="1" noTextEdit="1"/>
              </p:cNvSpPr>
              <p:nvPr/>
            </p:nvSpPr>
            <p:spPr>
              <a:xfrm>
                <a:off x="8052351" y="2335480"/>
                <a:ext cx="837409"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D3A58987-0B12-DEDA-7EB0-E0E8371DE3D6}"/>
                  </a:ext>
                </a:extLst>
              </p:cNvPr>
              <p:cNvSpPr txBox="1"/>
              <p:nvPr/>
            </p:nvSpPr>
            <p:spPr>
              <a:xfrm>
                <a:off x="7796702" y="2952726"/>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74" name="TextBox 73">
                <a:extLst>
                  <a:ext uri="{FF2B5EF4-FFF2-40B4-BE49-F238E27FC236}">
                    <a16:creationId xmlns:a16="http://schemas.microsoft.com/office/drawing/2014/main" id="{D3A58987-0B12-DEDA-7EB0-E0E8371DE3D6}"/>
                  </a:ext>
                </a:extLst>
              </p:cNvPr>
              <p:cNvSpPr txBox="1">
                <a:spLocks noRot="1" noChangeAspect="1" noMove="1" noResize="1" noEditPoints="1" noAdjustHandles="1" noChangeArrowheads="1" noChangeShapeType="1" noTextEdit="1"/>
              </p:cNvSpPr>
              <p:nvPr/>
            </p:nvSpPr>
            <p:spPr>
              <a:xfrm>
                <a:off x="7796702" y="2952726"/>
                <a:ext cx="1010533"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F6DB0C9E-BBDC-39C9-765E-0FCA7E06D659}"/>
                  </a:ext>
                </a:extLst>
              </p:cNvPr>
              <p:cNvSpPr txBox="1"/>
              <p:nvPr/>
            </p:nvSpPr>
            <p:spPr>
              <a:xfrm>
                <a:off x="4472343" y="724206"/>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=2</m:t>
                      </m:r>
                    </m:oMath>
                  </m:oMathPara>
                </a14:m>
                <a:endParaRPr lang="en-US" dirty="0">
                  <a:solidFill>
                    <a:srgbClr val="FFC000"/>
                  </a:solidFill>
                </a:endParaRPr>
              </a:p>
            </p:txBody>
          </p:sp>
        </mc:Choice>
        <mc:Fallback>
          <p:sp>
            <p:nvSpPr>
              <p:cNvPr id="75" name="TextBox 74">
                <a:extLst>
                  <a:ext uri="{FF2B5EF4-FFF2-40B4-BE49-F238E27FC236}">
                    <a16:creationId xmlns:a16="http://schemas.microsoft.com/office/drawing/2014/main" id="{F6DB0C9E-BBDC-39C9-765E-0FCA7E06D659}"/>
                  </a:ext>
                </a:extLst>
              </p:cNvPr>
              <p:cNvSpPr txBox="1">
                <a:spLocks noRot="1" noChangeAspect="1" noMove="1" noResize="1" noEditPoints="1" noAdjustHandles="1" noChangeArrowheads="1" noChangeShapeType="1" noTextEdit="1"/>
              </p:cNvSpPr>
              <p:nvPr/>
            </p:nvSpPr>
            <p:spPr>
              <a:xfrm>
                <a:off x="4472343" y="724206"/>
                <a:ext cx="790858"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B739D60-ED98-F84A-F1B6-404A9DEDE657}"/>
                  </a:ext>
                </a:extLst>
              </p:cNvPr>
              <p:cNvSpPr txBox="1"/>
              <p:nvPr/>
            </p:nvSpPr>
            <p:spPr>
              <a:xfrm>
                <a:off x="4491419" y="1966148"/>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=−4</m:t>
                      </m:r>
                    </m:oMath>
                  </m:oMathPara>
                </a14:m>
                <a:endParaRPr lang="en-US" dirty="0">
                  <a:solidFill>
                    <a:srgbClr val="FFC000"/>
                  </a:solidFill>
                </a:endParaRPr>
              </a:p>
            </p:txBody>
          </p:sp>
        </mc:Choice>
        <mc:Fallback>
          <p:sp>
            <p:nvSpPr>
              <p:cNvPr id="76" name="TextBox 75">
                <a:extLst>
                  <a:ext uri="{FF2B5EF4-FFF2-40B4-BE49-F238E27FC236}">
                    <a16:creationId xmlns:a16="http://schemas.microsoft.com/office/drawing/2014/main" id="{7B739D60-ED98-F84A-F1B6-404A9DEDE657}"/>
                  </a:ext>
                </a:extLst>
              </p:cNvPr>
              <p:cNvSpPr txBox="1">
                <a:spLocks noRot="1" noChangeAspect="1" noMove="1" noResize="1" noEditPoints="1" noAdjustHandles="1" noChangeArrowheads="1" noChangeShapeType="1" noTextEdit="1"/>
              </p:cNvSpPr>
              <p:nvPr/>
            </p:nvSpPr>
            <p:spPr>
              <a:xfrm>
                <a:off x="4491419" y="1966148"/>
                <a:ext cx="963982"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1139380F-CFE9-7926-6D8E-6C2A0C9B2BF4}"/>
                  </a:ext>
                </a:extLst>
              </p:cNvPr>
              <p:cNvSpPr txBox="1"/>
              <p:nvPr/>
            </p:nvSpPr>
            <p:spPr>
              <a:xfrm>
                <a:off x="4514694" y="3174768"/>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=5</m:t>
                      </m:r>
                    </m:oMath>
                  </m:oMathPara>
                </a14:m>
                <a:endParaRPr lang="en-US" dirty="0">
                  <a:solidFill>
                    <a:srgbClr val="FFC000"/>
                  </a:solidFill>
                </a:endParaRPr>
              </a:p>
            </p:txBody>
          </p:sp>
        </mc:Choice>
        <mc:Fallback>
          <p:sp>
            <p:nvSpPr>
              <p:cNvPr id="77" name="TextBox 76">
                <a:extLst>
                  <a:ext uri="{FF2B5EF4-FFF2-40B4-BE49-F238E27FC236}">
                    <a16:creationId xmlns:a16="http://schemas.microsoft.com/office/drawing/2014/main" id="{1139380F-CFE9-7926-6D8E-6C2A0C9B2BF4}"/>
                  </a:ext>
                </a:extLst>
              </p:cNvPr>
              <p:cNvSpPr txBox="1">
                <a:spLocks noRot="1" noChangeAspect="1" noMove="1" noResize="1" noEditPoints="1" noAdjustHandles="1" noChangeArrowheads="1" noChangeShapeType="1" noTextEdit="1"/>
              </p:cNvSpPr>
              <p:nvPr/>
            </p:nvSpPr>
            <p:spPr>
              <a:xfrm>
                <a:off x="4514694" y="3174768"/>
                <a:ext cx="79085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A03E4CE2-CB62-6B88-14D2-94B5DB40730F}"/>
                  </a:ext>
                </a:extLst>
              </p:cNvPr>
              <p:cNvSpPr txBox="1"/>
              <p:nvPr/>
            </p:nvSpPr>
            <p:spPr>
              <a:xfrm>
                <a:off x="6588667" y="664158"/>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78" name="TextBox 77">
                <a:extLst>
                  <a:ext uri="{FF2B5EF4-FFF2-40B4-BE49-F238E27FC236}">
                    <a16:creationId xmlns:a16="http://schemas.microsoft.com/office/drawing/2014/main" id="{A03E4CE2-CB62-6B88-14D2-94B5DB40730F}"/>
                  </a:ext>
                </a:extLst>
              </p:cNvPr>
              <p:cNvSpPr txBox="1">
                <a:spLocks noRot="1" noChangeAspect="1" noMove="1" noResize="1" noEditPoints="1" noAdjustHandles="1" noChangeArrowheads="1" noChangeShapeType="1" noTextEdit="1"/>
              </p:cNvSpPr>
              <p:nvPr/>
            </p:nvSpPr>
            <p:spPr>
              <a:xfrm>
                <a:off x="6588667" y="664158"/>
                <a:ext cx="79085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8D5199BA-676C-0A9E-6516-75512131564A}"/>
                  </a:ext>
                </a:extLst>
              </p:cNvPr>
              <p:cNvSpPr txBox="1"/>
              <p:nvPr/>
            </p:nvSpPr>
            <p:spPr>
              <a:xfrm>
                <a:off x="6595276" y="1961742"/>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=9</m:t>
                      </m:r>
                    </m:oMath>
                  </m:oMathPara>
                </a14:m>
                <a:endParaRPr lang="en-US" dirty="0">
                  <a:solidFill>
                    <a:srgbClr val="FFC000"/>
                  </a:solidFill>
                </a:endParaRPr>
              </a:p>
            </p:txBody>
          </p:sp>
        </mc:Choice>
        <mc:Fallback>
          <p:sp>
            <p:nvSpPr>
              <p:cNvPr id="79" name="TextBox 78">
                <a:extLst>
                  <a:ext uri="{FF2B5EF4-FFF2-40B4-BE49-F238E27FC236}">
                    <a16:creationId xmlns:a16="http://schemas.microsoft.com/office/drawing/2014/main" id="{8D5199BA-676C-0A9E-6516-75512131564A}"/>
                  </a:ext>
                </a:extLst>
              </p:cNvPr>
              <p:cNvSpPr txBox="1">
                <a:spLocks noRot="1" noChangeAspect="1" noMove="1" noResize="1" noEditPoints="1" noAdjustHandles="1" noChangeArrowheads="1" noChangeShapeType="1" noTextEdit="1"/>
              </p:cNvSpPr>
              <p:nvPr/>
            </p:nvSpPr>
            <p:spPr>
              <a:xfrm>
                <a:off x="6595276" y="1961742"/>
                <a:ext cx="790858"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a:extLst>
                  <a:ext uri="{FF2B5EF4-FFF2-40B4-BE49-F238E27FC236}">
                    <a16:creationId xmlns:a16="http://schemas.microsoft.com/office/drawing/2014/main" id="{F61B2426-6738-0453-65CF-0A10F4B31352}"/>
                  </a:ext>
                </a:extLst>
              </p:cNvPr>
              <p:cNvSpPr txBox="1"/>
              <p:nvPr/>
            </p:nvSpPr>
            <p:spPr>
              <a:xfrm>
                <a:off x="6606822" y="3201367"/>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=−8</m:t>
                      </m:r>
                    </m:oMath>
                  </m:oMathPara>
                </a14:m>
                <a:endParaRPr lang="en-US" dirty="0">
                  <a:solidFill>
                    <a:srgbClr val="FFC000"/>
                  </a:solidFill>
                </a:endParaRPr>
              </a:p>
            </p:txBody>
          </p:sp>
        </mc:Choice>
        <mc:Fallback>
          <p:sp>
            <p:nvSpPr>
              <p:cNvPr id="80" name="TextBox 79">
                <a:extLst>
                  <a:ext uri="{FF2B5EF4-FFF2-40B4-BE49-F238E27FC236}">
                    <a16:creationId xmlns:a16="http://schemas.microsoft.com/office/drawing/2014/main" id="{F61B2426-6738-0453-65CF-0A10F4B31352}"/>
                  </a:ext>
                </a:extLst>
              </p:cNvPr>
              <p:cNvSpPr txBox="1">
                <a:spLocks noRot="1" noChangeAspect="1" noMove="1" noResize="1" noEditPoints="1" noAdjustHandles="1" noChangeArrowheads="1" noChangeShapeType="1" noTextEdit="1"/>
              </p:cNvSpPr>
              <p:nvPr/>
            </p:nvSpPr>
            <p:spPr>
              <a:xfrm>
                <a:off x="6606822" y="3201367"/>
                <a:ext cx="963982"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a:extLst>
                  <a:ext uri="{FF2B5EF4-FFF2-40B4-BE49-F238E27FC236}">
                    <a16:creationId xmlns:a16="http://schemas.microsoft.com/office/drawing/2014/main" id="{8846476B-E8FD-155A-34F8-2886F2F36D94}"/>
                  </a:ext>
                </a:extLst>
              </p:cNvPr>
              <p:cNvSpPr txBox="1"/>
              <p:nvPr/>
            </p:nvSpPr>
            <p:spPr>
              <a:xfrm>
                <a:off x="9413614" y="1922254"/>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81" name="TextBox 80">
                <a:extLst>
                  <a:ext uri="{FF2B5EF4-FFF2-40B4-BE49-F238E27FC236}">
                    <a16:creationId xmlns:a16="http://schemas.microsoft.com/office/drawing/2014/main" id="{8846476B-E8FD-155A-34F8-2886F2F36D94}"/>
                  </a:ext>
                </a:extLst>
              </p:cNvPr>
              <p:cNvSpPr txBox="1">
                <a:spLocks noRot="1" noChangeAspect="1" noMove="1" noResize="1" noEditPoints="1" noAdjustHandles="1" noChangeArrowheads="1" noChangeShapeType="1" noTextEdit="1"/>
              </p:cNvSpPr>
              <p:nvPr/>
            </p:nvSpPr>
            <p:spPr>
              <a:xfrm>
                <a:off x="9413614" y="1922254"/>
                <a:ext cx="963982" cy="369332"/>
              </a:xfrm>
              <a:prstGeom prst="rect">
                <a:avLst/>
              </a:prstGeom>
              <a:blipFill>
                <a:blip r:embed="rId2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48087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F7F9-D2DC-7004-0ADB-95B4F1A3A02E}"/>
              </a:ext>
            </a:extLst>
          </p:cNvPr>
          <p:cNvSpPr>
            <a:spLocks noGrp="1"/>
          </p:cNvSpPr>
          <p:nvPr>
            <p:ph type="title"/>
          </p:nvPr>
        </p:nvSpPr>
        <p:spPr/>
        <p:txBody>
          <a:bodyPr/>
          <a:lstStyle/>
          <a:p>
            <a:r>
              <a:rPr lang="en-US" dirty="0"/>
              <a:t>How can we find the right weights and biases?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414860-6278-13DD-8F5C-1A8CD92F1E49}"/>
                  </a:ext>
                </a:extLst>
              </p:cNvPr>
              <p:cNvSpPr>
                <a:spLocks noGrp="1"/>
              </p:cNvSpPr>
              <p:nvPr>
                <p:ph idx="1"/>
              </p:nvPr>
            </p:nvSpPr>
            <p:spPr/>
            <p:txBody>
              <a:bodyPr>
                <a:noAutofit/>
              </a:bodyPr>
              <a:lstStyle/>
              <a:p>
                <a:pPr marL="0" indent="0">
                  <a:buNone/>
                </a:pPr>
                <a:r>
                  <a:rPr lang="en-US" sz="3000" dirty="0"/>
                  <a:t>Define a ‘loss’ function for how close the neural network prediction is to the correct answer. </a:t>
                </a:r>
              </a:p>
              <a:p>
                <a:pPr marL="0" indent="0">
                  <a:buNone/>
                </a:pPr>
                <a:endParaRPr lang="en-US" sz="3000" dirty="0"/>
              </a:p>
              <a:p>
                <a:pPr marL="0" indent="0">
                  <a:buNone/>
                </a:pPr>
                <a:r>
                  <a:rPr lang="en-US" sz="3000" dirty="0"/>
                  <a:t>A common choice:</a:t>
                </a:r>
              </a:p>
              <a:p>
                <a:pPr marL="0" indent="0">
                  <a:buNone/>
                </a:pPr>
                <a:endParaRPr lang="en-US" sz="3000" dirty="0"/>
              </a:p>
              <a:p>
                <a:pPr marL="0" indent="0">
                  <a:buNone/>
                </a:pPr>
                <a:r>
                  <a:rPr lang="en-US" sz="3000" dirty="0"/>
                  <a:t>The goal is now to find the set of weights and biases that minimize </a:t>
                </a:r>
                <a14:m>
                  <m:oMath xmlns:m="http://schemas.openxmlformats.org/officeDocument/2006/math">
                    <m:r>
                      <a:rPr lang="en-US" sz="3000" i="1">
                        <a:latin typeface="Cambria Math" panose="02040503050406030204" pitchFamily="18" charset="0"/>
                      </a:rPr>
                      <m:t>𝐿</m:t>
                    </m:r>
                  </m:oMath>
                </a14:m>
                <a:r>
                  <a:rPr lang="en-US" sz="3000" dirty="0"/>
                  <a:t>.</a:t>
                </a:r>
              </a:p>
            </p:txBody>
          </p:sp>
        </mc:Choice>
        <mc:Fallback>
          <p:sp>
            <p:nvSpPr>
              <p:cNvPr id="3" name="Content Placeholder 2">
                <a:extLst>
                  <a:ext uri="{FF2B5EF4-FFF2-40B4-BE49-F238E27FC236}">
                    <a16:creationId xmlns:a16="http://schemas.microsoft.com/office/drawing/2014/main" id="{94414860-6278-13DD-8F5C-1A8CD92F1E49}"/>
                  </a:ext>
                </a:extLst>
              </p:cNvPr>
              <p:cNvSpPr>
                <a:spLocks noGrp="1" noRot="1" noChangeAspect="1" noMove="1" noResize="1" noEditPoints="1" noAdjustHandles="1" noChangeArrowheads="1" noChangeShapeType="1" noTextEdit="1"/>
              </p:cNvSpPr>
              <p:nvPr>
                <p:ph idx="1"/>
              </p:nvPr>
            </p:nvSpPr>
            <p:spPr>
              <a:blipFill>
                <a:blip r:embed="rId2"/>
                <a:stretch>
                  <a:fillRect l="-1327" t="-29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15BD535-D573-364D-997E-DE76ECA7327F}"/>
                  </a:ext>
                </a:extLst>
              </p:cNvPr>
              <p:cNvSpPr txBox="1"/>
              <p:nvPr/>
            </p:nvSpPr>
            <p:spPr>
              <a:xfrm>
                <a:off x="4406203" y="3222340"/>
                <a:ext cx="3993722"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𝐿</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𝑝𝑟𝑒𝑑</m:t>
                              </m:r>
                              <m:r>
                                <a:rPr lang="en-US" sz="3600" b="0" i="1" smtClean="0">
                                  <a:latin typeface="Cambria Math" panose="02040503050406030204" pitchFamily="18" charset="0"/>
                                </a:rPr>
                                <m:t>−</m:t>
                              </m:r>
                              <m:r>
                                <a:rPr lang="en-US" sz="3600" b="0" i="1" smtClean="0">
                                  <a:latin typeface="Cambria Math" panose="02040503050406030204" pitchFamily="18" charset="0"/>
                                </a:rPr>
                                <m:t>𝑡𝑟𝑢𝑒</m:t>
                              </m:r>
                            </m:e>
                          </m:d>
                        </m:e>
                        <m:sup>
                          <m:r>
                            <a:rPr lang="en-US" sz="3600" b="0" i="1" smtClean="0">
                              <a:latin typeface="Cambria Math" panose="02040503050406030204" pitchFamily="18" charset="0"/>
                            </a:rPr>
                            <m:t>2</m:t>
                          </m:r>
                        </m:sup>
                      </m:sSup>
                    </m:oMath>
                  </m:oMathPara>
                </a14:m>
                <a:endParaRPr lang="en-US" sz="3600" dirty="0"/>
              </a:p>
            </p:txBody>
          </p:sp>
        </mc:Choice>
        <mc:Fallback>
          <p:sp>
            <p:nvSpPr>
              <p:cNvPr id="4" name="TextBox 3">
                <a:extLst>
                  <a:ext uri="{FF2B5EF4-FFF2-40B4-BE49-F238E27FC236}">
                    <a16:creationId xmlns:a16="http://schemas.microsoft.com/office/drawing/2014/main" id="{D15BD535-D573-364D-997E-DE76ECA7327F}"/>
                  </a:ext>
                </a:extLst>
              </p:cNvPr>
              <p:cNvSpPr txBox="1">
                <a:spLocks noRot="1" noChangeAspect="1" noMove="1" noResize="1" noEditPoints="1" noAdjustHandles="1" noChangeArrowheads="1" noChangeShapeType="1" noTextEdit="1"/>
              </p:cNvSpPr>
              <p:nvPr/>
            </p:nvSpPr>
            <p:spPr>
              <a:xfrm>
                <a:off x="4406203" y="3222340"/>
                <a:ext cx="3993722" cy="553998"/>
              </a:xfrm>
              <a:prstGeom prst="rect">
                <a:avLst/>
              </a:prstGeom>
              <a:blipFill>
                <a:blip r:embed="rId3"/>
                <a:stretch>
                  <a:fillRect l="-2540" r="-317" b="-33333"/>
                </a:stretch>
              </a:blipFill>
            </p:spPr>
            <p:txBody>
              <a:bodyPr/>
              <a:lstStyle/>
              <a:p>
                <a:r>
                  <a:rPr lang="en-US">
                    <a:noFill/>
                  </a:rPr>
                  <a:t> </a:t>
                </a:r>
              </a:p>
            </p:txBody>
          </p:sp>
        </mc:Fallback>
      </mc:AlternateContent>
    </p:spTree>
    <p:extLst>
      <p:ext uri="{BB962C8B-B14F-4D97-AF65-F5344CB8AC3E}">
        <p14:creationId xmlns:p14="http://schemas.microsoft.com/office/powerpoint/2010/main" val="117079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E8B3C-7360-92AE-CA09-193CD58EA992}"/>
              </a:ext>
            </a:extLst>
          </p:cNvPr>
          <p:cNvSpPr>
            <a:spLocks noGrp="1"/>
          </p:cNvSpPr>
          <p:nvPr>
            <p:ph type="title"/>
          </p:nvPr>
        </p:nvSpPr>
        <p:spPr/>
        <p:txBody>
          <a:bodyPr/>
          <a:lstStyle/>
          <a:p>
            <a:r>
              <a:rPr lang="en-US" dirty="0"/>
              <a:t>How can we find the weights and biases that minimize the loss?</a:t>
            </a:r>
          </a:p>
        </p:txBody>
      </p:sp>
      <p:pic>
        <p:nvPicPr>
          <p:cNvPr id="1026" name="Picture 2" descr="Understanding Deep Learning through Energy Landscapes">
            <a:extLst>
              <a:ext uri="{FF2B5EF4-FFF2-40B4-BE49-F238E27FC236}">
                <a16:creationId xmlns:a16="http://schemas.microsoft.com/office/drawing/2014/main" id="{95AAF732-EE12-E2AD-4807-D6DD9FD40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8580" y="2161686"/>
            <a:ext cx="6997659" cy="35197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EAF60F-A125-90A3-3B78-AD5686F85489}"/>
              </a:ext>
            </a:extLst>
          </p:cNvPr>
          <p:cNvSpPr txBox="1"/>
          <p:nvPr/>
        </p:nvSpPr>
        <p:spPr>
          <a:xfrm>
            <a:off x="838201" y="1977020"/>
            <a:ext cx="3623268" cy="1477328"/>
          </a:xfrm>
          <a:prstGeom prst="rect">
            <a:avLst/>
          </a:prstGeom>
          <a:noFill/>
        </p:spPr>
        <p:txBody>
          <a:bodyPr wrap="square" rtlCol="0">
            <a:spAutoFit/>
          </a:bodyPr>
          <a:lstStyle/>
          <a:p>
            <a:endParaRPr lang="en-US" dirty="0"/>
          </a:p>
          <a:p>
            <a:r>
              <a:rPr lang="en-US" dirty="0"/>
              <a:t>How can we do this? A grid search would take a long time </a:t>
            </a:r>
            <a:r>
              <a:rPr lang="en-US" dirty="0">
                <a:sym typeface="Wingdings" pitchFamily="2" charset="2"/>
              </a:rPr>
              <a:t>:-)</a:t>
            </a:r>
          </a:p>
          <a:p>
            <a:endParaRPr lang="en-US" dirty="0">
              <a:sym typeface="Wingdings" pitchFamily="2" charset="2"/>
            </a:endParaRPr>
          </a:p>
          <a:p>
            <a:endParaRPr lang="en-US" dirty="0"/>
          </a:p>
        </p:txBody>
      </p:sp>
      <p:sp>
        <p:nvSpPr>
          <p:cNvPr id="6" name="TextBox 5">
            <a:extLst>
              <a:ext uri="{FF2B5EF4-FFF2-40B4-BE49-F238E27FC236}">
                <a16:creationId xmlns:a16="http://schemas.microsoft.com/office/drawing/2014/main" id="{1131A563-C14B-A679-6C7F-80AB712522EE}"/>
              </a:ext>
            </a:extLst>
          </p:cNvPr>
          <p:cNvSpPr txBox="1"/>
          <p:nvPr/>
        </p:nvSpPr>
        <p:spPr>
          <a:xfrm rot="16200000">
            <a:off x="5024176" y="3908809"/>
            <a:ext cx="651717" cy="369332"/>
          </a:xfrm>
          <a:prstGeom prst="rect">
            <a:avLst/>
          </a:prstGeom>
          <a:noFill/>
        </p:spPr>
        <p:txBody>
          <a:bodyPr wrap="none" rtlCol="0">
            <a:spAutoFit/>
          </a:bodyPr>
          <a:lstStyle/>
          <a:p>
            <a:r>
              <a:rPr lang="en-US" dirty="0"/>
              <a:t>Loss</a:t>
            </a:r>
          </a:p>
        </p:txBody>
      </p:sp>
      <p:sp>
        <p:nvSpPr>
          <p:cNvPr id="7" name="TextBox 6">
            <a:extLst>
              <a:ext uri="{FF2B5EF4-FFF2-40B4-BE49-F238E27FC236}">
                <a16:creationId xmlns:a16="http://schemas.microsoft.com/office/drawing/2014/main" id="{EABC4187-3FC8-51B3-6AC4-791411551E91}"/>
              </a:ext>
            </a:extLst>
          </p:cNvPr>
          <p:cNvSpPr txBox="1"/>
          <p:nvPr/>
        </p:nvSpPr>
        <p:spPr>
          <a:xfrm>
            <a:off x="8090598" y="5312140"/>
            <a:ext cx="1753365" cy="369332"/>
          </a:xfrm>
          <a:prstGeom prst="rect">
            <a:avLst/>
          </a:prstGeom>
          <a:noFill/>
        </p:spPr>
        <p:txBody>
          <a:bodyPr wrap="none" rtlCol="0">
            <a:spAutoFit/>
          </a:bodyPr>
          <a:lstStyle/>
          <a:p>
            <a:r>
              <a:rPr lang="en-US" dirty="0"/>
              <a:t>Our parameters</a:t>
            </a:r>
          </a:p>
        </p:txBody>
      </p:sp>
    </p:spTree>
    <p:extLst>
      <p:ext uri="{BB962C8B-B14F-4D97-AF65-F5344CB8AC3E}">
        <p14:creationId xmlns:p14="http://schemas.microsoft.com/office/powerpoint/2010/main" val="3490369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3565A-060E-ABDD-5D58-FF1FBB2C2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F014B-8B26-C19D-D434-ABF35094BF0F}"/>
              </a:ext>
            </a:extLst>
          </p:cNvPr>
          <p:cNvSpPr>
            <a:spLocks noGrp="1"/>
          </p:cNvSpPr>
          <p:nvPr>
            <p:ph type="title"/>
          </p:nvPr>
        </p:nvSpPr>
        <p:spPr/>
        <p:txBody>
          <a:bodyPr/>
          <a:lstStyle/>
          <a:p>
            <a:r>
              <a:rPr lang="en-US" dirty="0"/>
              <a:t>Gradient descent</a:t>
            </a:r>
          </a:p>
        </p:txBody>
      </p:sp>
      <p:pic>
        <p:nvPicPr>
          <p:cNvPr id="1026" name="Picture 2" descr="Understanding Deep Learning through Energy Landscapes">
            <a:extLst>
              <a:ext uri="{FF2B5EF4-FFF2-40B4-BE49-F238E27FC236}">
                <a16:creationId xmlns:a16="http://schemas.microsoft.com/office/drawing/2014/main" id="{A4752682-F188-201F-C43A-C79228B44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8580" y="2161686"/>
            <a:ext cx="6997659" cy="35197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94989BB-A430-46A8-7ABE-E5D9C0C0F121}"/>
                  </a:ext>
                </a:extLst>
              </p:cNvPr>
              <p:cNvSpPr txBox="1"/>
              <p:nvPr/>
            </p:nvSpPr>
            <p:spPr>
              <a:xfrm>
                <a:off x="838201" y="1977020"/>
                <a:ext cx="3623268" cy="3666068"/>
              </a:xfrm>
              <a:prstGeom prst="rect">
                <a:avLst/>
              </a:prstGeom>
              <a:noFill/>
            </p:spPr>
            <p:txBody>
              <a:bodyPr wrap="square" rtlCol="0">
                <a:spAutoFit/>
              </a:bodyPr>
              <a:lstStyle/>
              <a:p>
                <a:r>
                  <a:rPr lang="en-US" dirty="0">
                    <a:sym typeface="Wingdings" pitchFamily="2" charset="2"/>
                  </a:rPr>
                  <a:t>Start with some random parameters. </a:t>
                </a:r>
              </a:p>
              <a:p>
                <a:endParaRPr lang="en-US" dirty="0">
                  <a:sym typeface="Wingdings" pitchFamily="2" charset="2"/>
                </a:endParaRPr>
              </a:p>
              <a:p>
                <a:r>
                  <a:rPr lang="en-US" dirty="0">
                    <a:sym typeface="Wingdings" pitchFamily="2" charset="2"/>
                  </a:rPr>
                  <a:t>Compute the change in the loss </a:t>
                </a:r>
                <a:r>
                  <a:rPr lang="en-US" dirty="0" err="1">
                    <a:sym typeface="Wingdings" pitchFamily="2" charset="2"/>
                  </a:rPr>
                  <a:t>wrt</a:t>
                </a:r>
                <a:r>
                  <a:rPr lang="en-US" dirty="0">
                    <a:sym typeface="Wingdings" pitchFamily="2" charset="2"/>
                  </a:rPr>
                  <a:t> the model parameters</a:t>
                </a:r>
              </a:p>
              <a:p>
                <a:endParaRPr lang="en-US" dirty="0">
                  <a:sym typeface="Wingdings" pitchFamily="2" charset="2"/>
                </a:endParaRPr>
              </a:p>
              <a:p>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sym typeface="Wingdings" pitchFamily="2" charset="2"/>
                        </a:rPr>
                        <m:t>Δ</m:t>
                      </m:r>
                      <m:r>
                        <a:rPr lang="en-US" b="0" i="1" smtClean="0">
                          <a:latin typeface="Cambria Math" panose="02040503050406030204" pitchFamily="18" charset="0"/>
                          <a:sym typeface="Wingdings" pitchFamily="2" charset="2"/>
                        </a:rPr>
                        <m:t>𝑤</m:t>
                      </m:r>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𝑠𝑡𝑒𝑝𝑠𝑖𝑧𝑒</m:t>
                      </m:r>
                      <m:r>
                        <a:rPr lang="en-US" b="0" i="1" smtClean="0">
                          <a:latin typeface="Cambria Math" panose="02040503050406030204" pitchFamily="18" charset="0"/>
                          <a:sym typeface="Wingdings" pitchFamily="2" charset="2"/>
                        </a:rPr>
                        <m:t>∗</m:t>
                      </m:r>
                      <m:f>
                        <m:fPr>
                          <m:ctrlPr>
                            <a:rPr lang="en-US" b="0" i="1" smtClean="0">
                              <a:latin typeface="Cambria Math" panose="02040503050406030204" pitchFamily="18" charset="0"/>
                              <a:sym typeface="Wingdings" pitchFamily="2" charset="2"/>
                            </a:rPr>
                          </m:ctrlPr>
                        </m:fPr>
                        <m:num>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𝐿</m:t>
                          </m:r>
                        </m:num>
                        <m:den>
                          <m:r>
                            <a:rPr lang="en-US" b="0" i="1" smtClean="0">
                              <a:latin typeface="Cambria Math" panose="02040503050406030204" pitchFamily="18" charset="0"/>
                              <a:sym typeface="Wingdings" pitchFamily="2" charset="2"/>
                            </a:rPr>
                            <m:t>𝜕</m:t>
                          </m:r>
                          <m:r>
                            <a:rPr lang="en-US" b="0" i="1" smtClean="0">
                              <a:latin typeface="Cambria Math" panose="02040503050406030204" pitchFamily="18" charset="0"/>
                              <a:sym typeface="Wingdings" pitchFamily="2" charset="2"/>
                            </a:rPr>
                            <m:t>𝑤</m:t>
                          </m:r>
                        </m:den>
                      </m:f>
                    </m:oMath>
                  </m:oMathPara>
                </a14:m>
                <a:endParaRPr lang="en-US" dirty="0">
                  <a:sym typeface="Wingdings" pitchFamily="2" charset="2"/>
                </a:endParaRPr>
              </a:p>
              <a:p>
                <a:endParaRPr lang="en-US" dirty="0">
                  <a:sym typeface="Wingdings" pitchFamily="2" charset="2"/>
                </a:endParaRPr>
              </a:p>
              <a:p>
                <a:r>
                  <a:rPr lang="en-US" dirty="0"/>
                  <a:t>This is virtually universal in machine learning, but it’s most straightforward to demonstrate with FFNs.</a:t>
                </a:r>
                <a:endParaRPr lang="en-US" dirty="0">
                  <a:sym typeface="Wingdings" pitchFamily="2" charset="2"/>
                </a:endParaRPr>
              </a:p>
            </p:txBody>
          </p:sp>
        </mc:Choice>
        <mc:Fallback>
          <p:sp>
            <p:nvSpPr>
              <p:cNvPr id="4" name="TextBox 3">
                <a:extLst>
                  <a:ext uri="{FF2B5EF4-FFF2-40B4-BE49-F238E27FC236}">
                    <a16:creationId xmlns:a16="http://schemas.microsoft.com/office/drawing/2014/main" id="{294989BB-A430-46A8-7ABE-E5D9C0C0F121}"/>
                  </a:ext>
                </a:extLst>
              </p:cNvPr>
              <p:cNvSpPr txBox="1">
                <a:spLocks noRot="1" noChangeAspect="1" noMove="1" noResize="1" noEditPoints="1" noAdjustHandles="1" noChangeArrowheads="1" noChangeShapeType="1" noTextEdit="1"/>
              </p:cNvSpPr>
              <p:nvPr/>
            </p:nvSpPr>
            <p:spPr>
              <a:xfrm>
                <a:off x="838201" y="1977020"/>
                <a:ext cx="3623268" cy="3666068"/>
              </a:xfrm>
              <a:prstGeom prst="rect">
                <a:avLst/>
              </a:prstGeom>
              <a:blipFill>
                <a:blip r:embed="rId3"/>
                <a:stretch>
                  <a:fillRect l="-1748" t="-690" b="-1724"/>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F2062C80-3E32-DE01-D15E-E47B975F426A}"/>
              </a:ext>
            </a:extLst>
          </p:cNvPr>
          <p:cNvSpPr txBox="1"/>
          <p:nvPr/>
        </p:nvSpPr>
        <p:spPr>
          <a:xfrm rot="16200000">
            <a:off x="5024176" y="3908809"/>
            <a:ext cx="651717" cy="369332"/>
          </a:xfrm>
          <a:prstGeom prst="rect">
            <a:avLst/>
          </a:prstGeom>
          <a:noFill/>
        </p:spPr>
        <p:txBody>
          <a:bodyPr wrap="none" rtlCol="0">
            <a:spAutoFit/>
          </a:bodyPr>
          <a:lstStyle/>
          <a:p>
            <a:r>
              <a:rPr lang="en-US" dirty="0"/>
              <a:t>Loss</a:t>
            </a:r>
          </a:p>
        </p:txBody>
      </p:sp>
      <p:sp>
        <p:nvSpPr>
          <p:cNvPr id="5" name="TextBox 4">
            <a:extLst>
              <a:ext uri="{FF2B5EF4-FFF2-40B4-BE49-F238E27FC236}">
                <a16:creationId xmlns:a16="http://schemas.microsoft.com/office/drawing/2014/main" id="{E168DB34-9A60-DB6F-B588-E4B7A3A55A3F}"/>
              </a:ext>
            </a:extLst>
          </p:cNvPr>
          <p:cNvSpPr txBox="1"/>
          <p:nvPr/>
        </p:nvSpPr>
        <p:spPr>
          <a:xfrm>
            <a:off x="8090598" y="5312140"/>
            <a:ext cx="1753365" cy="369332"/>
          </a:xfrm>
          <a:prstGeom prst="rect">
            <a:avLst/>
          </a:prstGeom>
          <a:noFill/>
        </p:spPr>
        <p:txBody>
          <a:bodyPr wrap="none" rtlCol="0">
            <a:spAutoFit/>
          </a:bodyPr>
          <a:lstStyle/>
          <a:p>
            <a:r>
              <a:rPr lang="en-US" dirty="0"/>
              <a:t>Our parameters</a:t>
            </a:r>
          </a:p>
        </p:txBody>
      </p:sp>
    </p:spTree>
    <p:extLst>
      <p:ext uri="{BB962C8B-B14F-4D97-AF65-F5344CB8AC3E}">
        <p14:creationId xmlns:p14="http://schemas.microsoft.com/office/powerpoint/2010/main" val="383181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6958-E585-9631-1CC9-A3897E5184F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419BB1E-F88F-0040-D54E-BFFA6CB1DD47}"/>
                  </a:ext>
                </a:extLst>
              </p:cNvPr>
              <p:cNvSpPr txBox="1"/>
              <p:nvPr/>
            </p:nvSpPr>
            <p:spPr>
              <a:xfrm>
                <a:off x="6096000" y="143590"/>
                <a:ext cx="6282727" cy="9702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latin typeface="Cambria Math" panose="02040503050406030204" pitchFamily="18" charset="0"/>
                          <a:sym typeface="Wingdings" pitchFamily="2" charset="2"/>
                        </a:rPr>
                        <m:t>Δ</m:t>
                      </m:r>
                      <m:r>
                        <a:rPr lang="en-US" sz="3000" b="0" i="1" smtClean="0">
                          <a:latin typeface="Cambria Math" panose="02040503050406030204" pitchFamily="18" charset="0"/>
                          <a:sym typeface="Wingdings" pitchFamily="2" charset="2"/>
                        </a:rPr>
                        <m:t>𝑤</m:t>
                      </m:r>
                      <m:r>
                        <a:rPr lang="en-US" sz="3000" b="0" i="1" smtClean="0">
                          <a:latin typeface="Cambria Math" panose="02040503050406030204" pitchFamily="18" charset="0"/>
                          <a:sym typeface="Wingdings" pitchFamily="2" charset="2"/>
                        </a:rPr>
                        <m:t>=−</m:t>
                      </m:r>
                      <m:r>
                        <a:rPr lang="en-US" sz="3000" b="0" i="1" smtClean="0">
                          <a:latin typeface="Cambria Math" panose="02040503050406030204" pitchFamily="18" charset="0"/>
                          <a:sym typeface="Wingdings" pitchFamily="2" charset="2"/>
                        </a:rPr>
                        <m:t>𝑠𝑡𝑒𝑝𝑠𝑖𝑧𝑒</m:t>
                      </m:r>
                      <m:r>
                        <a:rPr lang="en-US" sz="3000" b="0" i="1" smtClean="0">
                          <a:latin typeface="Cambria Math" panose="02040503050406030204" pitchFamily="18" charset="0"/>
                          <a:sym typeface="Wingdings" pitchFamily="2" charset="2"/>
                        </a:rPr>
                        <m:t>∗</m:t>
                      </m:r>
                      <m:f>
                        <m:fPr>
                          <m:ctrlPr>
                            <a:rPr lang="en-US" sz="3000" b="0" i="1" smtClean="0">
                              <a:solidFill>
                                <a:srgbClr val="7030A0"/>
                              </a:solidFill>
                              <a:latin typeface="Cambria Math" panose="02040503050406030204" pitchFamily="18" charset="0"/>
                              <a:sym typeface="Wingdings" pitchFamily="2" charset="2"/>
                            </a:rPr>
                          </m:ctrlPr>
                        </m:fPr>
                        <m:num>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𝐿</m:t>
                          </m:r>
                        </m:num>
                        <m:den>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𝑤</m:t>
                          </m:r>
                        </m:den>
                      </m:f>
                    </m:oMath>
                  </m:oMathPara>
                </a14:m>
                <a:endParaRPr lang="en-US" sz="3000" dirty="0">
                  <a:sym typeface="Wingdings" pitchFamily="2" charset="2"/>
                </a:endParaRPr>
              </a:p>
            </p:txBody>
          </p:sp>
        </mc:Choice>
        <mc:Fallback>
          <p:sp>
            <p:nvSpPr>
              <p:cNvPr id="5" name="TextBox 4">
                <a:extLst>
                  <a:ext uri="{FF2B5EF4-FFF2-40B4-BE49-F238E27FC236}">
                    <a16:creationId xmlns:a16="http://schemas.microsoft.com/office/drawing/2014/main" id="{B419BB1E-F88F-0040-D54E-BFFA6CB1DD47}"/>
                  </a:ext>
                </a:extLst>
              </p:cNvPr>
              <p:cNvSpPr txBox="1">
                <a:spLocks noRot="1" noChangeAspect="1" noMove="1" noResize="1" noEditPoints="1" noAdjustHandles="1" noChangeArrowheads="1" noChangeShapeType="1" noTextEdit="1"/>
              </p:cNvSpPr>
              <p:nvPr/>
            </p:nvSpPr>
            <p:spPr>
              <a:xfrm>
                <a:off x="6096000" y="143590"/>
                <a:ext cx="6282727" cy="970202"/>
              </a:xfrm>
              <a:prstGeom prst="rect">
                <a:avLst/>
              </a:prstGeom>
              <a:blipFill>
                <a:blip r:embed="rId2"/>
                <a:stretch>
                  <a:fillRect b="-779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C1D8223-D8F6-5B90-77A3-A225CD364751}"/>
              </a:ext>
            </a:extLst>
          </p:cNvPr>
          <p:cNvSpPr txBox="1"/>
          <p:nvPr/>
        </p:nvSpPr>
        <p:spPr>
          <a:xfrm>
            <a:off x="321547" y="351692"/>
            <a:ext cx="6777881" cy="553998"/>
          </a:xfrm>
          <a:prstGeom prst="rect">
            <a:avLst/>
          </a:prstGeom>
          <a:noFill/>
        </p:spPr>
        <p:txBody>
          <a:bodyPr wrap="none" rtlCol="0">
            <a:spAutoFit/>
          </a:bodyPr>
          <a:lstStyle/>
          <a:p>
            <a:r>
              <a:rPr lang="en-US" sz="3000" dirty="0"/>
              <a:t>We want to update weights according to</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D0961B6-CF88-E1AC-E5A8-DCAD87D504BA}"/>
                  </a:ext>
                </a:extLst>
              </p:cNvPr>
              <p:cNvSpPr txBox="1"/>
              <p:nvPr/>
            </p:nvSpPr>
            <p:spPr>
              <a:xfrm>
                <a:off x="826200" y="3264363"/>
                <a:ext cx="425552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𝐿</m:t>
                      </m:r>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latin typeface="Cambria Math" panose="02040503050406030204" pitchFamily="18" charset="0"/>
                                </a:rPr>
                                <m:t>𝑡𝑟𝑢𝑒</m:t>
                              </m:r>
                            </m:e>
                          </m:d>
                        </m:e>
                        <m:sup>
                          <m:r>
                            <a:rPr lang="en-US" sz="3000" b="0" i="1" smtClean="0">
                              <a:latin typeface="Cambria Math" panose="02040503050406030204" pitchFamily="18" charset="0"/>
                            </a:rPr>
                            <m:t>2</m:t>
                          </m:r>
                        </m:sup>
                      </m:sSup>
                    </m:oMath>
                  </m:oMathPara>
                </a14:m>
                <a:endParaRPr lang="en-US" sz="3000" dirty="0"/>
              </a:p>
            </p:txBody>
          </p:sp>
        </mc:Choice>
        <mc:Fallback>
          <p:sp>
            <p:nvSpPr>
              <p:cNvPr id="7" name="TextBox 6">
                <a:extLst>
                  <a:ext uri="{FF2B5EF4-FFF2-40B4-BE49-F238E27FC236}">
                    <a16:creationId xmlns:a16="http://schemas.microsoft.com/office/drawing/2014/main" id="{9D0961B6-CF88-E1AC-E5A8-DCAD87D504BA}"/>
                  </a:ext>
                </a:extLst>
              </p:cNvPr>
              <p:cNvSpPr txBox="1">
                <a:spLocks noRot="1" noChangeAspect="1" noMove="1" noResize="1" noEditPoints="1" noAdjustHandles="1" noChangeArrowheads="1" noChangeShapeType="1" noTextEdit="1"/>
              </p:cNvSpPr>
              <p:nvPr/>
            </p:nvSpPr>
            <p:spPr>
              <a:xfrm>
                <a:off x="826200" y="3264363"/>
                <a:ext cx="4255524" cy="461665"/>
              </a:xfrm>
              <a:prstGeom prst="rect">
                <a:avLst/>
              </a:prstGeom>
              <a:blipFill>
                <a:blip r:embed="rId3"/>
                <a:stretch>
                  <a:fillRect l="-1786" r="-298"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738B2C7-E960-5036-E861-A30408214A33}"/>
                  </a:ext>
                </a:extLst>
              </p:cNvPr>
              <p:cNvSpPr txBox="1"/>
              <p:nvPr/>
            </p:nvSpPr>
            <p:spPr>
              <a:xfrm>
                <a:off x="826200" y="1983437"/>
                <a:ext cx="3281476"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oMath>
                  </m:oMathPara>
                </a14:m>
                <a:endParaRPr lang="en-US" sz="3000" dirty="0"/>
              </a:p>
            </p:txBody>
          </p:sp>
        </mc:Choice>
        <mc:Fallback>
          <p:sp>
            <p:nvSpPr>
              <p:cNvPr id="10" name="TextBox 9">
                <a:extLst>
                  <a:ext uri="{FF2B5EF4-FFF2-40B4-BE49-F238E27FC236}">
                    <a16:creationId xmlns:a16="http://schemas.microsoft.com/office/drawing/2014/main" id="{9738B2C7-E960-5036-E861-A30408214A33}"/>
                  </a:ext>
                </a:extLst>
              </p:cNvPr>
              <p:cNvSpPr txBox="1">
                <a:spLocks noRot="1" noChangeAspect="1" noMove="1" noResize="1" noEditPoints="1" noAdjustHandles="1" noChangeArrowheads="1" noChangeShapeType="1" noTextEdit="1"/>
              </p:cNvSpPr>
              <p:nvPr/>
            </p:nvSpPr>
            <p:spPr>
              <a:xfrm>
                <a:off x="826200" y="1983437"/>
                <a:ext cx="3281476" cy="1117807"/>
              </a:xfrm>
              <a:prstGeom prst="rect">
                <a:avLst/>
              </a:prstGeom>
              <a:blipFill>
                <a:blip r:embed="rId4"/>
                <a:stretch>
                  <a:fillRect l="-1544" t="-147191" r="-3089" b="-20337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64F38FE-AE4D-44CA-38D6-21C00F7795D5}"/>
              </a:ext>
            </a:extLst>
          </p:cNvPr>
          <p:cNvSpPr/>
          <p:nvPr/>
        </p:nvSpPr>
        <p:spPr>
          <a:xfrm>
            <a:off x="673240" y="1467059"/>
            <a:ext cx="4793063" cy="258242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37024BA7-0392-82A6-7C4A-5C02BC78FD4A}"/>
              </a:ext>
            </a:extLst>
          </p:cNvPr>
          <p:cNvSpPr txBox="1"/>
          <p:nvPr/>
        </p:nvSpPr>
        <p:spPr>
          <a:xfrm>
            <a:off x="826200" y="1614105"/>
            <a:ext cx="1320618" cy="553998"/>
          </a:xfrm>
          <a:prstGeom prst="rect">
            <a:avLst/>
          </a:prstGeom>
          <a:noFill/>
        </p:spPr>
        <p:txBody>
          <a:bodyPr wrap="none" rtlCol="0">
            <a:spAutoFit/>
          </a:bodyPr>
          <a:lstStyle/>
          <a:p>
            <a:r>
              <a:rPr lang="en-US" sz="3000" dirty="0"/>
              <a:t>Givens</a:t>
            </a:r>
          </a:p>
        </p:txBody>
      </p:sp>
    </p:spTree>
    <p:extLst>
      <p:ext uri="{BB962C8B-B14F-4D97-AF65-F5344CB8AC3E}">
        <p14:creationId xmlns:p14="http://schemas.microsoft.com/office/powerpoint/2010/main" val="1691562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EF04A-56DA-0C3F-FF60-97DABC56879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B7C853D-748E-62A7-0803-A14CFF01E6B5}"/>
                  </a:ext>
                </a:extLst>
              </p:cNvPr>
              <p:cNvSpPr txBox="1"/>
              <p:nvPr/>
            </p:nvSpPr>
            <p:spPr>
              <a:xfrm>
                <a:off x="7124997" y="2168103"/>
                <a:ext cx="3322320" cy="9558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sz="3000" b="0" i="1" smtClean="0">
                              <a:solidFill>
                                <a:srgbClr val="7030A0"/>
                              </a:solidFill>
                              <a:latin typeface="Cambria Math" panose="02040503050406030204" pitchFamily="18" charset="0"/>
                            </a:rPr>
                          </m:ctrlPr>
                        </m:fPr>
                        <m:num>
                          <m:r>
                            <a:rPr lang="en-US" sz="3000" b="0" i="1" smtClean="0">
                              <a:solidFill>
                                <a:srgbClr val="7030A0"/>
                              </a:solidFill>
                              <a:latin typeface="Cambria Math" panose="02040503050406030204" pitchFamily="18" charset="0"/>
                            </a:rPr>
                            <m:t>𝜕</m:t>
                          </m:r>
                          <m:r>
                            <a:rPr lang="en-US" sz="3000" b="0" i="1" smtClean="0">
                              <a:solidFill>
                                <a:srgbClr val="7030A0"/>
                              </a:solidFill>
                              <a:latin typeface="Cambria Math" panose="02040503050406030204" pitchFamily="18" charset="0"/>
                            </a:rPr>
                            <m:t>𝐿</m:t>
                          </m:r>
                        </m:num>
                        <m:den>
                          <m:r>
                            <a:rPr lang="en-US" sz="3000" b="0" i="1" smtClean="0">
                              <a:solidFill>
                                <a:srgbClr val="7030A0"/>
                              </a:solidFill>
                              <a:latin typeface="Cambria Math" panose="02040503050406030204" pitchFamily="18" charset="0"/>
                            </a:rPr>
                            <m:t>𝜕</m:t>
                          </m:r>
                          <m:r>
                            <a:rPr lang="en-US" sz="3000" b="0" i="1" smtClean="0">
                              <a:solidFill>
                                <a:srgbClr val="7030A0"/>
                              </a:solidFill>
                              <a:latin typeface="Cambria Math" panose="02040503050406030204" pitchFamily="18" charset="0"/>
                            </a:rPr>
                            <m:t>𝑤</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m:t>
                          </m:r>
                          <m:r>
                            <a:rPr lang="en-US" sz="3000" b="0" i="1" smtClean="0">
                              <a:latin typeface="Cambria Math" panose="02040503050406030204" pitchFamily="18" charset="0"/>
                            </a:rPr>
                            <m:t>𝐿</m:t>
                          </m:r>
                        </m:num>
                        <m:den>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num>
                        <m:den>
                          <m:r>
                            <a:rPr lang="en-US" sz="3000" b="0" i="1" smtClean="0">
                              <a:latin typeface="Cambria Math" panose="02040503050406030204" pitchFamily="18" charset="0"/>
                            </a:rPr>
                            <m:t>𝜕</m:t>
                          </m:r>
                          <m:r>
                            <a:rPr lang="en-US" sz="3000" b="0" i="1" smtClean="0">
                              <a:latin typeface="Cambria Math" panose="02040503050406030204" pitchFamily="18" charset="0"/>
                            </a:rPr>
                            <m:t>𝑤</m:t>
                          </m:r>
                        </m:den>
                      </m:f>
                    </m:oMath>
                  </m:oMathPara>
                </a14:m>
                <a:endParaRPr lang="en-US" sz="3000" dirty="0"/>
              </a:p>
            </p:txBody>
          </p:sp>
        </mc:Choice>
        <mc:Fallback>
          <p:sp>
            <p:nvSpPr>
              <p:cNvPr id="3" name="TextBox 2">
                <a:extLst>
                  <a:ext uri="{FF2B5EF4-FFF2-40B4-BE49-F238E27FC236}">
                    <a16:creationId xmlns:a16="http://schemas.microsoft.com/office/drawing/2014/main" id="{AB7C853D-748E-62A7-0803-A14CFF01E6B5}"/>
                  </a:ext>
                </a:extLst>
              </p:cNvPr>
              <p:cNvSpPr txBox="1">
                <a:spLocks noRot="1" noChangeAspect="1" noMove="1" noResize="1" noEditPoints="1" noAdjustHandles="1" noChangeArrowheads="1" noChangeShapeType="1" noTextEdit="1"/>
              </p:cNvSpPr>
              <p:nvPr/>
            </p:nvSpPr>
            <p:spPr>
              <a:xfrm>
                <a:off x="7124997" y="2168103"/>
                <a:ext cx="3322320" cy="955839"/>
              </a:xfrm>
              <a:prstGeom prst="rect">
                <a:avLst/>
              </a:prstGeom>
              <a:blipFill>
                <a:blip r:embed="rId2"/>
                <a:stretch>
                  <a:fillRect l="-2672" t="-1316" r="-382"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0E97A51-94C4-51C5-5C71-6E1AF7EF474E}"/>
                  </a:ext>
                </a:extLst>
              </p:cNvPr>
              <p:cNvSpPr txBox="1"/>
              <p:nvPr/>
            </p:nvSpPr>
            <p:spPr>
              <a:xfrm>
                <a:off x="6096000" y="143590"/>
                <a:ext cx="6282727" cy="9702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latin typeface="Cambria Math" panose="02040503050406030204" pitchFamily="18" charset="0"/>
                          <a:sym typeface="Wingdings" pitchFamily="2" charset="2"/>
                        </a:rPr>
                        <m:t>Δ</m:t>
                      </m:r>
                      <m:r>
                        <a:rPr lang="en-US" sz="3000" b="0" i="1" smtClean="0">
                          <a:latin typeface="Cambria Math" panose="02040503050406030204" pitchFamily="18" charset="0"/>
                          <a:sym typeface="Wingdings" pitchFamily="2" charset="2"/>
                        </a:rPr>
                        <m:t>𝑤</m:t>
                      </m:r>
                      <m:r>
                        <a:rPr lang="en-US" sz="3000" b="0" i="1" smtClean="0">
                          <a:latin typeface="Cambria Math" panose="02040503050406030204" pitchFamily="18" charset="0"/>
                          <a:sym typeface="Wingdings" pitchFamily="2" charset="2"/>
                        </a:rPr>
                        <m:t>=−</m:t>
                      </m:r>
                      <m:r>
                        <a:rPr lang="en-US" sz="3000" b="0" i="1" smtClean="0">
                          <a:latin typeface="Cambria Math" panose="02040503050406030204" pitchFamily="18" charset="0"/>
                          <a:sym typeface="Wingdings" pitchFamily="2" charset="2"/>
                        </a:rPr>
                        <m:t>𝑠𝑡𝑒𝑝𝑠𝑖𝑧𝑒</m:t>
                      </m:r>
                      <m:r>
                        <a:rPr lang="en-US" sz="3000" b="0" i="1" smtClean="0">
                          <a:latin typeface="Cambria Math" panose="02040503050406030204" pitchFamily="18" charset="0"/>
                          <a:sym typeface="Wingdings" pitchFamily="2" charset="2"/>
                        </a:rPr>
                        <m:t>∗</m:t>
                      </m:r>
                      <m:f>
                        <m:fPr>
                          <m:ctrlPr>
                            <a:rPr lang="en-US" sz="3000" b="0" i="1" smtClean="0">
                              <a:solidFill>
                                <a:srgbClr val="7030A0"/>
                              </a:solidFill>
                              <a:latin typeface="Cambria Math" panose="02040503050406030204" pitchFamily="18" charset="0"/>
                              <a:sym typeface="Wingdings" pitchFamily="2" charset="2"/>
                            </a:rPr>
                          </m:ctrlPr>
                        </m:fPr>
                        <m:num>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𝐿</m:t>
                          </m:r>
                        </m:num>
                        <m:den>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𝑤</m:t>
                          </m:r>
                        </m:den>
                      </m:f>
                    </m:oMath>
                  </m:oMathPara>
                </a14:m>
                <a:endParaRPr lang="en-US" sz="3000" dirty="0">
                  <a:sym typeface="Wingdings" pitchFamily="2" charset="2"/>
                </a:endParaRPr>
              </a:p>
            </p:txBody>
          </p:sp>
        </mc:Choice>
        <mc:Fallback>
          <p:sp>
            <p:nvSpPr>
              <p:cNvPr id="5" name="TextBox 4">
                <a:extLst>
                  <a:ext uri="{FF2B5EF4-FFF2-40B4-BE49-F238E27FC236}">
                    <a16:creationId xmlns:a16="http://schemas.microsoft.com/office/drawing/2014/main" id="{A0E97A51-94C4-51C5-5C71-6E1AF7EF474E}"/>
                  </a:ext>
                </a:extLst>
              </p:cNvPr>
              <p:cNvSpPr txBox="1">
                <a:spLocks noRot="1" noChangeAspect="1" noMove="1" noResize="1" noEditPoints="1" noAdjustHandles="1" noChangeArrowheads="1" noChangeShapeType="1" noTextEdit="1"/>
              </p:cNvSpPr>
              <p:nvPr/>
            </p:nvSpPr>
            <p:spPr>
              <a:xfrm>
                <a:off x="6096000" y="143590"/>
                <a:ext cx="6282727" cy="970202"/>
              </a:xfrm>
              <a:prstGeom prst="rect">
                <a:avLst/>
              </a:prstGeom>
              <a:blipFill>
                <a:blip r:embed="rId3"/>
                <a:stretch>
                  <a:fillRect b="-779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8B12F38-D8B4-6D83-036E-EA2D1A00D9F4}"/>
              </a:ext>
            </a:extLst>
          </p:cNvPr>
          <p:cNvSpPr txBox="1"/>
          <p:nvPr/>
        </p:nvSpPr>
        <p:spPr>
          <a:xfrm>
            <a:off x="321547" y="351692"/>
            <a:ext cx="6777881" cy="553998"/>
          </a:xfrm>
          <a:prstGeom prst="rect">
            <a:avLst/>
          </a:prstGeom>
          <a:noFill/>
        </p:spPr>
        <p:txBody>
          <a:bodyPr wrap="none" rtlCol="0">
            <a:spAutoFit/>
          </a:bodyPr>
          <a:lstStyle/>
          <a:p>
            <a:r>
              <a:rPr lang="en-US" sz="3000" dirty="0"/>
              <a:t>We want to update weights according to</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F101197-3344-EDB2-3193-520D8F083CEC}"/>
                  </a:ext>
                </a:extLst>
              </p:cNvPr>
              <p:cNvSpPr txBox="1"/>
              <p:nvPr/>
            </p:nvSpPr>
            <p:spPr>
              <a:xfrm>
                <a:off x="826200" y="3264363"/>
                <a:ext cx="425552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𝐿</m:t>
                      </m:r>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latin typeface="Cambria Math" panose="02040503050406030204" pitchFamily="18" charset="0"/>
                                </a:rPr>
                                <m:t>𝑡𝑟𝑢𝑒</m:t>
                              </m:r>
                            </m:e>
                          </m:d>
                        </m:e>
                        <m:sup>
                          <m:r>
                            <a:rPr lang="en-US" sz="3000" b="0" i="1" smtClean="0">
                              <a:latin typeface="Cambria Math" panose="02040503050406030204" pitchFamily="18" charset="0"/>
                            </a:rPr>
                            <m:t>2</m:t>
                          </m:r>
                        </m:sup>
                      </m:sSup>
                    </m:oMath>
                  </m:oMathPara>
                </a14:m>
                <a:endParaRPr lang="en-US" sz="3000" dirty="0"/>
              </a:p>
            </p:txBody>
          </p:sp>
        </mc:Choice>
        <mc:Fallback>
          <p:sp>
            <p:nvSpPr>
              <p:cNvPr id="7" name="TextBox 6">
                <a:extLst>
                  <a:ext uri="{FF2B5EF4-FFF2-40B4-BE49-F238E27FC236}">
                    <a16:creationId xmlns:a16="http://schemas.microsoft.com/office/drawing/2014/main" id="{DF101197-3344-EDB2-3193-520D8F083CEC}"/>
                  </a:ext>
                </a:extLst>
              </p:cNvPr>
              <p:cNvSpPr txBox="1">
                <a:spLocks noRot="1" noChangeAspect="1" noMove="1" noResize="1" noEditPoints="1" noAdjustHandles="1" noChangeArrowheads="1" noChangeShapeType="1" noTextEdit="1"/>
              </p:cNvSpPr>
              <p:nvPr/>
            </p:nvSpPr>
            <p:spPr>
              <a:xfrm>
                <a:off x="826200" y="3264363"/>
                <a:ext cx="4255524" cy="461665"/>
              </a:xfrm>
              <a:prstGeom prst="rect">
                <a:avLst/>
              </a:prstGeom>
              <a:blipFill>
                <a:blip r:embed="rId4"/>
                <a:stretch>
                  <a:fillRect l="-1786" r="-298"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173D99F-E1F3-8EFF-D9D2-482B10986434}"/>
                  </a:ext>
                </a:extLst>
              </p:cNvPr>
              <p:cNvSpPr txBox="1"/>
              <p:nvPr/>
            </p:nvSpPr>
            <p:spPr>
              <a:xfrm>
                <a:off x="826200" y="1983437"/>
                <a:ext cx="3281476"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oMath>
                  </m:oMathPara>
                </a14:m>
                <a:endParaRPr lang="en-US" sz="3000" dirty="0"/>
              </a:p>
            </p:txBody>
          </p:sp>
        </mc:Choice>
        <mc:Fallback>
          <p:sp>
            <p:nvSpPr>
              <p:cNvPr id="10" name="TextBox 9">
                <a:extLst>
                  <a:ext uri="{FF2B5EF4-FFF2-40B4-BE49-F238E27FC236}">
                    <a16:creationId xmlns:a16="http://schemas.microsoft.com/office/drawing/2014/main" id="{9173D99F-E1F3-8EFF-D9D2-482B10986434}"/>
                  </a:ext>
                </a:extLst>
              </p:cNvPr>
              <p:cNvSpPr txBox="1">
                <a:spLocks noRot="1" noChangeAspect="1" noMove="1" noResize="1" noEditPoints="1" noAdjustHandles="1" noChangeArrowheads="1" noChangeShapeType="1" noTextEdit="1"/>
              </p:cNvSpPr>
              <p:nvPr/>
            </p:nvSpPr>
            <p:spPr>
              <a:xfrm>
                <a:off x="826200" y="1983437"/>
                <a:ext cx="3281476" cy="1117807"/>
              </a:xfrm>
              <a:prstGeom prst="rect">
                <a:avLst/>
              </a:prstGeom>
              <a:blipFill>
                <a:blip r:embed="rId5"/>
                <a:stretch>
                  <a:fillRect l="-1544" t="-147191" r="-3089" b="-20337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98AE6E1E-D8B0-54E4-CCE2-1691D446E2DC}"/>
              </a:ext>
            </a:extLst>
          </p:cNvPr>
          <p:cNvSpPr/>
          <p:nvPr/>
        </p:nvSpPr>
        <p:spPr>
          <a:xfrm>
            <a:off x="673240" y="1467059"/>
            <a:ext cx="4793063" cy="258242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FEBEDA8-38F3-C629-A304-69DD60690ADF}"/>
              </a:ext>
            </a:extLst>
          </p:cNvPr>
          <p:cNvSpPr txBox="1"/>
          <p:nvPr/>
        </p:nvSpPr>
        <p:spPr>
          <a:xfrm>
            <a:off x="826200" y="1614105"/>
            <a:ext cx="1320618" cy="553998"/>
          </a:xfrm>
          <a:prstGeom prst="rect">
            <a:avLst/>
          </a:prstGeom>
          <a:noFill/>
        </p:spPr>
        <p:txBody>
          <a:bodyPr wrap="none" rtlCol="0">
            <a:spAutoFit/>
          </a:bodyPr>
          <a:lstStyle/>
          <a:p>
            <a:r>
              <a:rPr lang="en-US" sz="3000" dirty="0"/>
              <a:t>Givens</a:t>
            </a:r>
          </a:p>
        </p:txBody>
      </p:sp>
    </p:spTree>
    <p:extLst>
      <p:ext uri="{BB962C8B-B14F-4D97-AF65-F5344CB8AC3E}">
        <p14:creationId xmlns:p14="http://schemas.microsoft.com/office/powerpoint/2010/main" val="2959561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728C-0837-FD91-0244-1CB6ADA0FBA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686BC8E-E28F-8B76-296D-1932083B456F}"/>
                  </a:ext>
                </a:extLst>
              </p:cNvPr>
              <p:cNvSpPr txBox="1"/>
              <p:nvPr/>
            </p:nvSpPr>
            <p:spPr>
              <a:xfrm>
                <a:off x="7124997" y="2168103"/>
                <a:ext cx="3322320" cy="9558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sz="3000" b="0" i="1" smtClean="0">
                              <a:solidFill>
                                <a:srgbClr val="7030A0"/>
                              </a:solidFill>
                              <a:latin typeface="Cambria Math" panose="02040503050406030204" pitchFamily="18" charset="0"/>
                            </a:rPr>
                          </m:ctrlPr>
                        </m:fPr>
                        <m:num>
                          <m:r>
                            <a:rPr lang="en-US" sz="3000" b="0" i="1" smtClean="0">
                              <a:solidFill>
                                <a:srgbClr val="7030A0"/>
                              </a:solidFill>
                              <a:latin typeface="Cambria Math" panose="02040503050406030204" pitchFamily="18" charset="0"/>
                            </a:rPr>
                            <m:t>𝜕</m:t>
                          </m:r>
                          <m:r>
                            <a:rPr lang="en-US" sz="3000" b="0" i="1" smtClean="0">
                              <a:solidFill>
                                <a:srgbClr val="7030A0"/>
                              </a:solidFill>
                              <a:latin typeface="Cambria Math" panose="02040503050406030204" pitchFamily="18" charset="0"/>
                            </a:rPr>
                            <m:t>𝐿</m:t>
                          </m:r>
                        </m:num>
                        <m:den>
                          <m:r>
                            <a:rPr lang="en-US" sz="3000" b="0" i="1" smtClean="0">
                              <a:solidFill>
                                <a:srgbClr val="7030A0"/>
                              </a:solidFill>
                              <a:latin typeface="Cambria Math" panose="02040503050406030204" pitchFamily="18" charset="0"/>
                            </a:rPr>
                            <m:t>𝜕</m:t>
                          </m:r>
                          <m:r>
                            <a:rPr lang="en-US" sz="3000" b="0" i="1" smtClean="0">
                              <a:solidFill>
                                <a:srgbClr val="7030A0"/>
                              </a:solidFill>
                              <a:latin typeface="Cambria Math" panose="02040503050406030204" pitchFamily="18" charset="0"/>
                            </a:rPr>
                            <m:t>𝑤</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m:t>
                          </m:r>
                          <m:r>
                            <a:rPr lang="en-US" sz="3000" b="0" i="1" smtClean="0">
                              <a:latin typeface="Cambria Math" panose="02040503050406030204" pitchFamily="18" charset="0"/>
                            </a:rPr>
                            <m:t>𝐿</m:t>
                          </m:r>
                        </m:num>
                        <m:den>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num>
                        <m:den>
                          <m:r>
                            <a:rPr lang="en-US" sz="3000" b="0" i="1" smtClean="0">
                              <a:latin typeface="Cambria Math" panose="02040503050406030204" pitchFamily="18" charset="0"/>
                            </a:rPr>
                            <m:t>𝜕</m:t>
                          </m:r>
                          <m:r>
                            <a:rPr lang="en-US" sz="3000" b="0" i="1" smtClean="0">
                              <a:latin typeface="Cambria Math" panose="02040503050406030204" pitchFamily="18" charset="0"/>
                            </a:rPr>
                            <m:t>𝑤</m:t>
                          </m:r>
                        </m:den>
                      </m:f>
                    </m:oMath>
                  </m:oMathPara>
                </a14:m>
                <a:endParaRPr lang="en-US" sz="3000" dirty="0"/>
              </a:p>
            </p:txBody>
          </p:sp>
        </mc:Choice>
        <mc:Fallback>
          <p:sp>
            <p:nvSpPr>
              <p:cNvPr id="3" name="TextBox 2">
                <a:extLst>
                  <a:ext uri="{FF2B5EF4-FFF2-40B4-BE49-F238E27FC236}">
                    <a16:creationId xmlns:a16="http://schemas.microsoft.com/office/drawing/2014/main" id="{B686BC8E-E28F-8B76-296D-1932083B456F}"/>
                  </a:ext>
                </a:extLst>
              </p:cNvPr>
              <p:cNvSpPr txBox="1">
                <a:spLocks noRot="1" noChangeAspect="1" noMove="1" noResize="1" noEditPoints="1" noAdjustHandles="1" noChangeArrowheads="1" noChangeShapeType="1" noTextEdit="1"/>
              </p:cNvSpPr>
              <p:nvPr/>
            </p:nvSpPr>
            <p:spPr>
              <a:xfrm>
                <a:off x="7124997" y="2168103"/>
                <a:ext cx="3322320" cy="955839"/>
              </a:xfrm>
              <a:prstGeom prst="rect">
                <a:avLst/>
              </a:prstGeom>
              <a:blipFill>
                <a:blip r:embed="rId2"/>
                <a:stretch>
                  <a:fillRect l="-2672" t="-1316" r="-382"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4337B0B-19D0-1203-9A91-E6EEADD429CD}"/>
                  </a:ext>
                </a:extLst>
              </p:cNvPr>
              <p:cNvSpPr txBox="1"/>
              <p:nvPr/>
            </p:nvSpPr>
            <p:spPr>
              <a:xfrm>
                <a:off x="6096000" y="143590"/>
                <a:ext cx="6282727" cy="9702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latin typeface="Cambria Math" panose="02040503050406030204" pitchFamily="18" charset="0"/>
                          <a:sym typeface="Wingdings" pitchFamily="2" charset="2"/>
                        </a:rPr>
                        <m:t>Δ</m:t>
                      </m:r>
                      <m:r>
                        <a:rPr lang="en-US" sz="3000" b="0" i="1" smtClean="0">
                          <a:latin typeface="Cambria Math" panose="02040503050406030204" pitchFamily="18" charset="0"/>
                          <a:sym typeface="Wingdings" pitchFamily="2" charset="2"/>
                        </a:rPr>
                        <m:t>𝑤</m:t>
                      </m:r>
                      <m:r>
                        <a:rPr lang="en-US" sz="3000" b="0" i="1" smtClean="0">
                          <a:latin typeface="Cambria Math" panose="02040503050406030204" pitchFamily="18" charset="0"/>
                          <a:sym typeface="Wingdings" pitchFamily="2" charset="2"/>
                        </a:rPr>
                        <m:t>=−</m:t>
                      </m:r>
                      <m:r>
                        <a:rPr lang="en-US" sz="3000" b="0" i="1" smtClean="0">
                          <a:latin typeface="Cambria Math" panose="02040503050406030204" pitchFamily="18" charset="0"/>
                          <a:sym typeface="Wingdings" pitchFamily="2" charset="2"/>
                        </a:rPr>
                        <m:t>𝑠𝑡𝑒𝑝𝑠𝑖𝑧𝑒</m:t>
                      </m:r>
                      <m:r>
                        <a:rPr lang="en-US" sz="3000" b="0" i="1" smtClean="0">
                          <a:latin typeface="Cambria Math" panose="02040503050406030204" pitchFamily="18" charset="0"/>
                          <a:sym typeface="Wingdings" pitchFamily="2" charset="2"/>
                        </a:rPr>
                        <m:t>∗</m:t>
                      </m:r>
                      <m:f>
                        <m:fPr>
                          <m:ctrlPr>
                            <a:rPr lang="en-US" sz="3000" b="0" i="1" smtClean="0">
                              <a:solidFill>
                                <a:srgbClr val="7030A0"/>
                              </a:solidFill>
                              <a:latin typeface="Cambria Math" panose="02040503050406030204" pitchFamily="18" charset="0"/>
                              <a:sym typeface="Wingdings" pitchFamily="2" charset="2"/>
                            </a:rPr>
                          </m:ctrlPr>
                        </m:fPr>
                        <m:num>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𝐿</m:t>
                          </m:r>
                        </m:num>
                        <m:den>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𝑤</m:t>
                          </m:r>
                        </m:den>
                      </m:f>
                    </m:oMath>
                  </m:oMathPara>
                </a14:m>
                <a:endParaRPr lang="en-US" sz="3000" dirty="0">
                  <a:sym typeface="Wingdings" pitchFamily="2" charset="2"/>
                </a:endParaRPr>
              </a:p>
            </p:txBody>
          </p:sp>
        </mc:Choice>
        <mc:Fallback>
          <p:sp>
            <p:nvSpPr>
              <p:cNvPr id="5" name="TextBox 4">
                <a:extLst>
                  <a:ext uri="{FF2B5EF4-FFF2-40B4-BE49-F238E27FC236}">
                    <a16:creationId xmlns:a16="http://schemas.microsoft.com/office/drawing/2014/main" id="{04337B0B-19D0-1203-9A91-E6EEADD429CD}"/>
                  </a:ext>
                </a:extLst>
              </p:cNvPr>
              <p:cNvSpPr txBox="1">
                <a:spLocks noRot="1" noChangeAspect="1" noMove="1" noResize="1" noEditPoints="1" noAdjustHandles="1" noChangeArrowheads="1" noChangeShapeType="1" noTextEdit="1"/>
              </p:cNvSpPr>
              <p:nvPr/>
            </p:nvSpPr>
            <p:spPr>
              <a:xfrm>
                <a:off x="6096000" y="143590"/>
                <a:ext cx="6282727" cy="970202"/>
              </a:xfrm>
              <a:prstGeom prst="rect">
                <a:avLst/>
              </a:prstGeom>
              <a:blipFill>
                <a:blip r:embed="rId3"/>
                <a:stretch>
                  <a:fillRect b="-779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8B41B45-664F-574F-C170-5A753CF10FEC}"/>
              </a:ext>
            </a:extLst>
          </p:cNvPr>
          <p:cNvSpPr txBox="1"/>
          <p:nvPr/>
        </p:nvSpPr>
        <p:spPr>
          <a:xfrm>
            <a:off x="321547" y="351692"/>
            <a:ext cx="6777881" cy="553998"/>
          </a:xfrm>
          <a:prstGeom prst="rect">
            <a:avLst/>
          </a:prstGeom>
          <a:noFill/>
        </p:spPr>
        <p:txBody>
          <a:bodyPr wrap="none" rtlCol="0">
            <a:spAutoFit/>
          </a:bodyPr>
          <a:lstStyle/>
          <a:p>
            <a:r>
              <a:rPr lang="en-US" sz="3000" dirty="0"/>
              <a:t>We want to update weights according to</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93B8205-CE8E-7443-7CA7-9AC29F7A09F5}"/>
                  </a:ext>
                </a:extLst>
              </p:cNvPr>
              <p:cNvSpPr txBox="1"/>
              <p:nvPr/>
            </p:nvSpPr>
            <p:spPr>
              <a:xfrm>
                <a:off x="826200" y="3264363"/>
                <a:ext cx="425552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𝐿</m:t>
                      </m:r>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latin typeface="Cambria Math" panose="02040503050406030204" pitchFamily="18" charset="0"/>
                                </a:rPr>
                                <m:t>𝑡𝑟𝑢𝑒</m:t>
                              </m:r>
                            </m:e>
                          </m:d>
                        </m:e>
                        <m:sup>
                          <m:r>
                            <a:rPr lang="en-US" sz="3000" b="0" i="1" smtClean="0">
                              <a:latin typeface="Cambria Math" panose="02040503050406030204" pitchFamily="18" charset="0"/>
                            </a:rPr>
                            <m:t>2</m:t>
                          </m:r>
                        </m:sup>
                      </m:sSup>
                    </m:oMath>
                  </m:oMathPara>
                </a14:m>
                <a:endParaRPr lang="en-US" sz="3000" dirty="0"/>
              </a:p>
            </p:txBody>
          </p:sp>
        </mc:Choice>
        <mc:Fallback>
          <p:sp>
            <p:nvSpPr>
              <p:cNvPr id="7" name="TextBox 6">
                <a:extLst>
                  <a:ext uri="{FF2B5EF4-FFF2-40B4-BE49-F238E27FC236}">
                    <a16:creationId xmlns:a16="http://schemas.microsoft.com/office/drawing/2014/main" id="{193B8205-CE8E-7443-7CA7-9AC29F7A09F5}"/>
                  </a:ext>
                </a:extLst>
              </p:cNvPr>
              <p:cNvSpPr txBox="1">
                <a:spLocks noRot="1" noChangeAspect="1" noMove="1" noResize="1" noEditPoints="1" noAdjustHandles="1" noChangeArrowheads="1" noChangeShapeType="1" noTextEdit="1"/>
              </p:cNvSpPr>
              <p:nvPr/>
            </p:nvSpPr>
            <p:spPr>
              <a:xfrm>
                <a:off x="826200" y="3264363"/>
                <a:ext cx="4255524" cy="461665"/>
              </a:xfrm>
              <a:prstGeom prst="rect">
                <a:avLst/>
              </a:prstGeom>
              <a:blipFill>
                <a:blip r:embed="rId4"/>
                <a:stretch>
                  <a:fillRect l="-1786" r="-298"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0C99CAC-4A8C-9C4E-EB2A-1EA77797C735}"/>
                  </a:ext>
                </a:extLst>
              </p:cNvPr>
              <p:cNvSpPr txBox="1"/>
              <p:nvPr/>
            </p:nvSpPr>
            <p:spPr>
              <a:xfrm>
                <a:off x="4414843" y="4300695"/>
                <a:ext cx="4648769" cy="8888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m:t>
                          </m:r>
                          <m:r>
                            <a:rPr lang="en-US" sz="2500" b="0" i="1" smtClean="0">
                              <a:latin typeface="Cambria Math" panose="02040503050406030204" pitchFamily="18" charset="0"/>
                            </a:rPr>
                            <m:t>𝐿</m:t>
                          </m:r>
                        </m:num>
                        <m:den>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𝑛</m:t>
                              </m:r>
                            </m:e>
                            <m:sub>
                              <m:r>
                                <a:rPr lang="en-US" sz="2500" b="0" i="1" smtClean="0">
                                  <a:latin typeface="Cambria Math" panose="02040503050406030204" pitchFamily="18" charset="0"/>
                                </a:rPr>
                                <m:t>𝑜𝑢𝑡</m:t>
                              </m:r>
                            </m:sub>
                          </m:sSub>
                        </m:den>
                      </m:f>
                      <m:r>
                        <a:rPr lang="en-US" sz="2500" b="0" i="1" smtClean="0">
                          <a:latin typeface="Cambria Math" panose="02040503050406030204" pitchFamily="18" charset="0"/>
                        </a:rPr>
                        <m:t>=2∗(</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𝑛</m:t>
                          </m:r>
                        </m:e>
                        <m:sub>
                          <m:r>
                            <a:rPr lang="en-US" sz="2500" b="0" i="1" smtClean="0">
                              <a:latin typeface="Cambria Math" panose="02040503050406030204" pitchFamily="18" charset="0"/>
                            </a:rPr>
                            <m:t>𝑜𝑢𝑡</m:t>
                          </m:r>
                        </m:sub>
                      </m:sSub>
                      <m:r>
                        <a:rPr lang="en-US" sz="2500" b="0" i="1" smtClean="0">
                          <a:latin typeface="Cambria Math" panose="02040503050406030204" pitchFamily="18" charset="0"/>
                        </a:rPr>
                        <m:t>−</m:t>
                      </m:r>
                      <m:r>
                        <a:rPr lang="en-US" sz="2500" b="0" i="1" smtClean="0">
                          <a:latin typeface="Cambria Math" panose="02040503050406030204" pitchFamily="18" charset="0"/>
                        </a:rPr>
                        <m:t>𝑡𝑟𝑢𝑒</m:t>
                      </m:r>
                      <m:r>
                        <a:rPr lang="en-US" sz="2500" b="0" i="1" smtClean="0">
                          <a:latin typeface="Cambria Math" panose="02040503050406030204" pitchFamily="18" charset="0"/>
                        </a:rPr>
                        <m:t>)</m:t>
                      </m:r>
                    </m:oMath>
                  </m:oMathPara>
                </a14:m>
                <a:endParaRPr lang="en-US" sz="2500" dirty="0"/>
              </a:p>
            </p:txBody>
          </p:sp>
        </mc:Choice>
        <mc:Fallback>
          <p:sp>
            <p:nvSpPr>
              <p:cNvPr id="9" name="TextBox 8">
                <a:extLst>
                  <a:ext uri="{FF2B5EF4-FFF2-40B4-BE49-F238E27FC236}">
                    <a16:creationId xmlns:a16="http://schemas.microsoft.com/office/drawing/2014/main" id="{30C99CAC-4A8C-9C4E-EB2A-1EA77797C735}"/>
                  </a:ext>
                </a:extLst>
              </p:cNvPr>
              <p:cNvSpPr txBox="1">
                <a:spLocks noRot="1" noChangeAspect="1" noMove="1" noResize="1" noEditPoints="1" noAdjustHandles="1" noChangeArrowheads="1" noChangeShapeType="1" noTextEdit="1"/>
              </p:cNvSpPr>
              <p:nvPr/>
            </p:nvSpPr>
            <p:spPr>
              <a:xfrm>
                <a:off x="4414843" y="4300695"/>
                <a:ext cx="4648769" cy="888833"/>
              </a:xfrm>
              <a:prstGeom prst="rect">
                <a:avLst/>
              </a:prstGeom>
              <a:blipFill>
                <a:blip r:embed="rId5"/>
                <a:stretch>
                  <a:fillRect b="-14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DD8E6DD-77F8-80F5-F8AB-CE003E6AE8AB}"/>
                  </a:ext>
                </a:extLst>
              </p:cNvPr>
              <p:cNvSpPr txBox="1"/>
              <p:nvPr/>
            </p:nvSpPr>
            <p:spPr>
              <a:xfrm>
                <a:off x="826200" y="1983437"/>
                <a:ext cx="3281476"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oMath>
                  </m:oMathPara>
                </a14:m>
                <a:endParaRPr lang="en-US" sz="3000" dirty="0"/>
              </a:p>
            </p:txBody>
          </p:sp>
        </mc:Choice>
        <mc:Fallback>
          <p:sp>
            <p:nvSpPr>
              <p:cNvPr id="10" name="TextBox 9">
                <a:extLst>
                  <a:ext uri="{FF2B5EF4-FFF2-40B4-BE49-F238E27FC236}">
                    <a16:creationId xmlns:a16="http://schemas.microsoft.com/office/drawing/2014/main" id="{CDD8E6DD-77F8-80F5-F8AB-CE003E6AE8AB}"/>
                  </a:ext>
                </a:extLst>
              </p:cNvPr>
              <p:cNvSpPr txBox="1">
                <a:spLocks noRot="1" noChangeAspect="1" noMove="1" noResize="1" noEditPoints="1" noAdjustHandles="1" noChangeArrowheads="1" noChangeShapeType="1" noTextEdit="1"/>
              </p:cNvSpPr>
              <p:nvPr/>
            </p:nvSpPr>
            <p:spPr>
              <a:xfrm>
                <a:off x="826200" y="1983437"/>
                <a:ext cx="3281476" cy="1117807"/>
              </a:xfrm>
              <a:prstGeom prst="rect">
                <a:avLst/>
              </a:prstGeom>
              <a:blipFill>
                <a:blip r:embed="rId6"/>
                <a:stretch>
                  <a:fillRect l="-1544" t="-147191" r="-3089" b="-20337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A8D65236-5E6C-C7DF-D5D5-E72E417A6F46}"/>
              </a:ext>
            </a:extLst>
          </p:cNvPr>
          <p:cNvSpPr/>
          <p:nvPr/>
        </p:nvSpPr>
        <p:spPr>
          <a:xfrm>
            <a:off x="673240" y="1467059"/>
            <a:ext cx="4793063" cy="258242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B24D39A7-E53F-3617-0D2D-C55BF881EBC5}"/>
              </a:ext>
            </a:extLst>
          </p:cNvPr>
          <p:cNvSpPr txBox="1"/>
          <p:nvPr/>
        </p:nvSpPr>
        <p:spPr>
          <a:xfrm>
            <a:off x="826200" y="1614105"/>
            <a:ext cx="1320618" cy="553998"/>
          </a:xfrm>
          <a:prstGeom prst="rect">
            <a:avLst/>
          </a:prstGeom>
          <a:noFill/>
        </p:spPr>
        <p:txBody>
          <a:bodyPr wrap="none" rtlCol="0">
            <a:spAutoFit/>
          </a:bodyPr>
          <a:lstStyle/>
          <a:p>
            <a:r>
              <a:rPr lang="en-US" sz="3000" dirty="0"/>
              <a:t>Givens</a:t>
            </a:r>
          </a:p>
        </p:txBody>
      </p:sp>
      <p:cxnSp>
        <p:nvCxnSpPr>
          <p:cNvPr id="4" name="Straight Arrow Connector 3">
            <a:extLst>
              <a:ext uri="{FF2B5EF4-FFF2-40B4-BE49-F238E27FC236}">
                <a16:creationId xmlns:a16="http://schemas.microsoft.com/office/drawing/2014/main" id="{B965DE9E-D53E-7C25-9AD6-48B113ACBBF9}"/>
              </a:ext>
            </a:extLst>
          </p:cNvPr>
          <p:cNvCxnSpPr/>
          <p:nvPr/>
        </p:nvCxnSpPr>
        <p:spPr>
          <a:xfrm flipH="1">
            <a:off x="7234813" y="3429000"/>
            <a:ext cx="1115367" cy="871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5132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4197E-78AD-7600-0E26-EBA9ED59263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9C8631F-10F6-988B-5380-6A91EBE074DD}"/>
                  </a:ext>
                </a:extLst>
              </p:cNvPr>
              <p:cNvSpPr txBox="1"/>
              <p:nvPr/>
            </p:nvSpPr>
            <p:spPr>
              <a:xfrm>
                <a:off x="7124997" y="2168103"/>
                <a:ext cx="3431388" cy="9559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sz="3000" b="0" i="1" smtClean="0">
                              <a:solidFill>
                                <a:srgbClr val="7030A0"/>
                              </a:solidFill>
                              <a:latin typeface="Cambria Math" panose="02040503050406030204" pitchFamily="18" charset="0"/>
                            </a:rPr>
                          </m:ctrlPr>
                        </m:fPr>
                        <m:num>
                          <m:r>
                            <a:rPr lang="en-US" sz="3000" b="0" i="1" smtClean="0">
                              <a:solidFill>
                                <a:srgbClr val="7030A0"/>
                              </a:solidFill>
                              <a:latin typeface="Cambria Math" panose="02040503050406030204" pitchFamily="18" charset="0"/>
                            </a:rPr>
                            <m:t>𝜕</m:t>
                          </m:r>
                          <m:r>
                            <a:rPr lang="en-US" sz="3000" b="0" i="1" smtClean="0">
                              <a:solidFill>
                                <a:srgbClr val="7030A0"/>
                              </a:solidFill>
                              <a:latin typeface="Cambria Math" panose="02040503050406030204" pitchFamily="18" charset="0"/>
                            </a:rPr>
                            <m:t>𝐿</m:t>
                          </m:r>
                        </m:num>
                        <m:den>
                          <m:r>
                            <a:rPr lang="en-US" sz="3000" b="0" i="1" smtClean="0">
                              <a:solidFill>
                                <a:srgbClr val="7030A0"/>
                              </a:solidFill>
                              <a:latin typeface="Cambria Math" panose="02040503050406030204" pitchFamily="18" charset="0"/>
                            </a:rPr>
                            <m:t>𝜕</m:t>
                          </m:r>
                          <m:sSub>
                            <m:sSubPr>
                              <m:ctrlPr>
                                <a:rPr lang="en-US" sz="3000" b="0" i="1" smtClean="0">
                                  <a:solidFill>
                                    <a:srgbClr val="7030A0"/>
                                  </a:solidFill>
                                  <a:latin typeface="Cambria Math" panose="02040503050406030204" pitchFamily="18" charset="0"/>
                                </a:rPr>
                              </m:ctrlPr>
                            </m:sSubPr>
                            <m:e>
                              <m:r>
                                <a:rPr lang="en-US" sz="3000" b="0" i="1" smtClean="0">
                                  <a:solidFill>
                                    <a:srgbClr val="7030A0"/>
                                  </a:solidFill>
                                  <a:latin typeface="Cambria Math" panose="02040503050406030204" pitchFamily="18" charset="0"/>
                                </a:rPr>
                                <m:t>𝑤</m:t>
                              </m:r>
                            </m:e>
                            <m:sub>
                              <m:r>
                                <a:rPr lang="en-US" sz="3000" b="0" i="1" smtClean="0">
                                  <a:solidFill>
                                    <a:srgbClr val="7030A0"/>
                                  </a:solidFill>
                                  <a:latin typeface="Cambria Math" panose="02040503050406030204" pitchFamily="18" charset="0"/>
                                </a:rPr>
                                <m:t>𝑖</m:t>
                              </m:r>
                            </m:sub>
                          </m:sSub>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m:t>
                          </m:r>
                          <m:r>
                            <a:rPr lang="en-US" sz="3000" b="0" i="1" smtClean="0">
                              <a:latin typeface="Cambria Math" panose="02040503050406030204" pitchFamily="18" charset="0"/>
                            </a:rPr>
                            <m:t>𝐿</m:t>
                          </m:r>
                        </m:num>
                        <m:den>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num>
                        <m:den>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𝑤</m:t>
                              </m:r>
                            </m:e>
                            <m:sub>
                              <m:r>
                                <a:rPr lang="en-US" sz="3000" b="0" i="1" smtClean="0">
                                  <a:latin typeface="Cambria Math" panose="02040503050406030204" pitchFamily="18" charset="0"/>
                                </a:rPr>
                                <m:t>𝑖</m:t>
                              </m:r>
                            </m:sub>
                          </m:sSub>
                        </m:den>
                      </m:f>
                    </m:oMath>
                  </m:oMathPara>
                </a14:m>
                <a:endParaRPr lang="en-US" sz="3000" dirty="0"/>
              </a:p>
            </p:txBody>
          </p:sp>
        </mc:Choice>
        <mc:Fallback>
          <p:sp>
            <p:nvSpPr>
              <p:cNvPr id="3" name="TextBox 2">
                <a:extLst>
                  <a:ext uri="{FF2B5EF4-FFF2-40B4-BE49-F238E27FC236}">
                    <a16:creationId xmlns:a16="http://schemas.microsoft.com/office/drawing/2014/main" id="{99C8631F-10F6-988B-5380-6A91EBE074DD}"/>
                  </a:ext>
                </a:extLst>
              </p:cNvPr>
              <p:cNvSpPr txBox="1">
                <a:spLocks noRot="1" noChangeAspect="1" noMove="1" noResize="1" noEditPoints="1" noAdjustHandles="1" noChangeArrowheads="1" noChangeShapeType="1" noTextEdit="1"/>
              </p:cNvSpPr>
              <p:nvPr/>
            </p:nvSpPr>
            <p:spPr>
              <a:xfrm>
                <a:off x="7124997" y="2168103"/>
                <a:ext cx="3431388" cy="955903"/>
              </a:xfrm>
              <a:prstGeom prst="rect">
                <a:avLst/>
              </a:prstGeom>
              <a:blipFill>
                <a:blip r:embed="rId2"/>
                <a:stretch>
                  <a:fillRect l="-2583" t="-1316" r="-369"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7021536-FE9F-3DCA-3A31-F55D68E2221F}"/>
                  </a:ext>
                </a:extLst>
              </p:cNvPr>
              <p:cNvSpPr txBox="1"/>
              <p:nvPr/>
            </p:nvSpPr>
            <p:spPr>
              <a:xfrm>
                <a:off x="6096000" y="143590"/>
                <a:ext cx="6282727" cy="10457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latin typeface="Cambria Math" panose="02040503050406030204" pitchFamily="18" charset="0"/>
                          <a:sym typeface="Wingdings" pitchFamily="2" charset="2"/>
                        </a:rPr>
                        <m:t>Δ</m:t>
                      </m:r>
                      <m:sSub>
                        <m:sSubPr>
                          <m:ctrlPr>
                            <a:rPr lang="en-US" sz="3000" b="0" i="1" smtClean="0">
                              <a:latin typeface="Cambria Math" panose="02040503050406030204" pitchFamily="18" charset="0"/>
                              <a:sym typeface="Wingdings" pitchFamily="2" charset="2"/>
                            </a:rPr>
                          </m:ctrlPr>
                        </m:sSubPr>
                        <m:e>
                          <m:r>
                            <a:rPr lang="en-US" sz="3000" b="0" i="1" smtClean="0">
                              <a:latin typeface="Cambria Math" panose="02040503050406030204" pitchFamily="18" charset="0"/>
                              <a:sym typeface="Wingdings" pitchFamily="2" charset="2"/>
                            </a:rPr>
                            <m:t>𝑤</m:t>
                          </m:r>
                        </m:e>
                        <m:sub>
                          <m:r>
                            <a:rPr lang="en-US" sz="3000" b="0" i="1" smtClean="0">
                              <a:latin typeface="Cambria Math" panose="02040503050406030204" pitchFamily="18" charset="0"/>
                              <a:sym typeface="Wingdings" pitchFamily="2" charset="2"/>
                            </a:rPr>
                            <m:t>𝑖</m:t>
                          </m:r>
                        </m:sub>
                      </m:sSub>
                      <m:r>
                        <a:rPr lang="en-US" sz="3000" b="0" i="1" smtClean="0">
                          <a:latin typeface="Cambria Math" panose="02040503050406030204" pitchFamily="18" charset="0"/>
                          <a:sym typeface="Wingdings" pitchFamily="2" charset="2"/>
                        </a:rPr>
                        <m:t>=−</m:t>
                      </m:r>
                      <m:r>
                        <a:rPr lang="en-US" sz="3000" b="0" i="1" smtClean="0">
                          <a:latin typeface="Cambria Math" panose="02040503050406030204" pitchFamily="18" charset="0"/>
                          <a:sym typeface="Wingdings" pitchFamily="2" charset="2"/>
                        </a:rPr>
                        <m:t>𝑠𝑡𝑒𝑝𝑠𝑖𝑧𝑒</m:t>
                      </m:r>
                      <m:r>
                        <a:rPr lang="en-US" sz="3000" b="0" i="1" smtClean="0">
                          <a:latin typeface="Cambria Math" panose="02040503050406030204" pitchFamily="18" charset="0"/>
                          <a:sym typeface="Wingdings" pitchFamily="2" charset="2"/>
                        </a:rPr>
                        <m:t>∗</m:t>
                      </m:r>
                      <m:f>
                        <m:fPr>
                          <m:ctrlPr>
                            <a:rPr lang="en-US" sz="3000" b="0" i="1" smtClean="0">
                              <a:solidFill>
                                <a:srgbClr val="7030A0"/>
                              </a:solidFill>
                              <a:latin typeface="Cambria Math" panose="02040503050406030204" pitchFamily="18" charset="0"/>
                              <a:sym typeface="Wingdings" pitchFamily="2" charset="2"/>
                            </a:rPr>
                          </m:ctrlPr>
                        </m:fPr>
                        <m:num>
                          <m:r>
                            <a:rPr lang="en-US" sz="3000" b="0" i="1" smtClean="0">
                              <a:solidFill>
                                <a:srgbClr val="7030A0"/>
                              </a:solidFill>
                              <a:latin typeface="Cambria Math" panose="02040503050406030204" pitchFamily="18" charset="0"/>
                              <a:sym typeface="Wingdings" pitchFamily="2" charset="2"/>
                            </a:rPr>
                            <m:t>𝜕</m:t>
                          </m:r>
                          <m:r>
                            <a:rPr lang="en-US" sz="3000" b="0" i="1" smtClean="0">
                              <a:solidFill>
                                <a:srgbClr val="7030A0"/>
                              </a:solidFill>
                              <a:latin typeface="Cambria Math" panose="02040503050406030204" pitchFamily="18" charset="0"/>
                              <a:sym typeface="Wingdings" pitchFamily="2" charset="2"/>
                            </a:rPr>
                            <m:t>𝐿</m:t>
                          </m:r>
                        </m:num>
                        <m:den>
                          <m:r>
                            <a:rPr lang="en-US" sz="3000" b="0" i="1" smtClean="0">
                              <a:solidFill>
                                <a:srgbClr val="7030A0"/>
                              </a:solidFill>
                              <a:latin typeface="Cambria Math" panose="02040503050406030204" pitchFamily="18" charset="0"/>
                              <a:sym typeface="Wingdings" pitchFamily="2" charset="2"/>
                            </a:rPr>
                            <m:t>𝜕</m:t>
                          </m:r>
                          <m:sSub>
                            <m:sSubPr>
                              <m:ctrlPr>
                                <a:rPr lang="en-US" sz="3000" b="0" i="1" smtClean="0">
                                  <a:solidFill>
                                    <a:srgbClr val="7030A0"/>
                                  </a:solidFill>
                                  <a:latin typeface="Cambria Math" panose="02040503050406030204" pitchFamily="18" charset="0"/>
                                  <a:sym typeface="Wingdings" pitchFamily="2" charset="2"/>
                                </a:rPr>
                              </m:ctrlPr>
                            </m:sSubPr>
                            <m:e>
                              <m:r>
                                <a:rPr lang="en-US" sz="3000" b="0" i="1" smtClean="0">
                                  <a:solidFill>
                                    <a:srgbClr val="7030A0"/>
                                  </a:solidFill>
                                  <a:latin typeface="Cambria Math" panose="02040503050406030204" pitchFamily="18" charset="0"/>
                                  <a:sym typeface="Wingdings" pitchFamily="2" charset="2"/>
                                </a:rPr>
                                <m:t>𝑤</m:t>
                              </m:r>
                            </m:e>
                            <m:sub>
                              <m:r>
                                <a:rPr lang="en-US" sz="3000" b="0" i="1" smtClean="0">
                                  <a:solidFill>
                                    <a:srgbClr val="7030A0"/>
                                  </a:solidFill>
                                  <a:latin typeface="Cambria Math" panose="02040503050406030204" pitchFamily="18" charset="0"/>
                                  <a:sym typeface="Wingdings" pitchFamily="2" charset="2"/>
                                </a:rPr>
                                <m:t>𝑖</m:t>
                              </m:r>
                            </m:sub>
                          </m:sSub>
                        </m:den>
                      </m:f>
                    </m:oMath>
                  </m:oMathPara>
                </a14:m>
                <a:endParaRPr lang="en-US" sz="3000" dirty="0">
                  <a:sym typeface="Wingdings" pitchFamily="2" charset="2"/>
                </a:endParaRPr>
              </a:p>
            </p:txBody>
          </p:sp>
        </mc:Choice>
        <mc:Fallback>
          <p:sp>
            <p:nvSpPr>
              <p:cNvPr id="5" name="TextBox 4">
                <a:extLst>
                  <a:ext uri="{FF2B5EF4-FFF2-40B4-BE49-F238E27FC236}">
                    <a16:creationId xmlns:a16="http://schemas.microsoft.com/office/drawing/2014/main" id="{97021536-FE9F-3DCA-3A31-F55D68E2221F}"/>
                  </a:ext>
                </a:extLst>
              </p:cNvPr>
              <p:cNvSpPr txBox="1">
                <a:spLocks noRot="1" noChangeAspect="1" noMove="1" noResize="1" noEditPoints="1" noAdjustHandles="1" noChangeArrowheads="1" noChangeShapeType="1" noTextEdit="1"/>
              </p:cNvSpPr>
              <p:nvPr/>
            </p:nvSpPr>
            <p:spPr>
              <a:xfrm>
                <a:off x="6096000" y="143590"/>
                <a:ext cx="6282727" cy="1045735"/>
              </a:xfrm>
              <a:prstGeom prst="rect">
                <a:avLst/>
              </a:prstGeom>
              <a:blipFill>
                <a:blip r:embed="rId3"/>
                <a:stretch>
                  <a:fillRect b="-361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5E6DA1D-44DA-C4A9-8F83-EAFE9502C606}"/>
              </a:ext>
            </a:extLst>
          </p:cNvPr>
          <p:cNvSpPr txBox="1"/>
          <p:nvPr/>
        </p:nvSpPr>
        <p:spPr>
          <a:xfrm>
            <a:off x="321547" y="351692"/>
            <a:ext cx="6777881" cy="553998"/>
          </a:xfrm>
          <a:prstGeom prst="rect">
            <a:avLst/>
          </a:prstGeom>
          <a:noFill/>
        </p:spPr>
        <p:txBody>
          <a:bodyPr wrap="none" rtlCol="0">
            <a:spAutoFit/>
          </a:bodyPr>
          <a:lstStyle/>
          <a:p>
            <a:r>
              <a:rPr lang="en-US" sz="3000" dirty="0"/>
              <a:t>We want to update weights according to</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600EE47-E7AE-75B7-22F8-2AD0AF132050}"/>
                  </a:ext>
                </a:extLst>
              </p:cNvPr>
              <p:cNvSpPr txBox="1"/>
              <p:nvPr/>
            </p:nvSpPr>
            <p:spPr>
              <a:xfrm>
                <a:off x="826200" y="3264363"/>
                <a:ext cx="425552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𝐿</m:t>
                      </m:r>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latin typeface="Cambria Math" panose="02040503050406030204" pitchFamily="18" charset="0"/>
                                </a:rPr>
                                <m:t>𝑡𝑟𝑢𝑒</m:t>
                              </m:r>
                            </m:e>
                          </m:d>
                        </m:e>
                        <m:sup>
                          <m:r>
                            <a:rPr lang="en-US" sz="3000" b="0" i="1" smtClean="0">
                              <a:latin typeface="Cambria Math" panose="02040503050406030204" pitchFamily="18" charset="0"/>
                            </a:rPr>
                            <m:t>2</m:t>
                          </m:r>
                        </m:sup>
                      </m:sSup>
                    </m:oMath>
                  </m:oMathPara>
                </a14:m>
                <a:endParaRPr lang="en-US" sz="3000" dirty="0"/>
              </a:p>
            </p:txBody>
          </p:sp>
        </mc:Choice>
        <mc:Fallback>
          <p:sp>
            <p:nvSpPr>
              <p:cNvPr id="7" name="TextBox 6">
                <a:extLst>
                  <a:ext uri="{FF2B5EF4-FFF2-40B4-BE49-F238E27FC236}">
                    <a16:creationId xmlns:a16="http://schemas.microsoft.com/office/drawing/2014/main" id="{B600EE47-E7AE-75B7-22F8-2AD0AF132050}"/>
                  </a:ext>
                </a:extLst>
              </p:cNvPr>
              <p:cNvSpPr txBox="1">
                <a:spLocks noRot="1" noChangeAspect="1" noMove="1" noResize="1" noEditPoints="1" noAdjustHandles="1" noChangeArrowheads="1" noChangeShapeType="1" noTextEdit="1"/>
              </p:cNvSpPr>
              <p:nvPr/>
            </p:nvSpPr>
            <p:spPr>
              <a:xfrm>
                <a:off x="826200" y="3264363"/>
                <a:ext cx="4255524" cy="461665"/>
              </a:xfrm>
              <a:prstGeom prst="rect">
                <a:avLst/>
              </a:prstGeom>
              <a:blipFill>
                <a:blip r:embed="rId4"/>
                <a:stretch>
                  <a:fillRect l="-1786" r="-298"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0E504789-878D-3AC8-17FC-77C9C0132E8A}"/>
                  </a:ext>
                </a:extLst>
              </p:cNvPr>
              <p:cNvSpPr txBox="1"/>
              <p:nvPr/>
            </p:nvSpPr>
            <p:spPr>
              <a:xfrm>
                <a:off x="4414843" y="4300695"/>
                <a:ext cx="4648769" cy="8888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m:t>
                          </m:r>
                          <m:r>
                            <a:rPr lang="en-US" sz="2500" b="0" i="1" smtClean="0">
                              <a:latin typeface="Cambria Math" panose="02040503050406030204" pitchFamily="18" charset="0"/>
                            </a:rPr>
                            <m:t>𝐿</m:t>
                          </m:r>
                        </m:num>
                        <m:den>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𝑛</m:t>
                              </m:r>
                            </m:e>
                            <m:sub>
                              <m:r>
                                <a:rPr lang="en-US" sz="2500" b="0" i="1" smtClean="0">
                                  <a:latin typeface="Cambria Math" panose="02040503050406030204" pitchFamily="18" charset="0"/>
                                </a:rPr>
                                <m:t>𝑜𝑢𝑡</m:t>
                              </m:r>
                            </m:sub>
                          </m:sSub>
                        </m:den>
                      </m:f>
                      <m:r>
                        <a:rPr lang="en-US" sz="2500" b="0" i="1" smtClean="0">
                          <a:latin typeface="Cambria Math" panose="02040503050406030204" pitchFamily="18" charset="0"/>
                        </a:rPr>
                        <m:t>=2∗(</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𝑛</m:t>
                          </m:r>
                        </m:e>
                        <m:sub>
                          <m:r>
                            <a:rPr lang="en-US" sz="2500" b="0" i="1" smtClean="0">
                              <a:latin typeface="Cambria Math" panose="02040503050406030204" pitchFamily="18" charset="0"/>
                            </a:rPr>
                            <m:t>𝑜𝑢𝑡</m:t>
                          </m:r>
                        </m:sub>
                      </m:sSub>
                      <m:r>
                        <a:rPr lang="en-US" sz="2500" b="0" i="1" smtClean="0">
                          <a:latin typeface="Cambria Math" panose="02040503050406030204" pitchFamily="18" charset="0"/>
                        </a:rPr>
                        <m:t>−</m:t>
                      </m:r>
                      <m:r>
                        <a:rPr lang="en-US" sz="2500" b="0" i="1" smtClean="0">
                          <a:latin typeface="Cambria Math" panose="02040503050406030204" pitchFamily="18" charset="0"/>
                        </a:rPr>
                        <m:t>𝑡𝑟𝑢𝑒</m:t>
                      </m:r>
                      <m:r>
                        <a:rPr lang="en-US" sz="2500" b="0" i="1" smtClean="0">
                          <a:latin typeface="Cambria Math" panose="02040503050406030204" pitchFamily="18" charset="0"/>
                        </a:rPr>
                        <m:t>)</m:t>
                      </m:r>
                    </m:oMath>
                  </m:oMathPara>
                </a14:m>
                <a:endParaRPr lang="en-US" sz="2500" dirty="0"/>
              </a:p>
            </p:txBody>
          </p:sp>
        </mc:Choice>
        <mc:Fallback>
          <p:sp>
            <p:nvSpPr>
              <p:cNvPr id="9" name="TextBox 8">
                <a:extLst>
                  <a:ext uri="{FF2B5EF4-FFF2-40B4-BE49-F238E27FC236}">
                    <a16:creationId xmlns:a16="http://schemas.microsoft.com/office/drawing/2014/main" id="{0E504789-878D-3AC8-17FC-77C9C0132E8A}"/>
                  </a:ext>
                </a:extLst>
              </p:cNvPr>
              <p:cNvSpPr txBox="1">
                <a:spLocks noRot="1" noChangeAspect="1" noMove="1" noResize="1" noEditPoints="1" noAdjustHandles="1" noChangeArrowheads="1" noChangeShapeType="1" noTextEdit="1"/>
              </p:cNvSpPr>
              <p:nvPr/>
            </p:nvSpPr>
            <p:spPr>
              <a:xfrm>
                <a:off x="4414843" y="4300695"/>
                <a:ext cx="4648769" cy="888833"/>
              </a:xfrm>
              <a:prstGeom prst="rect">
                <a:avLst/>
              </a:prstGeom>
              <a:blipFill>
                <a:blip r:embed="rId5"/>
                <a:stretch>
                  <a:fillRect b="-14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2EA67D4-1812-F0DF-E560-B5DBD0FC3D40}"/>
                  </a:ext>
                </a:extLst>
              </p:cNvPr>
              <p:cNvSpPr txBox="1"/>
              <p:nvPr/>
            </p:nvSpPr>
            <p:spPr>
              <a:xfrm>
                <a:off x="826200" y="1983437"/>
                <a:ext cx="3281476" cy="11178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𝑛</m:t>
                          </m:r>
                        </m:e>
                        <m:sub>
                          <m:r>
                            <a:rPr lang="en-US" sz="3000" b="0" i="1" smtClean="0">
                              <a:latin typeface="Cambria Math" panose="02040503050406030204" pitchFamily="18" charset="0"/>
                            </a:rPr>
                            <m:t>𝑜𝑢𝑡</m:t>
                          </m:r>
                        </m:sub>
                      </m:sSub>
                      <m:r>
                        <a:rPr lang="en-US" sz="3000" b="0" i="1" smtClean="0">
                          <a:latin typeface="Cambria Math" panose="02040503050406030204" pitchFamily="18" charset="0"/>
                        </a:rPr>
                        <m:t>=</m:t>
                      </m:r>
                      <m:r>
                        <a:rPr lang="en-US" sz="3000" b="0" i="1" smtClean="0">
                          <a:solidFill>
                            <a:srgbClr val="FFC000"/>
                          </a:solidFill>
                          <a:latin typeface="Cambria Math" panose="02040503050406030204" pitchFamily="18" charset="0"/>
                        </a:rPr>
                        <m:t>𝑏</m:t>
                      </m:r>
                      <m:r>
                        <a:rPr lang="en-US" sz="3000" b="0" i="1" smtClean="0">
                          <a:latin typeface="Cambria Math" panose="02040503050406030204" pitchFamily="18" charset="0"/>
                        </a:rPr>
                        <m:t>+</m:t>
                      </m:r>
                      <m:nary>
                        <m:naryPr>
                          <m:chr m:val="∑"/>
                          <m:subHide m:val="on"/>
                          <m:supHide m:val="on"/>
                          <m:ctrlPr>
                            <a:rPr lang="en-US" sz="3000" b="0" i="1" smtClean="0">
                              <a:latin typeface="Cambria Math" panose="02040503050406030204" pitchFamily="18" charset="0"/>
                            </a:rPr>
                          </m:ctrlPr>
                        </m:naryPr>
                        <m:sub/>
                        <m:sup/>
                        <m:e>
                          <m:sSub>
                            <m:sSubPr>
                              <m:ctrlPr>
                                <a:rPr lang="en-US" sz="3000" b="0" i="1" smtClean="0">
                                  <a:solidFill>
                                    <a:srgbClr val="00B050"/>
                                  </a:solidFill>
                                  <a:latin typeface="Cambria Math" panose="02040503050406030204" pitchFamily="18" charset="0"/>
                                </a:rPr>
                              </m:ctrlPr>
                            </m:sSubPr>
                            <m:e>
                              <m:r>
                                <a:rPr lang="en-US" sz="3000" b="0" i="1" smtClean="0">
                                  <a:solidFill>
                                    <a:srgbClr val="00B050"/>
                                  </a:solidFill>
                                  <a:latin typeface="Cambria Math" panose="02040503050406030204" pitchFamily="18" charset="0"/>
                                </a:rPr>
                                <m:t>𝑤</m:t>
                              </m:r>
                            </m:e>
                            <m:sub>
                              <m:r>
                                <a:rPr lang="en-US" sz="3000" b="0" i="1" smtClean="0">
                                  <a:solidFill>
                                    <a:srgbClr val="00B050"/>
                                  </a:solidFill>
                                  <a:latin typeface="Cambria Math" panose="02040503050406030204" pitchFamily="18" charset="0"/>
                                </a:rPr>
                                <m:t>𝑖</m:t>
                              </m:r>
                            </m:sub>
                          </m:sSub>
                          <m:sSub>
                            <m:sSubPr>
                              <m:ctrlPr>
                                <a:rPr lang="en-US" sz="3000" b="0" i="1" smtClean="0">
                                  <a:solidFill>
                                    <a:srgbClr val="FF0000"/>
                                  </a:solidFill>
                                  <a:latin typeface="Cambria Math" panose="02040503050406030204" pitchFamily="18" charset="0"/>
                                </a:rPr>
                              </m:ctrlPr>
                            </m:sSubPr>
                            <m:e>
                              <m:r>
                                <a:rPr lang="en-US" sz="3000" b="0" i="1" smtClean="0">
                                  <a:solidFill>
                                    <a:srgbClr val="FF0000"/>
                                  </a:solidFill>
                                  <a:latin typeface="Cambria Math" panose="02040503050406030204" pitchFamily="18" charset="0"/>
                                </a:rPr>
                                <m:t>𝑛</m:t>
                              </m:r>
                            </m:e>
                            <m:sub>
                              <m:r>
                                <a:rPr lang="en-US" sz="3000" b="0" i="1" smtClean="0">
                                  <a:solidFill>
                                    <a:srgbClr val="FF0000"/>
                                  </a:solidFill>
                                  <a:latin typeface="Cambria Math" panose="02040503050406030204" pitchFamily="18" charset="0"/>
                                </a:rPr>
                                <m:t>𝑖</m:t>
                              </m:r>
                            </m:sub>
                          </m:sSub>
                        </m:e>
                      </m:nary>
                    </m:oMath>
                  </m:oMathPara>
                </a14:m>
                <a:endParaRPr lang="en-US" sz="3000" dirty="0"/>
              </a:p>
            </p:txBody>
          </p:sp>
        </mc:Choice>
        <mc:Fallback>
          <p:sp>
            <p:nvSpPr>
              <p:cNvPr id="10" name="TextBox 9">
                <a:extLst>
                  <a:ext uri="{FF2B5EF4-FFF2-40B4-BE49-F238E27FC236}">
                    <a16:creationId xmlns:a16="http://schemas.microsoft.com/office/drawing/2014/main" id="{E2EA67D4-1812-F0DF-E560-B5DBD0FC3D40}"/>
                  </a:ext>
                </a:extLst>
              </p:cNvPr>
              <p:cNvSpPr txBox="1">
                <a:spLocks noRot="1" noChangeAspect="1" noMove="1" noResize="1" noEditPoints="1" noAdjustHandles="1" noChangeArrowheads="1" noChangeShapeType="1" noTextEdit="1"/>
              </p:cNvSpPr>
              <p:nvPr/>
            </p:nvSpPr>
            <p:spPr>
              <a:xfrm>
                <a:off x="826200" y="1983437"/>
                <a:ext cx="3281476" cy="1117807"/>
              </a:xfrm>
              <a:prstGeom prst="rect">
                <a:avLst/>
              </a:prstGeom>
              <a:blipFill>
                <a:blip r:embed="rId6"/>
                <a:stretch>
                  <a:fillRect l="-1544" t="-147191" r="-3089" b="-20337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18E0FA3B-0E4E-1AA7-0B92-094A230E7255}"/>
              </a:ext>
            </a:extLst>
          </p:cNvPr>
          <p:cNvSpPr/>
          <p:nvPr/>
        </p:nvSpPr>
        <p:spPr>
          <a:xfrm>
            <a:off x="673240" y="1467059"/>
            <a:ext cx="4793063" cy="258242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8AD717E-DF65-9CA0-1C17-CB31AE1CF900}"/>
              </a:ext>
            </a:extLst>
          </p:cNvPr>
          <p:cNvSpPr txBox="1"/>
          <p:nvPr/>
        </p:nvSpPr>
        <p:spPr>
          <a:xfrm>
            <a:off x="826200" y="1614105"/>
            <a:ext cx="1320618" cy="553998"/>
          </a:xfrm>
          <a:prstGeom prst="rect">
            <a:avLst/>
          </a:prstGeom>
          <a:noFill/>
        </p:spPr>
        <p:txBody>
          <a:bodyPr wrap="none" rtlCol="0">
            <a:spAutoFit/>
          </a:bodyPr>
          <a:lstStyle/>
          <a:p>
            <a:r>
              <a:rPr lang="en-US" sz="3000" dirty="0"/>
              <a:t>Givens</a:t>
            </a:r>
          </a:p>
        </p:txBody>
      </p:sp>
      <p:cxnSp>
        <p:nvCxnSpPr>
          <p:cNvPr id="4" name="Straight Arrow Connector 3">
            <a:extLst>
              <a:ext uri="{FF2B5EF4-FFF2-40B4-BE49-F238E27FC236}">
                <a16:creationId xmlns:a16="http://schemas.microsoft.com/office/drawing/2014/main" id="{09B0FE78-E72B-C317-EAA4-E4F79C821B11}"/>
              </a:ext>
            </a:extLst>
          </p:cNvPr>
          <p:cNvCxnSpPr/>
          <p:nvPr/>
        </p:nvCxnSpPr>
        <p:spPr>
          <a:xfrm flipH="1">
            <a:off x="7234813" y="3429000"/>
            <a:ext cx="1115367" cy="8716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6D5EA07-BE3E-DAB2-A6F8-92AA5940BA64}"/>
              </a:ext>
            </a:extLst>
          </p:cNvPr>
          <p:cNvCxnSpPr>
            <a:cxnSpLocks/>
          </p:cNvCxnSpPr>
          <p:nvPr/>
        </p:nvCxnSpPr>
        <p:spPr>
          <a:xfrm>
            <a:off x="9937820" y="3264363"/>
            <a:ext cx="180870" cy="1925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55C5C15-1D09-DFF1-8327-122F0C74A564}"/>
                  </a:ext>
                </a:extLst>
              </p:cNvPr>
              <p:cNvSpPr txBox="1"/>
              <p:nvPr/>
            </p:nvSpPr>
            <p:spPr>
              <a:xfrm>
                <a:off x="9073660" y="5423643"/>
                <a:ext cx="1959717" cy="823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𝑛</m:t>
                              </m:r>
                            </m:e>
                            <m:sub>
                              <m:r>
                                <a:rPr lang="en-US" sz="2500" b="0" i="1" smtClean="0">
                                  <a:latin typeface="Cambria Math" panose="02040503050406030204" pitchFamily="18" charset="0"/>
                                </a:rPr>
                                <m:t>𝑜𝑢𝑡</m:t>
                              </m:r>
                            </m:sub>
                          </m:sSub>
                        </m:num>
                        <m:den>
                          <m:r>
                            <a:rPr lang="en-US" sz="2500" b="0" i="1" smtClean="0">
                              <a:latin typeface="Cambria Math" panose="02040503050406030204" pitchFamily="18" charset="0"/>
                            </a:rPr>
                            <m:t>𝜕</m:t>
                          </m:r>
                          <m:r>
                            <a:rPr lang="en-US" sz="2500" b="0" i="1" smtClean="0">
                              <a:latin typeface="Cambria Math" panose="02040503050406030204" pitchFamily="18" charset="0"/>
                            </a:rPr>
                            <m:t>𝑤</m:t>
                          </m:r>
                        </m:den>
                      </m:f>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𝑛</m:t>
                          </m:r>
                        </m:e>
                        <m:sub>
                          <m:r>
                            <a:rPr lang="en-US" sz="2500" b="0" i="1" smtClean="0">
                              <a:latin typeface="Cambria Math" panose="02040503050406030204" pitchFamily="18" charset="0"/>
                            </a:rPr>
                            <m:t>𝑖</m:t>
                          </m:r>
                        </m:sub>
                      </m:sSub>
                    </m:oMath>
                  </m:oMathPara>
                </a14:m>
                <a:endParaRPr lang="en-US" sz="2500" dirty="0"/>
              </a:p>
            </p:txBody>
          </p:sp>
        </mc:Choice>
        <mc:Fallback>
          <p:sp>
            <p:nvSpPr>
              <p:cNvPr id="2" name="TextBox 1">
                <a:extLst>
                  <a:ext uri="{FF2B5EF4-FFF2-40B4-BE49-F238E27FC236}">
                    <a16:creationId xmlns:a16="http://schemas.microsoft.com/office/drawing/2014/main" id="{755C5C15-1D09-DFF1-8327-122F0C74A564}"/>
                  </a:ext>
                </a:extLst>
              </p:cNvPr>
              <p:cNvSpPr txBox="1">
                <a:spLocks noRot="1" noChangeAspect="1" noMove="1" noResize="1" noEditPoints="1" noAdjustHandles="1" noChangeArrowheads="1" noChangeShapeType="1" noTextEdit="1"/>
              </p:cNvSpPr>
              <p:nvPr/>
            </p:nvSpPr>
            <p:spPr>
              <a:xfrm>
                <a:off x="9073660" y="5423643"/>
                <a:ext cx="1959717" cy="823815"/>
              </a:xfrm>
              <a:prstGeom prst="rect">
                <a:avLst/>
              </a:prstGeom>
              <a:blipFill>
                <a:blip r:embed="rId7"/>
                <a:stretch>
                  <a:fillRect b="-606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0872B269-61A1-3513-1EA6-75834EDF795E}"/>
                  </a:ext>
                </a:extLst>
              </p:cNvPr>
              <p:cNvSpPr txBox="1"/>
              <p:nvPr/>
            </p:nvSpPr>
            <p:spPr>
              <a:xfrm>
                <a:off x="214633" y="5889448"/>
                <a:ext cx="8400420"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solidFill>
                            <a:srgbClr val="00B050"/>
                          </a:solidFill>
                          <a:latin typeface="Cambria Math" panose="02040503050406030204" pitchFamily="18" charset="0"/>
                          <a:sym typeface="Wingdings" pitchFamily="2" charset="2"/>
                        </a:rPr>
                        <m:t>Δ</m:t>
                      </m:r>
                      <m:sSub>
                        <m:sSubPr>
                          <m:ctrlPr>
                            <a:rPr lang="en-US" sz="3000" b="0" i="1" smtClean="0">
                              <a:solidFill>
                                <a:srgbClr val="00B050"/>
                              </a:solidFill>
                              <a:latin typeface="Cambria Math" panose="02040503050406030204" pitchFamily="18" charset="0"/>
                              <a:sym typeface="Wingdings" pitchFamily="2" charset="2"/>
                            </a:rPr>
                          </m:ctrlPr>
                        </m:sSubPr>
                        <m:e>
                          <m:r>
                            <a:rPr lang="en-US" sz="3000" b="0" i="1" smtClean="0">
                              <a:solidFill>
                                <a:srgbClr val="00B050"/>
                              </a:solidFill>
                              <a:latin typeface="Cambria Math" panose="02040503050406030204" pitchFamily="18" charset="0"/>
                              <a:sym typeface="Wingdings" pitchFamily="2" charset="2"/>
                            </a:rPr>
                            <m:t>𝑤</m:t>
                          </m:r>
                        </m:e>
                        <m:sub>
                          <m:r>
                            <a:rPr lang="en-US" sz="3000" b="0" i="1" smtClean="0">
                              <a:solidFill>
                                <a:srgbClr val="00B050"/>
                              </a:solidFill>
                              <a:latin typeface="Cambria Math" panose="02040503050406030204" pitchFamily="18" charset="0"/>
                              <a:sym typeface="Wingdings" pitchFamily="2" charset="2"/>
                            </a:rPr>
                            <m:t>𝑖</m:t>
                          </m:r>
                        </m:sub>
                      </m:sSub>
                      <m:r>
                        <a:rPr lang="en-US" sz="3000" b="0" i="1" smtClean="0">
                          <a:solidFill>
                            <a:srgbClr val="00B050"/>
                          </a:solidFill>
                          <a:latin typeface="Cambria Math" panose="02040503050406030204" pitchFamily="18" charset="0"/>
                          <a:sym typeface="Wingdings" pitchFamily="2" charset="2"/>
                        </a:rPr>
                        <m:t>=−</m:t>
                      </m:r>
                      <m:r>
                        <a:rPr lang="en-US" sz="3000" b="0" i="1" smtClean="0">
                          <a:solidFill>
                            <a:srgbClr val="00B050"/>
                          </a:solidFill>
                          <a:latin typeface="Cambria Math" panose="02040503050406030204" pitchFamily="18" charset="0"/>
                          <a:sym typeface="Wingdings" pitchFamily="2" charset="2"/>
                        </a:rPr>
                        <m:t>𝑠𝑡𝑒𝑝𝑠𝑖𝑧𝑒</m:t>
                      </m:r>
                      <m:r>
                        <a:rPr lang="en-US" sz="3000" b="0" i="1" smtClean="0">
                          <a:solidFill>
                            <a:srgbClr val="00B050"/>
                          </a:solidFill>
                          <a:latin typeface="Cambria Math" panose="02040503050406030204" pitchFamily="18" charset="0"/>
                          <a:sym typeface="Wingdings" pitchFamily="2" charset="2"/>
                        </a:rPr>
                        <m:t>∗2∗</m:t>
                      </m:r>
                      <m:d>
                        <m:dPr>
                          <m:ctrlPr>
                            <a:rPr lang="en-US" sz="3000" b="0" i="1" smtClean="0">
                              <a:solidFill>
                                <a:srgbClr val="00B050"/>
                              </a:solidFill>
                              <a:latin typeface="Cambria Math" panose="02040503050406030204" pitchFamily="18" charset="0"/>
                              <a:sym typeface="Wingdings" pitchFamily="2" charset="2"/>
                            </a:rPr>
                          </m:ctrlPr>
                        </m:dPr>
                        <m:e>
                          <m:sSub>
                            <m:sSubPr>
                              <m:ctrlPr>
                                <a:rPr lang="en-US" sz="3000" b="0" i="1" smtClean="0">
                                  <a:solidFill>
                                    <a:srgbClr val="00B050"/>
                                  </a:solidFill>
                                  <a:latin typeface="Cambria Math" panose="02040503050406030204" pitchFamily="18" charset="0"/>
                                  <a:sym typeface="Wingdings" pitchFamily="2" charset="2"/>
                                </a:rPr>
                              </m:ctrlPr>
                            </m:sSubPr>
                            <m:e>
                              <m:r>
                                <a:rPr lang="en-US" sz="3000" b="0" i="1" smtClean="0">
                                  <a:solidFill>
                                    <a:srgbClr val="00B050"/>
                                  </a:solidFill>
                                  <a:latin typeface="Cambria Math" panose="02040503050406030204" pitchFamily="18" charset="0"/>
                                  <a:sym typeface="Wingdings" pitchFamily="2" charset="2"/>
                                </a:rPr>
                                <m:t>𝑛</m:t>
                              </m:r>
                            </m:e>
                            <m:sub>
                              <m:r>
                                <a:rPr lang="en-US" sz="3000" b="0" i="1" smtClean="0">
                                  <a:solidFill>
                                    <a:srgbClr val="00B050"/>
                                  </a:solidFill>
                                  <a:latin typeface="Cambria Math" panose="02040503050406030204" pitchFamily="18" charset="0"/>
                                  <a:sym typeface="Wingdings" pitchFamily="2" charset="2"/>
                                </a:rPr>
                                <m:t>𝑜𝑢𝑡</m:t>
                              </m:r>
                            </m:sub>
                          </m:sSub>
                          <m:r>
                            <a:rPr lang="en-US" sz="3000" b="0" i="1" smtClean="0">
                              <a:solidFill>
                                <a:srgbClr val="00B050"/>
                              </a:solidFill>
                              <a:latin typeface="Cambria Math" panose="02040503050406030204" pitchFamily="18" charset="0"/>
                              <a:sym typeface="Wingdings" pitchFamily="2" charset="2"/>
                            </a:rPr>
                            <m:t>−</m:t>
                          </m:r>
                          <m:r>
                            <a:rPr lang="en-US" sz="3000" b="0" i="1" smtClean="0">
                              <a:solidFill>
                                <a:srgbClr val="00B050"/>
                              </a:solidFill>
                              <a:latin typeface="Cambria Math" panose="02040503050406030204" pitchFamily="18" charset="0"/>
                              <a:sym typeface="Wingdings" pitchFamily="2" charset="2"/>
                            </a:rPr>
                            <m:t>𝑡𝑟𝑢𝑒</m:t>
                          </m:r>
                        </m:e>
                      </m:d>
                      <m:r>
                        <a:rPr lang="en-US" sz="3000" b="0" i="1" smtClean="0">
                          <a:solidFill>
                            <a:srgbClr val="00B050"/>
                          </a:solidFill>
                          <a:latin typeface="Cambria Math" panose="02040503050406030204" pitchFamily="18" charset="0"/>
                          <a:sym typeface="Wingdings" pitchFamily="2" charset="2"/>
                        </a:rPr>
                        <m:t>∗</m:t>
                      </m:r>
                      <m:sSub>
                        <m:sSubPr>
                          <m:ctrlPr>
                            <a:rPr lang="en-US" sz="3000" b="0" i="1" smtClean="0">
                              <a:solidFill>
                                <a:srgbClr val="00B050"/>
                              </a:solidFill>
                              <a:latin typeface="Cambria Math" panose="02040503050406030204" pitchFamily="18" charset="0"/>
                              <a:sym typeface="Wingdings" pitchFamily="2" charset="2"/>
                            </a:rPr>
                          </m:ctrlPr>
                        </m:sSubPr>
                        <m:e>
                          <m:r>
                            <a:rPr lang="en-US" sz="3000" b="0" i="1" smtClean="0">
                              <a:solidFill>
                                <a:srgbClr val="00B050"/>
                              </a:solidFill>
                              <a:latin typeface="Cambria Math" panose="02040503050406030204" pitchFamily="18" charset="0"/>
                              <a:sym typeface="Wingdings" pitchFamily="2" charset="2"/>
                            </a:rPr>
                            <m:t>𝑛</m:t>
                          </m:r>
                        </m:e>
                        <m:sub>
                          <m:r>
                            <a:rPr lang="en-US" sz="3000" b="0" i="1" smtClean="0">
                              <a:solidFill>
                                <a:srgbClr val="00B050"/>
                              </a:solidFill>
                              <a:latin typeface="Cambria Math" panose="02040503050406030204" pitchFamily="18" charset="0"/>
                              <a:sym typeface="Wingdings" pitchFamily="2" charset="2"/>
                            </a:rPr>
                            <m:t>𝑖</m:t>
                          </m:r>
                        </m:sub>
                      </m:sSub>
                    </m:oMath>
                  </m:oMathPara>
                </a14:m>
                <a:endParaRPr lang="en-US" sz="3000" dirty="0">
                  <a:solidFill>
                    <a:srgbClr val="00B050"/>
                  </a:solidFill>
                  <a:sym typeface="Wingdings" pitchFamily="2" charset="2"/>
                </a:endParaRPr>
              </a:p>
            </p:txBody>
          </p:sp>
        </mc:Choice>
        <mc:Fallback>
          <p:sp>
            <p:nvSpPr>
              <p:cNvPr id="16" name="TextBox 15">
                <a:extLst>
                  <a:ext uri="{FF2B5EF4-FFF2-40B4-BE49-F238E27FC236}">
                    <a16:creationId xmlns:a16="http://schemas.microsoft.com/office/drawing/2014/main" id="{0872B269-61A1-3513-1EA6-75834EDF795E}"/>
                  </a:ext>
                </a:extLst>
              </p:cNvPr>
              <p:cNvSpPr txBox="1">
                <a:spLocks noRot="1" noChangeAspect="1" noMove="1" noResize="1" noEditPoints="1" noAdjustHandles="1" noChangeArrowheads="1" noChangeShapeType="1" noTextEdit="1"/>
              </p:cNvSpPr>
              <p:nvPr/>
            </p:nvSpPr>
            <p:spPr>
              <a:xfrm>
                <a:off x="214633" y="5889448"/>
                <a:ext cx="8400420" cy="553998"/>
              </a:xfrm>
              <a:prstGeom prst="rect">
                <a:avLst/>
              </a:prstGeom>
              <a:blipFill>
                <a:blip r:embed="rId8"/>
                <a:stretch>
                  <a:fillRect b="-15556"/>
                </a:stretch>
              </a:blipFill>
            </p:spPr>
            <p:txBody>
              <a:bodyPr/>
              <a:lstStyle/>
              <a:p>
                <a:r>
                  <a:rPr lang="en-US">
                    <a:noFill/>
                  </a:rPr>
                  <a:t> </a:t>
                </a:r>
              </a:p>
            </p:txBody>
          </p:sp>
        </mc:Fallback>
      </mc:AlternateContent>
    </p:spTree>
    <p:extLst>
      <p:ext uri="{BB962C8B-B14F-4D97-AF65-F5344CB8AC3E}">
        <p14:creationId xmlns:p14="http://schemas.microsoft.com/office/powerpoint/2010/main" val="2540120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ACB76-603D-85FD-B34C-27AEB27BCB8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7EE24E7B-8B0B-ECCC-25C7-740D0EF63E6D}"/>
                  </a:ext>
                </a:extLst>
              </p:cNvPr>
              <p:cNvSpPr txBox="1"/>
              <p:nvPr/>
            </p:nvSpPr>
            <p:spPr>
              <a:xfrm>
                <a:off x="2558465" y="4854418"/>
                <a:ext cx="7178388" cy="1754326"/>
              </a:xfrm>
              <a:prstGeom prst="rect">
                <a:avLst/>
              </a:prstGeom>
              <a:noFill/>
            </p:spPr>
            <p:txBody>
              <a:bodyPr wrap="square" rtlCol="0">
                <a:spAutoFit/>
              </a:bodyPr>
              <a:lstStyle/>
              <a:p>
                <a:r>
                  <a:rPr lang="en-US" b="0" dirty="0"/>
                  <a:t>Lets suppose we want this to represent the function </a:t>
                </a:r>
                <a14:m>
                  <m:oMath xmlns:m="http://schemas.openxmlformats.org/officeDocument/2006/math">
                    <m:r>
                      <m:rPr>
                        <m:sty m:val="p"/>
                      </m:rPr>
                      <a:rPr lang="en-US" b="0" i="0" smtClean="0">
                        <a:latin typeface="Cambria Math" panose="02040503050406030204" pitchFamily="18" charset="0"/>
                      </a:rPr>
                      <m:t>f</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x</m:t>
                        </m:r>
                      </m:e>
                    </m:d>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r>
                  <a:rPr lang="en-US" dirty="0"/>
                  <a:t>. </a:t>
                </a:r>
              </a:p>
              <a:p>
                <a:endParaRPr lang="en-US" dirty="0"/>
              </a:p>
              <a:p>
                <a:r>
                  <a:rPr lang="en-US" dirty="0"/>
                  <a:t>It should’ve output </a:t>
                </a:r>
                <a14:m>
                  <m:oMath xmlns:m="http://schemas.openxmlformats.org/officeDocument/2006/math">
                    <m:r>
                      <m:rPr>
                        <m:sty m:val="p"/>
                      </m:rPr>
                      <a:rPr lang="en-US">
                        <a:latin typeface="Cambria Math" panose="02040503050406030204" pitchFamily="18" charset="0"/>
                      </a:rPr>
                      <m:t>f</m:t>
                    </m:r>
                    <m:d>
                      <m:dPr>
                        <m:ctrlPr>
                          <a:rPr lang="en-US" i="1">
                            <a:latin typeface="Cambria Math" panose="02040503050406030204" pitchFamily="18" charset="0"/>
                          </a:rPr>
                        </m:ctrlPr>
                      </m:dPr>
                      <m:e>
                        <m:r>
                          <a:rPr lang="en-US" b="0" i="0" smtClean="0">
                            <a:latin typeface="Cambria Math" panose="02040503050406030204" pitchFamily="18" charset="0"/>
                          </a:rPr>
                          <m:t>−1</m:t>
                        </m:r>
                      </m:e>
                    </m:d>
                    <m:r>
                      <a:rPr lang="en-US" b="0" i="1" smtClean="0">
                        <a:latin typeface="Cambria Math" panose="02040503050406030204" pitchFamily="18" charset="0"/>
                      </a:rPr>
                      <m:t>=1</m:t>
                    </m:r>
                  </m:oMath>
                </a14:m>
                <a:r>
                  <a:rPr lang="en-US" dirty="0"/>
                  <a:t>, but instead we got 8.</a:t>
                </a:r>
              </a:p>
              <a:p>
                <a:endParaRPr lang="en-US" dirty="0"/>
              </a:p>
              <a:p>
                <a:r>
                  <a:rPr lang="en-US" dirty="0"/>
                  <a:t>We need to update the weights and biases so that next time we input -1 the model outputs something closer to 1.</a:t>
                </a:r>
              </a:p>
            </p:txBody>
          </p:sp>
        </mc:Choice>
        <mc:Fallback>
          <p:sp>
            <p:nvSpPr>
              <p:cNvPr id="27" name="TextBox 26">
                <a:extLst>
                  <a:ext uri="{FF2B5EF4-FFF2-40B4-BE49-F238E27FC236}">
                    <a16:creationId xmlns:a16="http://schemas.microsoft.com/office/drawing/2014/main" id="{7EE24E7B-8B0B-ECCC-25C7-740D0EF63E6D}"/>
                  </a:ext>
                </a:extLst>
              </p:cNvPr>
              <p:cNvSpPr txBox="1">
                <a:spLocks noRot="1" noChangeAspect="1" noMove="1" noResize="1" noEditPoints="1" noAdjustHandles="1" noChangeArrowheads="1" noChangeShapeType="1" noTextEdit="1"/>
              </p:cNvSpPr>
              <p:nvPr/>
            </p:nvSpPr>
            <p:spPr>
              <a:xfrm>
                <a:off x="2558465" y="4854418"/>
                <a:ext cx="7178388" cy="1754326"/>
              </a:xfrm>
              <a:prstGeom prst="rect">
                <a:avLst/>
              </a:prstGeom>
              <a:blipFill>
                <a:blip r:embed="rId2"/>
                <a:stretch>
                  <a:fillRect l="-707" t="-1439" r="-353" b="-50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Oval 27">
                <a:extLst>
                  <a:ext uri="{FF2B5EF4-FFF2-40B4-BE49-F238E27FC236}">
                    <a16:creationId xmlns:a16="http://schemas.microsoft.com/office/drawing/2014/main" id="{78839419-4857-E7C0-1D4B-42751EDF3B71}"/>
                  </a:ext>
                </a:extLst>
              </p:cNvPr>
              <p:cNvSpPr/>
              <p:nvPr/>
            </p:nvSpPr>
            <p:spPr>
              <a:xfrm>
                <a:off x="1914084" y="226036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oMath>
                  </m:oMathPara>
                </a14:m>
                <a:endParaRPr lang="en-US" dirty="0"/>
              </a:p>
            </p:txBody>
          </p:sp>
        </mc:Choice>
        <mc:Fallback>
          <p:sp>
            <p:nvSpPr>
              <p:cNvPr id="28" name="Oval 27">
                <a:extLst>
                  <a:ext uri="{FF2B5EF4-FFF2-40B4-BE49-F238E27FC236}">
                    <a16:creationId xmlns:a16="http://schemas.microsoft.com/office/drawing/2014/main" id="{78839419-4857-E7C0-1D4B-42751EDF3B71}"/>
                  </a:ext>
                </a:extLst>
              </p:cNvPr>
              <p:cNvSpPr>
                <a:spLocks noRot="1" noChangeAspect="1" noMove="1" noResize="1" noEditPoints="1" noAdjustHandles="1" noChangeArrowheads="1" noChangeShapeType="1" noTextEdit="1"/>
              </p:cNvSpPr>
              <p:nvPr/>
            </p:nvSpPr>
            <p:spPr>
              <a:xfrm>
                <a:off x="1914084" y="2260368"/>
                <a:ext cx="914400" cy="914400"/>
              </a:xfrm>
              <a:prstGeom prst="ellipse">
                <a:avLst/>
              </a:prstGeom>
              <a:blipFill>
                <a:blip r:embed="rId3"/>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F5588640-F23C-CAAB-13B9-C4682DA46A4A}"/>
              </a:ext>
            </a:extLst>
          </p:cNvPr>
          <p:cNvCxnSpPr>
            <a:stCxn id="28" idx="6"/>
            <a:endCxn id="35" idx="2"/>
          </p:cNvCxnSpPr>
          <p:nvPr/>
        </p:nvCxnSpPr>
        <p:spPr>
          <a:xfrm flipV="1">
            <a:off x="2828484" y="1477943"/>
            <a:ext cx="1596281"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CAF6611-EA95-2141-B2AE-461678097213}"/>
              </a:ext>
            </a:extLst>
          </p:cNvPr>
          <p:cNvCxnSpPr>
            <a:cxnSpLocks/>
            <a:stCxn id="28" idx="6"/>
            <a:endCxn id="38" idx="2"/>
          </p:cNvCxnSpPr>
          <p:nvPr/>
        </p:nvCxnSpPr>
        <p:spPr>
          <a:xfrm>
            <a:off x="2828484" y="2717568"/>
            <a:ext cx="159628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341980C-7908-0F28-B91C-34746CD3ADA4}"/>
              </a:ext>
            </a:extLst>
          </p:cNvPr>
          <p:cNvCxnSpPr>
            <a:cxnSpLocks/>
            <a:stCxn id="28" idx="6"/>
            <a:endCxn id="39" idx="2"/>
          </p:cNvCxnSpPr>
          <p:nvPr/>
        </p:nvCxnSpPr>
        <p:spPr>
          <a:xfrm>
            <a:off x="2828484" y="2717568"/>
            <a:ext cx="1596281"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5" name="Oval 34">
                <a:extLst>
                  <a:ext uri="{FF2B5EF4-FFF2-40B4-BE49-F238E27FC236}">
                    <a16:creationId xmlns:a16="http://schemas.microsoft.com/office/drawing/2014/main" id="{4BE7C8D0-C093-996A-5BB7-1B29FC1F202D}"/>
                  </a:ext>
                </a:extLst>
              </p:cNvPr>
              <p:cNvSpPr/>
              <p:nvPr/>
            </p:nvSpPr>
            <p:spPr>
              <a:xfrm>
                <a:off x="4424765" y="102074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1,1</m:t>
                          </m:r>
                        </m:sub>
                      </m:sSub>
                    </m:oMath>
                  </m:oMathPara>
                </a14:m>
                <a:endParaRPr lang="en-US" dirty="0"/>
              </a:p>
            </p:txBody>
          </p:sp>
        </mc:Choice>
        <mc:Fallback>
          <p:sp>
            <p:nvSpPr>
              <p:cNvPr id="35" name="Oval 34">
                <a:extLst>
                  <a:ext uri="{FF2B5EF4-FFF2-40B4-BE49-F238E27FC236}">
                    <a16:creationId xmlns:a16="http://schemas.microsoft.com/office/drawing/2014/main" id="{4BE7C8D0-C093-996A-5BB7-1B29FC1F202D}"/>
                  </a:ext>
                </a:extLst>
              </p:cNvPr>
              <p:cNvSpPr>
                <a:spLocks noRot="1" noChangeAspect="1" noMove="1" noResize="1" noEditPoints="1" noAdjustHandles="1" noChangeArrowheads="1" noChangeShapeType="1" noTextEdit="1"/>
              </p:cNvSpPr>
              <p:nvPr/>
            </p:nvSpPr>
            <p:spPr>
              <a:xfrm>
                <a:off x="4424765" y="1020743"/>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Oval 35">
                <a:extLst>
                  <a:ext uri="{FF2B5EF4-FFF2-40B4-BE49-F238E27FC236}">
                    <a16:creationId xmlns:a16="http://schemas.microsoft.com/office/drawing/2014/main" id="{C51AC900-346B-B20C-CCAA-88F6B5F98344}"/>
                  </a:ext>
                </a:extLst>
              </p:cNvPr>
              <p:cNvSpPr/>
              <p:nvPr/>
            </p:nvSpPr>
            <p:spPr>
              <a:xfrm>
                <a:off x="9351843" y="226036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𝑜𝑢𝑡</m:t>
                          </m:r>
                        </m:sub>
                      </m:sSub>
                      <m:r>
                        <a:rPr lang="en-US" b="0" i="0" smtClean="0">
                          <a:latin typeface="Cambria Math" panose="02040503050406030204" pitchFamily="18" charset="0"/>
                        </a:rPr>
                        <m:t>=8</m:t>
                      </m:r>
                    </m:oMath>
                  </m:oMathPara>
                </a14:m>
                <a:endParaRPr lang="en-US" dirty="0"/>
              </a:p>
            </p:txBody>
          </p:sp>
        </mc:Choice>
        <mc:Fallback>
          <p:sp>
            <p:nvSpPr>
              <p:cNvPr id="36" name="Oval 35">
                <a:extLst>
                  <a:ext uri="{FF2B5EF4-FFF2-40B4-BE49-F238E27FC236}">
                    <a16:creationId xmlns:a16="http://schemas.microsoft.com/office/drawing/2014/main" id="{C51AC900-346B-B20C-CCAA-88F6B5F98344}"/>
                  </a:ext>
                </a:extLst>
              </p:cNvPr>
              <p:cNvSpPr>
                <a:spLocks noRot="1" noChangeAspect="1" noMove="1" noResize="1" noEditPoints="1" noAdjustHandles="1" noChangeArrowheads="1" noChangeShapeType="1" noTextEdit="1"/>
              </p:cNvSpPr>
              <p:nvPr/>
            </p:nvSpPr>
            <p:spPr>
              <a:xfrm>
                <a:off x="9351843" y="2260368"/>
                <a:ext cx="914400" cy="9144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Oval 37">
                <a:extLst>
                  <a:ext uri="{FF2B5EF4-FFF2-40B4-BE49-F238E27FC236}">
                    <a16:creationId xmlns:a16="http://schemas.microsoft.com/office/drawing/2014/main" id="{0C380643-A661-09F7-D4F1-1501386B7026}"/>
                  </a:ext>
                </a:extLst>
              </p:cNvPr>
              <p:cNvSpPr/>
              <p:nvPr/>
            </p:nvSpPr>
            <p:spPr>
              <a:xfrm>
                <a:off x="4424765" y="2262725"/>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m:oMathPara>
                </a14:m>
                <a:endParaRPr lang="en-US" dirty="0"/>
              </a:p>
            </p:txBody>
          </p:sp>
        </mc:Choice>
        <mc:Fallback>
          <p:sp>
            <p:nvSpPr>
              <p:cNvPr id="38" name="Oval 37">
                <a:extLst>
                  <a:ext uri="{FF2B5EF4-FFF2-40B4-BE49-F238E27FC236}">
                    <a16:creationId xmlns:a16="http://schemas.microsoft.com/office/drawing/2014/main" id="{0C380643-A661-09F7-D4F1-1501386B7026}"/>
                  </a:ext>
                </a:extLst>
              </p:cNvPr>
              <p:cNvSpPr>
                <a:spLocks noRot="1" noChangeAspect="1" noMove="1" noResize="1" noEditPoints="1" noAdjustHandles="1" noChangeArrowheads="1" noChangeShapeType="1" noTextEdit="1"/>
              </p:cNvSpPr>
              <p:nvPr/>
            </p:nvSpPr>
            <p:spPr>
              <a:xfrm>
                <a:off x="4424765" y="2262725"/>
                <a:ext cx="914400" cy="9144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Oval 38">
                <a:extLst>
                  <a:ext uri="{FF2B5EF4-FFF2-40B4-BE49-F238E27FC236}">
                    <a16:creationId xmlns:a16="http://schemas.microsoft.com/office/drawing/2014/main" id="{8A823C3E-E145-8EA9-8F07-8C3C507057FB}"/>
                  </a:ext>
                </a:extLst>
              </p:cNvPr>
              <p:cNvSpPr/>
              <p:nvPr/>
            </p:nvSpPr>
            <p:spPr>
              <a:xfrm>
                <a:off x="4424765" y="3504707"/>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1,3</m:t>
                          </m:r>
                        </m:sub>
                      </m:sSub>
                    </m:oMath>
                  </m:oMathPara>
                </a14:m>
                <a:endParaRPr lang="en-US" dirty="0"/>
              </a:p>
            </p:txBody>
          </p:sp>
        </mc:Choice>
        <mc:Fallback>
          <p:sp>
            <p:nvSpPr>
              <p:cNvPr id="39" name="Oval 38">
                <a:extLst>
                  <a:ext uri="{FF2B5EF4-FFF2-40B4-BE49-F238E27FC236}">
                    <a16:creationId xmlns:a16="http://schemas.microsoft.com/office/drawing/2014/main" id="{8A823C3E-E145-8EA9-8F07-8C3C507057FB}"/>
                  </a:ext>
                </a:extLst>
              </p:cNvPr>
              <p:cNvSpPr>
                <a:spLocks noRot="1" noChangeAspect="1" noMove="1" noResize="1" noEditPoints="1" noAdjustHandles="1" noChangeArrowheads="1" noChangeShapeType="1" noTextEdit="1"/>
              </p:cNvSpPr>
              <p:nvPr/>
            </p:nvSpPr>
            <p:spPr>
              <a:xfrm>
                <a:off x="4424765" y="3504707"/>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val 40">
                <a:extLst>
                  <a:ext uri="{FF2B5EF4-FFF2-40B4-BE49-F238E27FC236}">
                    <a16:creationId xmlns:a16="http://schemas.microsoft.com/office/drawing/2014/main" id="{FC0DB2DB-6A11-2011-CE5C-5602CE704C98}"/>
                  </a:ext>
                </a:extLst>
              </p:cNvPr>
              <p:cNvSpPr/>
              <p:nvPr/>
            </p:nvSpPr>
            <p:spPr>
              <a:xfrm>
                <a:off x="6550506" y="102074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oMath>
                  </m:oMathPara>
                </a14:m>
                <a:endParaRPr lang="en-US" dirty="0"/>
              </a:p>
            </p:txBody>
          </p:sp>
        </mc:Choice>
        <mc:Fallback>
          <p:sp>
            <p:nvSpPr>
              <p:cNvPr id="41" name="Oval 40">
                <a:extLst>
                  <a:ext uri="{FF2B5EF4-FFF2-40B4-BE49-F238E27FC236}">
                    <a16:creationId xmlns:a16="http://schemas.microsoft.com/office/drawing/2014/main" id="{FC0DB2DB-6A11-2011-CE5C-5602CE704C98}"/>
                  </a:ext>
                </a:extLst>
              </p:cNvPr>
              <p:cNvSpPr>
                <a:spLocks noRot="1" noChangeAspect="1" noMove="1" noResize="1" noEditPoints="1" noAdjustHandles="1" noChangeArrowheads="1" noChangeShapeType="1" noTextEdit="1"/>
              </p:cNvSpPr>
              <p:nvPr/>
            </p:nvSpPr>
            <p:spPr>
              <a:xfrm>
                <a:off x="6550506" y="1020743"/>
                <a:ext cx="914400" cy="9144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Oval 41">
                <a:extLst>
                  <a:ext uri="{FF2B5EF4-FFF2-40B4-BE49-F238E27FC236}">
                    <a16:creationId xmlns:a16="http://schemas.microsoft.com/office/drawing/2014/main" id="{EA309294-8D5A-0D45-0691-137513AAD79F}"/>
                  </a:ext>
                </a:extLst>
              </p:cNvPr>
              <p:cNvSpPr/>
              <p:nvPr/>
            </p:nvSpPr>
            <p:spPr>
              <a:xfrm>
                <a:off x="6550506" y="226036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2,2</m:t>
                          </m:r>
                        </m:sub>
                      </m:sSub>
                    </m:oMath>
                  </m:oMathPara>
                </a14:m>
                <a:endParaRPr lang="en-US" dirty="0"/>
              </a:p>
            </p:txBody>
          </p:sp>
        </mc:Choice>
        <mc:Fallback>
          <p:sp>
            <p:nvSpPr>
              <p:cNvPr id="42" name="Oval 41">
                <a:extLst>
                  <a:ext uri="{FF2B5EF4-FFF2-40B4-BE49-F238E27FC236}">
                    <a16:creationId xmlns:a16="http://schemas.microsoft.com/office/drawing/2014/main" id="{EA309294-8D5A-0D45-0691-137513AAD79F}"/>
                  </a:ext>
                </a:extLst>
              </p:cNvPr>
              <p:cNvSpPr>
                <a:spLocks noRot="1" noChangeAspect="1" noMove="1" noResize="1" noEditPoints="1" noAdjustHandles="1" noChangeArrowheads="1" noChangeShapeType="1" noTextEdit="1"/>
              </p:cNvSpPr>
              <p:nvPr/>
            </p:nvSpPr>
            <p:spPr>
              <a:xfrm>
                <a:off x="6550506" y="2260368"/>
                <a:ext cx="914400" cy="9144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Oval 43">
                <a:extLst>
                  <a:ext uri="{FF2B5EF4-FFF2-40B4-BE49-F238E27FC236}">
                    <a16:creationId xmlns:a16="http://schemas.microsoft.com/office/drawing/2014/main" id="{A0DBD44F-F0F6-FD8D-F68B-875809E4A851}"/>
                  </a:ext>
                </a:extLst>
              </p:cNvPr>
              <p:cNvSpPr/>
              <p:nvPr/>
            </p:nvSpPr>
            <p:spPr>
              <a:xfrm>
                <a:off x="6550506" y="3504707"/>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2,3</m:t>
                          </m:r>
                        </m:sub>
                      </m:sSub>
                    </m:oMath>
                  </m:oMathPara>
                </a14:m>
                <a:endParaRPr lang="en-US" dirty="0"/>
              </a:p>
            </p:txBody>
          </p:sp>
        </mc:Choice>
        <mc:Fallback>
          <p:sp>
            <p:nvSpPr>
              <p:cNvPr id="44" name="Oval 43">
                <a:extLst>
                  <a:ext uri="{FF2B5EF4-FFF2-40B4-BE49-F238E27FC236}">
                    <a16:creationId xmlns:a16="http://schemas.microsoft.com/office/drawing/2014/main" id="{A0DBD44F-F0F6-FD8D-F68B-875809E4A851}"/>
                  </a:ext>
                </a:extLst>
              </p:cNvPr>
              <p:cNvSpPr>
                <a:spLocks noRot="1" noChangeAspect="1" noMove="1" noResize="1" noEditPoints="1" noAdjustHandles="1" noChangeArrowheads="1" noChangeShapeType="1" noTextEdit="1"/>
              </p:cNvSpPr>
              <p:nvPr/>
            </p:nvSpPr>
            <p:spPr>
              <a:xfrm>
                <a:off x="6550506" y="3504707"/>
                <a:ext cx="914400" cy="914400"/>
              </a:xfrm>
              <a:prstGeom prst="ellipse">
                <a:avLst/>
              </a:prstGeom>
              <a:blipFill>
                <a:blip r:embed="rId10"/>
                <a:stretch>
                  <a:fillRect/>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2DBE5306-E437-5AAA-CD12-D75E31CAAA9F}"/>
              </a:ext>
            </a:extLst>
          </p:cNvPr>
          <p:cNvCxnSpPr>
            <a:cxnSpLocks/>
            <a:stCxn id="44" idx="2"/>
            <a:endCxn id="39" idx="6"/>
          </p:cNvCxnSpPr>
          <p:nvPr/>
        </p:nvCxnSpPr>
        <p:spPr>
          <a:xfrm flipH="1">
            <a:off x="5339165" y="3961907"/>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711BC93A-D130-D45A-62E1-B2250EA190B9}"/>
              </a:ext>
            </a:extLst>
          </p:cNvPr>
          <p:cNvCxnSpPr>
            <a:cxnSpLocks/>
            <a:stCxn id="42" idx="2"/>
            <a:endCxn id="39" idx="6"/>
          </p:cNvCxnSpPr>
          <p:nvPr/>
        </p:nvCxnSpPr>
        <p:spPr>
          <a:xfrm flipH="1">
            <a:off x="5339165" y="2717568"/>
            <a:ext cx="1211341" cy="1244339"/>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18DA7794-B056-1B6F-333B-D5A55C3F4E8D}"/>
              </a:ext>
            </a:extLst>
          </p:cNvPr>
          <p:cNvCxnSpPr>
            <a:cxnSpLocks/>
            <a:stCxn id="41" idx="2"/>
            <a:endCxn id="39" idx="6"/>
          </p:cNvCxnSpPr>
          <p:nvPr/>
        </p:nvCxnSpPr>
        <p:spPr>
          <a:xfrm flipH="1">
            <a:off x="5339165" y="1477943"/>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CF239865-691F-F27D-7449-7B26D61F8DFC}"/>
              </a:ext>
            </a:extLst>
          </p:cNvPr>
          <p:cNvCxnSpPr>
            <a:cxnSpLocks/>
          </p:cNvCxnSpPr>
          <p:nvPr/>
        </p:nvCxnSpPr>
        <p:spPr>
          <a:xfrm flipH="1">
            <a:off x="5339165" y="1477942"/>
            <a:ext cx="12113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6D77B45C-1D53-AE43-A097-1D476431752D}"/>
              </a:ext>
            </a:extLst>
          </p:cNvPr>
          <p:cNvCxnSpPr>
            <a:cxnSpLocks/>
            <a:stCxn id="42" idx="2"/>
          </p:cNvCxnSpPr>
          <p:nvPr/>
        </p:nvCxnSpPr>
        <p:spPr>
          <a:xfrm flipH="1" flipV="1">
            <a:off x="5339165" y="1477942"/>
            <a:ext cx="1211341" cy="1239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870D5EF-8E04-7695-9512-01E7103D9613}"/>
              </a:ext>
            </a:extLst>
          </p:cNvPr>
          <p:cNvCxnSpPr>
            <a:cxnSpLocks/>
            <a:stCxn id="44" idx="2"/>
          </p:cNvCxnSpPr>
          <p:nvPr/>
        </p:nvCxnSpPr>
        <p:spPr>
          <a:xfrm flipH="1" flipV="1">
            <a:off x="5339165" y="1477943"/>
            <a:ext cx="1211341" cy="2483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8335E2FD-477F-6C7D-BBE2-2AC4C3D13406}"/>
              </a:ext>
            </a:extLst>
          </p:cNvPr>
          <p:cNvCxnSpPr>
            <a:cxnSpLocks/>
            <a:stCxn id="41" idx="2"/>
            <a:endCxn id="38" idx="6"/>
          </p:cNvCxnSpPr>
          <p:nvPr/>
        </p:nvCxnSpPr>
        <p:spPr>
          <a:xfrm flipH="1">
            <a:off x="5339165" y="1477943"/>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8656C0D-EBFA-DCC8-75BA-37A7554252D8}"/>
              </a:ext>
            </a:extLst>
          </p:cNvPr>
          <p:cNvCxnSpPr>
            <a:cxnSpLocks/>
            <a:stCxn id="42" idx="2"/>
            <a:endCxn id="38" idx="6"/>
          </p:cNvCxnSpPr>
          <p:nvPr/>
        </p:nvCxnSpPr>
        <p:spPr>
          <a:xfrm flipH="1">
            <a:off x="5339165" y="2717568"/>
            <a:ext cx="1211341" cy="2357"/>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D6A5170-F0CF-69C9-F59A-21C466627F64}"/>
              </a:ext>
            </a:extLst>
          </p:cNvPr>
          <p:cNvCxnSpPr>
            <a:cxnSpLocks/>
            <a:stCxn id="44" idx="2"/>
            <a:endCxn id="38" idx="6"/>
          </p:cNvCxnSpPr>
          <p:nvPr/>
        </p:nvCxnSpPr>
        <p:spPr>
          <a:xfrm flipH="1" flipV="1">
            <a:off x="5339165" y="2719925"/>
            <a:ext cx="1211341" cy="124198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5A76616F-5DDD-D56C-8D35-4B798D6607E4}"/>
              </a:ext>
            </a:extLst>
          </p:cNvPr>
          <p:cNvCxnSpPr>
            <a:cxnSpLocks/>
            <a:stCxn id="36" idx="2"/>
            <a:endCxn id="41" idx="6"/>
          </p:cNvCxnSpPr>
          <p:nvPr/>
        </p:nvCxnSpPr>
        <p:spPr>
          <a:xfrm flipH="1" flipV="1">
            <a:off x="7464906" y="1477943"/>
            <a:ext cx="1886937" cy="1239625"/>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8A15A12B-4697-7723-1E32-EAF152511C9C}"/>
              </a:ext>
            </a:extLst>
          </p:cNvPr>
          <p:cNvCxnSpPr>
            <a:cxnSpLocks/>
            <a:stCxn id="36" idx="2"/>
            <a:endCxn id="42" idx="6"/>
          </p:cNvCxnSpPr>
          <p:nvPr/>
        </p:nvCxnSpPr>
        <p:spPr>
          <a:xfrm flipH="1">
            <a:off x="7464906" y="2717568"/>
            <a:ext cx="18869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C4F9E00E-6475-1D60-83DE-277DD7FB6D30}"/>
              </a:ext>
            </a:extLst>
          </p:cNvPr>
          <p:cNvCxnSpPr>
            <a:cxnSpLocks/>
            <a:stCxn id="36" idx="2"/>
            <a:endCxn id="44" idx="6"/>
          </p:cNvCxnSpPr>
          <p:nvPr/>
        </p:nvCxnSpPr>
        <p:spPr>
          <a:xfrm flipH="1">
            <a:off x="7464906" y="2717568"/>
            <a:ext cx="1886937" cy="12443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767796A7-1085-B696-1BB3-85E90374E7A0}"/>
                  </a:ext>
                </a:extLst>
              </p:cNvPr>
              <p:cNvSpPr txBox="1"/>
              <p:nvPr/>
            </p:nvSpPr>
            <p:spPr>
              <a:xfrm>
                <a:off x="3004813" y="1737588"/>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=3</m:t>
                      </m:r>
                    </m:oMath>
                  </m:oMathPara>
                </a14:m>
                <a:endParaRPr lang="en-US" dirty="0">
                  <a:solidFill>
                    <a:srgbClr val="00B050"/>
                  </a:solidFill>
                </a:endParaRPr>
              </a:p>
            </p:txBody>
          </p:sp>
        </mc:Choice>
        <mc:Fallback>
          <p:sp>
            <p:nvSpPr>
              <p:cNvPr id="62" name="TextBox 61">
                <a:extLst>
                  <a:ext uri="{FF2B5EF4-FFF2-40B4-BE49-F238E27FC236}">
                    <a16:creationId xmlns:a16="http://schemas.microsoft.com/office/drawing/2014/main" id="{767796A7-1085-B696-1BB3-85E90374E7A0}"/>
                  </a:ext>
                </a:extLst>
              </p:cNvPr>
              <p:cNvSpPr txBox="1">
                <a:spLocks noRot="1" noChangeAspect="1" noMove="1" noResize="1" noEditPoints="1" noAdjustHandles="1" noChangeArrowheads="1" noChangeShapeType="1" noTextEdit="1"/>
              </p:cNvSpPr>
              <p:nvPr/>
            </p:nvSpPr>
            <p:spPr>
              <a:xfrm>
                <a:off x="3004813" y="1737588"/>
                <a:ext cx="837409"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A5CC8081-5730-5417-87B4-D4356F399806}"/>
                  </a:ext>
                </a:extLst>
              </p:cNvPr>
              <p:cNvSpPr txBox="1"/>
              <p:nvPr/>
            </p:nvSpPr>
            <p:spPr>
              <a:xfrm>
                <a:off x="3353248" y="2323192"/>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63" name="TextBox 62">
                <a:extLst>
                  <a:ext uri="{FF2B5EF4-FFF2-40B4-BE49-F238E27FC236}">
                    <a16:creationId xmlns:a16="http://schemas.microsoft.com/office/drawing/2014/main" id="{A5CC8081-5730-5417-87B4-D4356F399806}"/>
                  </a:ext>
                </a:extLst>
              </p:cNvPr>
              <p:cNvSpPr txBox="1">
                <a:spLocks noRot="1" noChangeAspect="1" noMove="1" noResize="1" noEditPoints="1" noAdjustHandles="1" noChangeArrowheads="1" noChangeShapeType="1" noTextEdit="1"/>
              </p:cNvSpPr>
              <p:nvPr/>
            </p:nvSpPr>
            <p:spPr>
              <a:xfrm>
                <a:off x="3353248" y="2323192"/>
                <a:ext cx="1010533"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58FB3FA2-E9A2-0F87-3304-75F6299CA304}"/>
                  </a:ext>
                </a:extLst>
              </p:cNvPr>
              <p:cNvSpPr txBox="1"/>
              <p:nvPr/>
            </p:nvSpPr>
            <p:spPr>
              <a:xfrm>
                <a:off x="3569729" y="3105617"/>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4" name="TextBox 63">
                <a:extLst>
                  <a:ext uri="{FF2B5EF4-FFF2-40B4-BE49-F238E27FC236}">
                    <a16:creationId xmlns:a16="http://schemas.microsoft.com/office/drawing/2014/main" id="{58FB3FA2-E9A2-0F87-3304-75F6299CA304}"/>
                  </a:ext>
                </a:extLst>
              </p:cNvPr>
              <p:cNvSpPr txBox="1">
                <a:spLocks noRot="1" noChangeAspect="1" noMove="1" noResize="1" noEditPoints="1" noAdjustHandles="1" noChangeArrowheads="1" noChangeShapeType="1" noTextEdit="1"/>
              </p:cNvSpPr>
              <p:nvPr/>
            </p:nvSpPr>
            <p:spPr>
              <a:xfrm>
                <a:off x="3569729" y="3105617"/>
                <a:ext cx="837409"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423F3879-D663-C022-34C0-F7EF608964E0}"/>
                  </a:ext>
                </a:extLst>
              </p:cNvPr>
              <p:cNvSpPr txBox="1"/>
              <p:nvPr/>
            </p:nvSpPr>
            <p:spPr>
              <a:xfrm>
                <a:off x="5520915" y="203485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5" name="TextBox 64">
                <a:extLst>
                  <a:ext uri="{FF2B5EF4-FFF2-40B4-BE49-F238E27FC236}">
                    <a16:creationId xmlns:a16="http://schemas.microsoft.com/office/drawing/2014/main" id="{423F3879-D663-C022-34C0-F7EF608964E0}"/>
                  </a:ext>
                </a:extLst>
              </p:cNvPr>
              <p:cNvSpPr txBox="1">
                <a:spLocks noRot="1" noChangeAspect="1" noMove="1" noResize="1" noEditPoints="1" noAdjustHandles="1" noChangeArrowheads="1" noChangeShapeType="1" noTextEdit="1"/>
              </p:cNvSpPr>
              <p:nvPr/>
            </p:nvSpPr>
            <p:spPr>
              <a:xfrm>
                <a:off x="5520915" y="203485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A1A96DBF-8008-467B-3A44-6A68C484BF40}"/>
                  </a:ext>
                </a:extLst>
              </p:cNvPr>
              <p:cNvSpPr txBox="1"/>
              <p:nvPr/>
            </p:nvSpPr>
            <p:spPr>
              <a:xfrm>
                <a:off x="5673315" y="218725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6" name="TextBox 65">
                <a:extLst>
                  <a:ext uri="{FF2B5EF4-FFF2-40B4-BE49-F238E27FC236}">
                    <a16:creationId xmlns:a16="http://schemas.microsoft.com/office/drawing/2014/main" id="{A1A96DBF-8008-467B-3A44-6A68C484BF40}"/>
                  </a:ext>
                </a:extLst>
              </p:cNvPr>
              <p:cNvSpPr txBox="1">
                <a:spLocks noRot="1" noChangeAspect="1" noMove="1" noResize="1" noEditPoints="1" noAdjustHandles="1" noChangeArrowheads="1" noChangeShapeType="1" noTextEdit="1"/>
              </p:cNvSpPr>
              <p:nvPr/>
            </p:nvSpPr>
            <p:spPr>
              <a:xfrm>
                <a:off x="5673315" y="218725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1FB964D6-B5E9-762C-95FD-95EE1E0DEABB}"/>
                  </a:ext>
                </a:extLst>
              </p:cNvPr>
              <p:cNvSpPr txBox="1"/>
              <p:nvPr/>
            </p:nvSpPr>
            <p:spPr>
              <a:xfrm>
                <a:off x="5825715" y="233965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7" name="TextBox 66">
                <a:extLst>
                  <a:ext uri="{FF2B5EF4-FFF2-40B4-BE49-F238E27FC236}">
                    <a16:creationId xmlns:a16="http://schemas.microsoft.com/office/drawing/2014/main" id="{1FB964D6-B5E9-762C-95FD-95EE1E0DEABB}"/>
                  </a:ext>
                </a:extLst>
              </p:cNvPr>
              <p:cNvSpPr txBox="1">
                <a:spLocks noRot="1" noChangeAspect="1" noMove="1" noResize="1" noEditPoints="1" noAdjustHandles="1" noChangeArrowheads="1" noChangeShapeType="1" noTextEdit="1"/>
              </p:cNvSpPr>
              <p:nvPr/>
            </p:nvSpPr>
            <p:spPr>
              <a:xfrm>
                <a:off x="5825715" y="2339655"/>
                <a:ext cx="837409"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C346503F-6304-ABEB-96D7-D14DF18D1877}"/>
                  </a:ext>
                </a:extLst>
              </p:cNvPr>
              <p:cNvSpPr txBox="1"/>
              <p:nvPr/>
            </p:nvSpPr>
            <p:spPr>
              <a:xfrm>
                <a:off x="5606861" y="2500449"/>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8" name="TextBox 67">
                <a:extLst>
                  <a:ext uri="{FF2B5EF4-FFF2-40B4-BE49-F238E27FC236}">
                    <a16:creationId xmlns:a16="http://schemas.microsoft.com/office/drawing/2014/main" id="{C346503F-6304-ABEB-96D7-D14DF18D1877}"/>
                  </a:ext>
                </a:extLst>
              </p:cNvPr>
              <p:cNvSpPr txBox="1">
                <a:spLocks noRot="1" noChangeAspect="1" noMove="1" noResize="1" noEditPoints="1" noAdjustHandles="1" noChangeArrowheads="1" noChangeShapeType="1" noTextEdit="1"/>
              </p:cNvSpPr>
              <p:nvPr/>
            </p:nvSpPr>
            <p:spPr>
              <a:xfrm>
                <a:off x="5606861" y="2500449"/>
                <a:ext cx="837409"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9" name="TextBox 68">
                <a:extLst>
                  <a:ext uri="{FF2B5EF4-FFF2-40B4-BE49-F238E27FC236}">
                    <a16:creationId xmlns:a16="http://schemas.microsoft.com/office/drawing/2014/main" id="{A7BA1693-6E44-F024-0045-4773718B28E4}"/>
                  </a:ext>
                </a:extLst>
              </p:cNvPr>
              <p:cNvSpPr txBox="1"/>
              <p:nvPr/>
            </p:nvSpPr>
            <p:spPr>
              <a:xfrm>
                <a:off x="5746710" y="269624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69" name="TextBox 68">
                <a:extLst>
                  <a:ext uri="{FF2B5EF4-FFF2-40B4-BE49-F238E27FC236}">
                    <a16:creationId xmlns:a16="http://schemas.microsoft.com/office/drawing/2014/main" id="{A7BA1693-6E44-F024-0045-4773718B28E4}"/>
                  </a:ext>
                </a:extLst>
              </p:cNvPr>
              <p:cNvSpPr txBox="1">
                <a:spLocks noRot="1" noChangeAspect="1" noMove="1" noResize="1" noEditPoints="1" noAdjustHandles="1" noChangeArrowheads="1" noChangeShapeType="1" noTextEdit="1"/>
              </p:cNvSpPr>
              <p:nvPr/>
            </p:nvSpPr>
            <p:spPr>
              <a:xfrm>
                <a:off x="5746710" y="2696240"/>
                <a:ext cx="837409"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TextBox 69">
                <a:extLst>
                  <a:ext uri="{FF2B5EF4-FFF2-40B4-BE49-F238E27FC236}">
                    <a16:creationId xmlns:a16="http://schemas.microsoft.com/office/drawing/2014/main" id="{F210547A-D2F0-1B31-9FED-0E0EA61C15D5}"/>
                  </a:ext>
                </a:extLst>
              </p:cNvPr>
              <p:cNvSpPr txBox="1"/>
              <p:nvPr/>
            </p:nvSpPr>
            <p:spPr>
              <a:xfrm>
                <a:off x="5679484" y="300812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70" name="TextBox 69">
                <a:extLst>
                  <a:ext uri="{FF2B5EF4-FFF2-40B4-BE49-F238E27FC236}">
                    <a16:creationId xmlns:a16="http://schemas.microsoft.com/office/drawing/2014/main" id="{F210547A-D2F0-1B31-9FED-0E0EA61C15D5}"/>
                  </a:ext>
                </a:extLst>
              </p:cNvPr>
              <p:cNvSpPr txBox="1">
                <a:spLocks noRot="1" noChangeAspect="1" noMove="1" noResize="1" noEditPoints="1" noAdjustHandles="1" noChangeArrowheads="1" noChangeShapeType="1" noTextEdit="1"/>
              </p:cNvSpPr>
              <p:nvPr/>
            </p:nvSpPr>
            <p:spPr>
              <a:xfrm>
                <a:off x="5679484" y="3008120"/>
                <a:ext cx="837409"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F7CE53CB-FAEE-92EC-AF8A-CFE5F20DC5DC}"/>
                  </a:ext>
                </a:extLst>
              </p:cNvPr>
              <p:cNvSpPr txBox="1"/>
              <p:nvPr/>
            </p:nvSpPr>
            <p:spPr>
              <a:xfrm>
                <a:off x="5617005" y="3157264"/>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=2</m:t>
                      </m:r>
                    </m:oMath>
                  </m:oMathPara>
                </a14:m>
                <a:endParaRPr lang="en-US" dirty="0">
                  <a:solidFill>
                    <a:srgbClr val="00B050"/>
                  </a:solidFill>
                </a:endParaRPr>
              </a:p>
            </p:txBody>
          </p:sp>
        </mc:Choice>
        <mc:Fallback>
          <p:sp>
            <p:nvSpPr>
              <p:cNvPr id="71" name="TextBox 70">
                <a:extLst>
                  <a:ext uri="{FF2B5EF4-FFF2-40B4-BE49-F238E27FC236}">
                    <a16:creationId xmlns:a16="http://schemas.microsoft.com/office/drawing/2014/main" id="{F7CE53CB-FAEE-92EC-AF8A-CFE5F20DC5DC}"/>
                  </a:ext>
                </a:extLst>
              </p:cNvPr>
              <p:cNvSpPr txBox="1">
                <a:spLocks noRot="1" noChangeAspect="1" noMove="1" noResize="1" noEditPoints="1" noAdjustHandles="1" noChangeArrowheads="1" noChangeShapeType="1" noTextEdit="1"/>
              </p:cNvSpPr>
              <p:nvPr/>
            </p:nvSpPr>
            <p:spPr>
              <a:xfrm>
                <a:off x="5617005" y="3157264"/>
                <a:ext cx="83740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7515739F-AC97-61DE-7F95-ED4AE37D5A87}"/>
                  </a:ext>
                </a:extLst>
              </p:cNvPr>
              <p:cNvSpPr txBox="1"/>
              <p:nvPr/>
            </p:nvSpPr>
            <p:spPr>
              <a:xfrm>
                <a:off x="8012604" y="1670235"/>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72" name="TextBox 71">
                <a:extLst>
                  <a:ext uri="{FF2B5EF4-FFF2-40B4-BE49-F238E27FC236}">
                    <a16:creationId xmlns:a16="http://schemas.microsoft.com/office/drawing/2014/main" id="{7515739F-AC97-61DE-7F95-ED4AE37D5A87}"/>
                  </a:ext>
                </a:extLst>
              </p:cNvPr>
              <p:cNvSpPr txBox="1">
                <a:spLocks noRot="1" noChangeAspect="1" noMove="1" noResize="1" noEditPoints="1" noAdjustHandles="1" noChangeArrowheads="1" noChangeShapeType="1" noTextEdit="1"/>
              </p:cNvSpPr>
              <p:nvPr/>
            </p:nvSpPr>
            <p:spPr>
              <a:xfrm>
                <a:off x="8012604" y="1670235"/>
                <a:ext cx="837409"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B5209067-DFE1-FCA7-C977-34721F5BF0BB}"/>
                  </a:ext>
                </a:extLst>
              </p:cNvPr>
              <p:cNvSpPr txBox="1"/>
              <p:nvPr/>
            </p:nvSpPr>
            <p:spPr>
              <a:xfrm>
                <a:off x="8052351" y="2335480"/>
                <a:ext cx="83740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=5</m:t>
                      </m:r>
                    </m:oMath>
                  </m:oMathPara>
                </a14:m>
                <a:endParaRPr lang="en-US" dirty="0">
                  <a:solidFill>
                    <a:srgbClr val="00B050"/>
                  </a:solidFill>
                </a:endParaRPr>
              </a:p>
            </p:txBody>
          </p:sp>
        </mc:Choice>
        <mc:Fallback>
          <p:sp>
            <p:nvSpPr>
              <p:cNvPr id="73" name="TextBox 72">
                <a:extLst>
                  <a:ext uri="{FF2B5EF4-FFF2-40B4-BE49-F238E27FC236}">
                    <a16:creationId xmlns:a16="http://schemas.microsoft.com/office/drawing/2014/main" id="{B5209067-DFE1-FCA7-C977-34721F5BF0BB}"/>
                  </a:ext>
                </a:extLst>
              </p:cNvPr>
              <p:cNvSpPr txBox="1">
                <a:spLocks noRot="1" noChangeAspect="1" noMove="1" noResize="1" noEditPoints="1" noAdjustHandles="1" noChangeArrowheads="1" noChangeShapeType="1" noTextEdit="1"/>
              </p:cNvSpPr>
              <p:nvPr/>
            </p:nvSpPr>
            <p:spPr>
              <a:xfrm>
                <a:off x="8052351" y="2335480"/>
                <a:ext cx="837409"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0D41ECA-6A4D-A6A3-103B-D4629F1EF698}"/>
                  </a:ext>
                </a:extLst>
              </p:cNvPr>
              <p:cNvSpPr txBox="1"/>
              <p:nvPr/>
            </p:nvSpPr>
            <p:spPr>
              <a:xfrm>
                <a:off x="7796702" y="2952726"/>
                <a:ext cx="10105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𝑤</m:t>
                      </m:r>
                      <m:r>
                        <a:rPr lang="en-US" b="0" i="1" smtClean="0">
                          <a:solidFill>
                            <a:srgbClr val="00B050"/>
                          </a:solidFill>
                          <a:latin typeface="Cambria Math" panose="02040503050406030204" pitchFamily="18" charset="0"/>
                        </a:rPr>
                        <m:t>=−1</m:t>
                      </m:r>
                    </m:oMath>
                  </m:oMathPara>
                </a14:m>
                <a:endParaRPr lang="en-US" dirty="0">
                  <a:solidFill>
                    <a:srgbClr val="00B050"/>
                  </a:solidFill>
                </a:endParaRPr>
              </a:p>
            </p:txBody>
          </p:sp>
        </mc:Choice>
        <mc:Fallback>
          <p:sp>
            <p:nvSpPr>
              <p:cNvPr id="74" name="TextBox 73">
                <a:extLst>
                  <a:ext uri="{FF2B5EF4-FFF2-40B4-BE49-F238E27FC236}">
                    <a16:creationId xmlns:a16="http://schemas.microsoft.com/office/drawing/2014/main" id="{B0D41ECA-6A4D-A6A3-103B-D4629F1EF698}"/>
                  </a:ext>
                </a:extLst>
              </p:cNvPr>
              <p:cNvSpPr txBox="1">
                <a:spLocks noRot="1" noChangeAspect="1" noMove="1" noResize="1" noEditPoints="1" noAdjustHandles="1" noChangeArrowheads="1" noChangeShapeType="1" noTextEdit="1"/>
              </p:cNvSpPr>
              <p:nvPr/>
            </p:nvSpPr>
            <p:spPr>
              <a:xfrm>
                <a:off x="7796702" y="2952726"/>
                <a:ext cx="1010533"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6E18544-ABF4-2BB1-F2BA-DB694A31F152}"/>
                  </a:ext>
                </a:extLst>
              </p:cNvPr>
              <p:cNvSpPr txBox="1"/>
              <p:nvPr/>
            </p:nvSpPr>
            <p:spPr>
              <a:xfrm>
                <a:off x="4472343" y="724206"/>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=2</m:t>
                      </m:r>
                    </m:oMath>
                  </m:oMathPara>
                </a14:m>
                <a:endParaRPr lang="en-US" dirty="0">
                  <a:solidFill>
                    <a:srgbClr val="FFC000"/>
                  </a:solidFill>
                </a:endParaRPr>
              </a:p>
            </p:txBody>
          </p:sp>
        </mc:Choice>
        <mc:Fallback>
          <p:sp>
            <p:nvSpPr>
              <p:cNvPr id="75" name="TextBox 74">
                <a:extLst>
                  <a:ext uri="{FF2B5EF4-FFF2-40B4-BE49-F238E27FC236}">
                    <a16:creationId xmlns:a16="http://schemas.microsoft.com/office/drawing/2014/main" id="{C6E18544-ABF4-2BB1-F2BA-DB694A31F152}"/>
                  </a:ext>
                </a:extLst>
              </p:cNvPr>
              <p:cNvSpPr txBox="1">
                <a:spLocks noRot="1" noChangeAspect="1" noMove="1" noResize="1" noEditPoints="1" noAdjustHandles="1" noChangeArrowheads="1" noChangeShapeType="1" noTextEdit="1"/>
              </p:cNvSpPr>
              <p:nvPr/>
            </p:nvSpPr>
            <p:spPr>
              <a:xfrm>
                <a:off x="4472343" y="724206"/>
                <a:ext cx="790858"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2E0E7FA1-3109-BE21-8540-E6FADC763884}"/>
                  </a:ext>
                </a:extLst>
              </p:cNvPr>
              <p:cNvSpPr txBox="1"/>
              <p:nvPr/>
            </p:nvSpPr>
            <p:spPr>
              <a:xfrm>
                <a:off x="4491419" y="1966148"/>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=−4</m:t>
                      </m:r>
                    </m:oMath>
                  </m:oMathPara>
                </a14:m>
                <a:endParaRPr lang="en-US" dirty="0">
                  <a:solidFill>
                    <a:srgbClr val="FFC000"/>
                  </a:solidFill>
                </a:endParaRPr>
              </a:p>
            </p:txBody>
          </p:sp>
        </mc:Choice>
        <mc:Fallback>
          <p:sp>
            <p:nvSpPr>
              <p:cNvPr id="76" name="TextBox 75">
                <a:extLst>
                  <a:ext uri="{FF2B5EF4-FFF2-40B4-BE49-F238E27FC236}">
                    <a16:creationId xmlns:a16="http://schemas.microsoft.com/office/drawing/2014/main" id="{2E0E7FA1-3109-BE21-8540-E6FADC763884}"/>
                  </a:ext>
                </a:extLst>
              </p:cNvPr>
              <p:cNvSpPr txBox="1">
                <a:spLocks noRot="1" noChangeAspect="1" noMove="1" noResize="1" noEditPoints="1" noAdjustHandles="1" noChangeArrowheads="1" noChangeShapeType="1" noTextEdit="1"/>
              </p:cNvSpPr>
              <p:nvPr/>
            </p:nvSpPr>
            <p:spPr>
              <a:xfrm>
                <a:off x="4491419" y="1966148"/>
                <a:ext cx="963982"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16C2399F-855B-F26F-D84B-34E2C07530F8}"/>
                  </a:ext>
                </a:extLst>
              </p:cNvPr>
              <p:cNvSpPr txBox="1"/>
              <p:nvPr/>
            </p:nvSpPr>
            <p:spPr>
              <a:xfrm>
                <a:off x="4514694" y="3174768"/>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=5</m:t>
                      </m:r>
                    </m:oMath>
                  </m:oMathPara>
                </a14:m>
                <a:endParaRPr lang="en-US" dirty="0">
                  <a:solidFill>
                    <a:srgbClr val="FFC000"/>
                  </a:solidFill>
                </a:endParaRPr>
              </a:p>
            </p:txBody>
          </p:sp>
        </mc:Choice>
        <mc:Fallback>
          <p:sp>
            <p:nvSpPr>
              <p:cNvPr id="77" name="TextBox 76">
                <a:extLst>
                  <a:ext uri="{FF2B5EF4-FFF2-40B4-BE49-F238E27FC236}">
                    <a16:creationId xmlns:a16="http://schemas.microsoft.com/office/drawing/2014/main" id="{16C2399F-855B-F26F-D84B-34E2C07530F8}"/>
                  </a:ext>
                </a:extLst>
              </p:cNvPr>
              <p:cNvSpPr txBox="1">
                <a:spLocks noRot="1" noChangeAspect="1" noMove="1" noResize="1" noEditPoints="1" noAdjustHandles="1" noChangeArrowheads="1" noChangeShapeType="1" noTextEdit="1"/>
              </p:cNvSpPr>
              <p:nvPr/>
            </p:nvSpPr>
            <p:spPr>
              <a:xfrm>
                <a:off x="4514694" y="3174768"/>
                <a:ext cx="79085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3447D2FB-616D-922C-0CD8-985033A0DBDE}"/>
                  </a:ext>
                </a:extLst>
              </p:cNvPr>
              <p:cNvSpPr txBox="1"/>
              <p:nvPr/>
            </p:nvSpPr>
            <p:spPr>
              <a:xfrm>
                <a:off x="6588667" y="664158"/>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78" name="TextBox 77">
                <a:extLst>
                  <a:ext uri="{FF2B5EF4-FFF2-40B4-BE49-F238E27FC236}">
                    <a16:creationId xmlns:a16="http://schemas.microsoft.com/office/drawing/2014/main" id="{3447D2FB-616D-922C-0CD8-985033A0DBDE}"/>
                  </a:ext>
                </a:extLst>
              </p:cNvPr>
              <p:cNvSpPr txBox="1">
                <a:spLocks noRot="1" noChangeAspect="1" noMove="1" noResize="1" noEditPoints="1" noAdjustHandles="1" noChangeArrowheads="1" noChangeShapeType="1" noTextEdit="1"/>
              </p:cNvSpPr>
              <p:nvPr/>
            </p:nvSpPr>
            <p:spPr>
              <a:xfrm>
                <a:off x="6588667" y="664158"/>
                <a:ext cx="79085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CFC9C700-7CAB-0C44-B95D-6506F153E822}"/>
                  </a:ext>
                </a:extLst>
              </p:cNvPr>
              <p:cNvSpPr txBox="1"/>
              <p:nvPr/>
            </p:nvSpPr>
            <p:spPr>
              <a:xfrm>
                <a:off x="6595276" y="1961742"/>
                <a:ext cx="79085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=9</m:t>
                      </m:r>
                    </m:oMath>
                  </m:oMathPara>
                </a14:m>
                <a:endParaRPr lang="en-US" dirty="0">
                  <a:solidFill>
                    <a:srgbClr val="FFC000"/>
                  </a:solidFill>
                </a:endParaRPr>
              </a:p>
            </p:txBody>
          </p:sp>
        </mc:Choice>
        <mc:Fallback>
          <p:sp>
            <p:nvSpPr>
              <p:cNvPr id="79" name="TextBox 78">
                <a:extLst>
                  <a:ext uri="{FF2B5EF4-FFF2-40B4-BE49-F238E27FC236}">
                    <a16:creationId xmlns:a16="http://schemas.microsoft.com/office/drawing/2014/main" id="{CFC9C700-7CAB-0C44-B95D-6506F153E822}"/>
                  </a:ext>
                </a:extLst>
              </p:cNvPr>
              <p:cNvSpPr txBox="1">
                <a:spLocks noRot="1" noChangeAspect="1" noMove="1" noResize="1" noEditPoints="1" noAdjustHandles="1" noChangeArrowheads="1" noChangeShapeType="1" noTextEdit="1"/>
              </p:cNvSpPr>
              <p:nvPr/>
            </p:nvSpPr>
            <p:spPr>
              <a:xfrm>
                <a:off x="6595276" y="1961742"/>
                <a:ext cx="790858"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a:extLst>
                  <a:ext uri="{FF2B5EF4-FFF2-40B4-BE49-F238E27FC236}">
                    <a16:creationId xmlns:a16="http://schemas.microsoft.com/office/drawing/2014/main" id="{53A87D79-40DB-1BA7-A9A5-5ADA0FA832AE}"/>
                  </a:ext>
                </a:extLst>
              </p:cNvPr>
              <p:cNvSpPr txBox="1"/>
              <p:nvPr/>
            </p:nvSpPr>
            <p:spPr>
              <a:xfrm>
                <a:off x="6606822" y="3201367"/>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=−8</m:t>
                      </m:r>
                    </m:oMath>
                  </m:oMathPara>
                </a14:m>
                <a:endParaRPr lang="en-US" dirty="0">
                  <a:solidFill>
                    <a:srgbClr val="FFC000"/>
                  </a:solidFill>
                </a:endParaRPr>
              </a:p>
            </p:txBody>
          </p:sp>
        </mc:Choice>
        <mc:Fallback>
          <p:sp>
            <p:nvSpPr>
              <p:cNvPr id="80" name="TextBox 79">
                <a:extLst>
                  <a:ext uri="{FF2B5EF4-FFF2-40B4-BE49-F238E27FC236}">
                    <a16:creationId xmlns:a16="http://schemas.microsoft.com/office/drawing/2014/main" id="{53A87D79-40DB-1BA7-A9A5-5ADA0FA832AE}"/>
                  </a:ext>
                </a:extLst>
              </p:cNvPr>
              <p:cNvSpPr txBox="1">
                <a:spLocks noRot="1" noChangeAspect="1" noMove="1" noResize="1" noEditPoints="1" noAdjustHandles="1" noChangeArrowheads="1" noChangeShapeType="1" noTextEdit="1"/>
              </p:cNvSpPr>
              <p:nvPr/>
            </p:nvSpPr>
            <p:spPr>
              <a:xfrm>
                <a:off x="6606822" y="3201367"/>
                <a:ext cx="963982"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a:extLst>
                  <a:ext uri="{FF2B5EF4-FFF2-40B4-BE49-F238E27FC236}">
                    <a16:creationId xmlns:a16="http://schemas.microsoft.com/office/drawing/2014/main" id="{D9A417B6-638D-4B13-16C5-8E0786EFC05B}"/>
                  </a:ext>
                </a:extLst>
              </p:cNvPr>
              <p:cNvSpPr txBox="1"/>
              <p:nvPr/>
            </p:nvSpPr>
            <p:spPr>
              <a:xfrm>
                <a:off x="9413614" y="1922254"/>
                <a:ext cx="96398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C000"/>
                          </a:solidFill>
                          <a:latin typeface="Cambria Math" panose="02040503050406030204" pitchFamily="18" charset="0"/>
                        </a:rPr>
                        <m:t>𝑏</m:t>
                      </m:r>
                      <m:r>
                        <a:rPr lang="en-US" b="0" i="1" smtClean="0">
                          <a:solidFill>
                            <a:srgbClr val="FFC000"/>
                          </a:solidFill>
                          <a:latin typeface="Cambria Math" panose="02040503050406030204" pitchFamily="18" charset="0"/>
                        </a:rPr>
                        <m:t>=−1</m:t>
                      </m:r>
                    </m:oMath>
                  </m:oMathPara>
                </a14:m>
                <a:endParaRPr lang="en-US" dirty="0">
                  <a:solidFill>
                    <a:srgbClr val="FFC000"/>
                  </a:solidFill>
                </a:endParaRPr>
              </a:p>
            </p:txBody>
          </p:sp>
        </mc:Choice>
        <mc:Fallback>
          <p:sp>
            <p:nvSpPr>
              <p:cNvPr id="81" name="TextBox 80">
                <a:extLst>
                  <a:ext uri="{FF2B5EF4-FFF2-40B4-BE49-F238E27FC236}">
                    <a16:creationId xmlns:a16="http://schemas.microsoft.com/office/drawing/2014/main" id="{D9A417B6-638D-4B13-16C5-8E0786EFC05B}"/>
                  </a:ext>
                </a:extLst>
              </p:cNvPr>
              <p:cNvSpPr txBox="1">
                <a:spLocks noRot="1" noChangeAspect="1" noMove="1" noResize="1" noEditPoints="1" noAdjustHandles="1" noChangeArrowheads="1" noChangeShapeType="1" noTextEdit="1"/>
              </p:cNvSpPr>
              <p:nvPr/>
            </p:nvSpPr>
            <p:spPr>
              <a:xfrm>
                <a:off x="9413614" y="1922254"/>
                <a:ext cx="963982"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96FCC63-A8DD-994A-AA2D-A8F82111E4CF}"/>
                  </a:ext>
                </a:extLst>
              </p:cNvPr>
              <p:cNvSpPr txBox="1"/>
              <p:nvPr/>
            </p:nvSpPr>
            <p:spPr>
              <a:xfrm>
                <a:off x="170057" y="119090"/>
                <a:ext cx="7626645"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solidFill>
                            <a:srgbClr val="00B050"/>
                          </a:solidFill>
                          <a:latin typeface="Cambria Math" panose="02040503050406030204" pitchFamily="18" charset="0"/>
                          <a:sym typeface="Wingdings" pitchFamily="2" charset="2"/>
                        </a:rPr>
                        <m:t>Δ</m:t>
                      </m:r>
                      <m:sSub>
                        <m:sSubPr>
                          <m:ctrlPr>
                            <a:rPr lang="en-US" sz="3000" b="0" i="1" smtClean="0">
                              <a:solidFill>
                                <a:srgbClr val="00B050"/>
                              </a:solidFill>
                              <a:latin typeface="Cambria Math" panose="02040503050406030204" pitchFamily="18" charset="0"/>
                              <a:sym typeface="Wingdings" pitchFamily="2" charset="2"/>
                            </a:rPr>
                          </m:ctrlPr>
                        </m:sSubPr>
                        <m:e>
                          <m:r>
                            <a:rPr lang="en-US" sz="3000" b="0" i="1" smtClean="0">
                              <a:solidFill>
                                <a:srgbClr val="00B050"/>
                              </a:solidFill>
                              <a:latin typeface="Cambria Math" panose="02040503050406030204" pitchFamily="18" charset="0"/>
                              <a:sym typeface="Wingdings" pitchFamily="2" charset="2"/>
                            </a:rPr>
                            <m:t>𝑤</m:t>
                          </m:r>
                        </m:e>
                        <m:sub>
                          <m:r>
                            <a:rPr lang="en-US" sz="3000" b="0" i="1" smtClean="0">
                              <a:solidFill>
                                <a:srgbClr val="00B050"/>
                              </a:solidFill>
                              <a:latin typeface="Cambria Math" panose="02040503050406030204" pitchFamily="18" charset="0"/>
                              <a:sym typeface="Wingdings" pitchFamily="2" charset="2"/>
                            </a:rPr>
                            <m:t>𝑖</m:t>
                          </m:r>
                        </m:sub>
                      </m:sSub>
                      <m:r>
                        <a:rPr lang="en-US" sz="3000" b="0" i="1" smtClean="0">
                          <a:solidFill>
                            <a:srgbClr val="00B050"/>
                          </a:solidFill>
                          <a:latin typeface="Cambria Math" panose="02040503050406030204" pitchFamily="18" charset="0"/>
                          <a:sym typeface="Wingdings" pitchFamily="2" charset="2"/>
                        </a:rPr>
                        <m:t>=−</m:t>
                      </m:r>
                      <m:r>
                        <a:rPr lang="en-US" sz="3000" b="0" i="1" smtClean="0">
                          <a:solidFill>
                            <a:srgbClr val="00B050"/>
                          </a:solidFill>
                          <a:latin typeface="Cambria Math" panose="02040503050406030204" pitchFamily="18" charset="0"/>
                          <a:sym typeface="Wingdings" pitchFamily="2" charset="2"/>
                        </a:rPr>
                        <m:t>𝑠𝑡𝑒𝑝𝑠𝑖𝑧𝑒</m:t>
                      </m:r>
                      <m:r>
                        <a:rPr lang="en-US" sz="3000" b="0" i="1" smtClean="0">
                          <a:solidFill>
                            <a:srgbClr val="00B050"/>
                          </a:solidFill>
                          <a:latin typeface="Cambria Math" panose="02040503050406030204" pitchFamily="18" charset="0"/>
                          <a:sym typeface="Wingdings" pitchFamily="2" charset="2"/>
                        </a:rPr>
                        <m:t>∗2∗</m:t>
                      </m:r>
                      <m:d>
                        <m:dPr>
                          <m:ctrlPr>
                            <a:rPr lang="en-US" sz="3000" b="0" i="1" smtClean="0">
                              <a:solidFill>
                                <a:srgbClr val="00B050"/>
                              </a:solidFill>
                              <a:latin typeface="Cambria Math" panose="02040503050406030204" pitchFamily="18" charset="0"/>
                              <a:sym typeface="Wingdings" pitchFamily="2" charset="2"/>
                            </a:rPr>
                          </m:ctrlPr>
                        </m:dPr>
                        <m:e>
                          <m:sSub>
                            <m:sSubPr>
                              <m:ctrlPr>
                                <a:rPr lang="en-US" sz="3000" b="0" i="1" smtClean="0">
                                  <a:solidFill>
                                    <a:srgbClr val="00B050"/>
                                  </a:solidFill>
                                  <a:latin typeface="Cambria Math" panose="02040503050406030204" pitchFamily="18" charset="0"/>
                                  <a:sym typeface="Wingdings" pitchFamily="2" charset="2"/>
                                </a:rPr>
                              </m:ctrlPr>
                            </m:sSubPr>
                            <m:e>
                              <m:r>
                                <a:rPr lang="en-US" sz="3000" b="0" i="1" smtClean="0">
                                  <a:solidFill>
                                    <a:srgbClr val="00B050"/>
                                  </a:solidFill>
                                  <a:latin typeface="Cambria Math" panose="02040503050406030204" pitchFamily="18" charset="0"/>
                                  <a:sym typeface="Wingdings" pitchFamily="2" charset="2"/>
                                </a:rPr>
                                <m:t>𝑛</m:t>
                              </m:r>
                            </m:e>
                            <m:sub>
                              <m:r>
                                <a:rPr lang="en-US" sz="3000" b="0" i="1" smtClean="0">
                                  <a:solidFill>
                                    <a:srgbClr val="00B050"/>
                                  </a:solidFill>
                                  <a:latin typeface="Cambria Math" panose="02040503050406030204" pitchFamily="18" charset="0"/>
                                  <a:sym typeface="Wingdings" pitchFamily="2" charset="2"/>
                                </a:rPr>
                                <m:t>𝑜𝑢𝑡</m:t>
                              </m:r>
                            </m:sub>
                          </m:sSub>
                          <m:r>
                            <a:rPr lang="en-US" sz="3000" b="0" i="1" smtClean="0">
                              <a:solidFill>
                                <a:srgbClr val="00B050"/>
                              </a:solidFill>
                              <a:latin typeface="Cambria Math" panose="02040503050406030204" pitchFamily="18" charset="0"/>
                              <a:sym typeface="Wingdings" pitchFamily="2" charset="2"/>
                            </a:rPr>
                            <m:t>−</m:t>
                          </m:r>
                          <m:r>
                            <a:rPr lang="en-US" sz="3000" b="0" i="1" smtClean="0">
                              <a:solidFill>
                                <a:srgbClr val="00B050"/>
                              </a:solidFill>
                              <a:latin typeface="Cambria Math" panose="02040503050406030204" pitchFamily="18" charset="0"/>
                              <a:sym typeface="Wingdings" pitchFamily="2" charset="2"/>
                            </a:rPr>
                            <m:t>𝑡𝑟𝑢𝑒</m:t>
                          </m:r>
                        </m:e>
                      </m:d>
                      <m:r>
                        <a:rPr lang="en-US" sz="3000" b="0" i="1" smtClean="0">
                          <a:solidFill>
                            <a:srgbClr val="00B050"/>
                          </a:solidFill>
                          <a:latin typeface="Cambria Math" panose="02040503050406030204" pitchFamily="18" charset="0"/>
                          <a:sym typeface="Wingdings" pitchFamily="2" charset="2"/>
                        </a:rPr>
                        <m:t>∗</m:t>
                      </m:r>
                      <m:sSub>
                        <m:sSubPr>
                          <m:ctrlPr>
                            <a:rPr lang="en-US" sz="3000" b="0" i="1" smtClean="0">
                              <a:solidFill>
                                <a:srgbClr val="00B050"/>
                              </a:solidFill>
                              <a:latin typeface="Cambria Math" panose="02040503050406030204" pitchFamily="18" charset="0"/>
                              <a:sym typeface="Wingdings" pitchFamily="2" charset="2"/>
                            </a:rPr>
                          </m:ctrlPr>
                        </m:sSubPr>
                        <m:e>
                          <m:r>
                            <a:rPr lang="en-US" sz="3000" b="0" i="1" smtClean="0">
                              <a:solidFill>
                                <a:srgbClr val="00B050"/>
                              </a:solidFill>
                              <a:latin typeface="Cambria Math" panose="02040503050406030204" pitchFamily="18" charset="0"/>
                              <a:sym typeface="Wingdings" pitchFamily="2" charset="2"/>
                            </a:rPr>
                            <m:t>𝑛</m:t>
                          </m:r>
                        </m:e>
                        <m:sub>
                          <m:r>
                            <a:rPr lang="en-US" sz="3000" b="0" i="1" smtClean="0">
                              <a:solidFill>
                                <a:srgbClr val="00B050"/>
                              </a:solidFill>
                              <a:latin typeface="Cambria Math" panose="02040503050406030204" pitchFamily="18" charset="0"/>
                              <a:sym typeface="Wingdings" pitchFamily="2" charset="2"/>
                            </a:rPr>
                            <m:t>𝑖</m:t>
                          </m:r>
                        </m:sub>
                      </m:sSub>
                    </m:oMath>
                  </m:oMathPara>
                </a14:m>
                <a:endParaRPr lang="en-US" sz="3000" dirty="0">
                  <a:solidFill>
                    <a:srgbClr val="00B050"/>
                  </a:solidFill>
                  <a:sym typeface="Wingdings" pitchFamily="2" charset="2"/>
                </a:endParaRPr>
              </a:p>
            </p:txBody>
          </p:sp>
        </mc:Choice>
        <mc:Fallback>
          <p:sp>
            <p:nvSpPr>
              <p:cNvPr id="2" name="TextBox 1">
                <a:extLst>
                  <a:ext uri="{FF2B5EF4-FFF2-40B4-BE49-F238E27FC236}">
                    <a16:creationId xmlns:a16="http://schemas.microsoft.com/office/drawing/2014/main" id="{396FCC63-A8DD-994A-AA2D-A8F82111E4CF}"/>
                  </a:ext>
                </a:extLst>
              </p:cNvPr>
              <p:cNvSpPr txBox="1">
                <a:spLocks noRot="1" noChangeAspect="1" noMove="1" noResize="1" noEditPoints="1" noAdjustHandles="1" noChangeArrowheads="1" noChangeShapeType="1" noTextEdit="1"/>
              </p:cNvSpPr>
              <p:nvPr/>
            </p:nvSpPr>
            <p:spPr>
              <a:xfrm>
                <a:off x="170057" y="119090"/>
                <a:ext cx="7626645" cy="553998"/>
              </a:xfrm>
              <a:prstGeom prst="rect">
                <a:avLst/>
              </a:prstGeom>
              <a:blipFill>
                <a:blip r:embed="rId29"/>
                <a:stretch>
                  <a:fillRect b="-1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4A30977-8985-8334-D9A7-41199654228C}"/>
                  </a:ext>
                </a:extLst>
              </p:cNvPr>
              <p:cNvSpPr txBox="1"/>
              <p:nvPr/>
            </p:nvSpPr>
            <p:spPr>
              <a:xfrm>
                <a:off x="6842919" y="1670235"/>
                <a:ext cx="35105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0.5</m:t>
                      </m:r>
                    </m:oMath>
                  </m:oMathPara>
                </a14:m>
                <a:endParaRPr lang="en-US" dirty="0">
                  <a:solidFill>
                    <a:srgbClr val="FF0000"/>
                  </a:solidFill>
                </a:endParaRPr>
              </a:p>
            </p:txBody>
          </p:sp>
        </mc:Choice>
        <mc:Fallback>
          <p:sp>
            <p:nvSpPr>
              <p:cNvPr id="7" name="TextBox 6">
                <a:extLst>
                  <a:ext uri="{FF2B5EF4-FFF2-40B4-BE49-F238E27FC236}">
                    <a16:creationId xmlns:a16="http://schemas.microsoft.com/office/drawing/2014/main" id="{F4A30977-8985-8334-D9A7-41199654228C}"/>
                  </a:ext>
                </a:extLst>
              </p:cNvPr>
              <p:cNvSpPr txBox="1">
                <a:spLocks noRot="1" noChangeAspect="1" noMove="1" noResize="1" noEditPoints="1" noAdjustHandles="1" noChangeArrowheads="1" noChangeShapeType="1" noTextEdit="1"/>
              </p:cNvSpPr>
              <p:nvPr/>
            </p:nvSpPr>
            <p:spPr>
              <a:xfrm>
                <a:off x="6842919" y="1670235"/>
                <a:ext cx="351058" cy="276999"/>
              </a:xfrm>
              <a:prstGeom prst="rect">
                <a:avLst/>
              </a:prstGeom>
              <a:blipFill>
                <a:blip r:embed="rId30"/>
                <a:stretch>
                  <a:fillRect l="-17857" r="-17857"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9510EAEE-A680-A6BB-2443-35414819859F}"/>
                  </a:ext>
                </a:extLst>
              </p:cNvPr>
              <p:cNvSpPr txBox="1"/>
              <p:nvPr/>
            </p:nvSpPr>
            <p:spPr>
              <a:xfrm>
                <a:off x="6933354" y="2875057"/>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oMath>
                  </m:oMathPara>
                </a14:m>
                <a:endParaRPr lang="en-US" dirty="0">
                  <a:solidFill>
                    <a:schemeClr val="bg1"/>
                  </a:solidFill>
                </a:endParaRPr>
              </a:p>
            </p:txBody>
          </p:sp>
        </mc:Choice>
        <mc:Fallback>
          <p:sp>
            <p:nvSpPr>
              <p:cNvPr id="8" name="TextBox 7">
                <a:extLst>
                  <a:ext uri="{FF2B5EF4-FFF2-40B4-BE49-F238E27FC236}">
                    <a16:creationId xmlns:a16="http://schemas.microsoft.com/office/drawing/2014/main" id="{9510EAEE-A680-A6BB-2443-35414819859F}"/>
                  </a:ext>
                </a:extLst>
              </p:cNvPr>
              <p:cNvSpPr txBox="1">
                <a:spLocks noRot="1" noChangeAspect="1" noMove="1" noResize="1" noEditPoints="1" noAdjustHandles="1" noChangeArrowheads="1" noChangeShapeType="1" noTextEdit="1"/>
              </p:cNvSpPr>
              <p:nvPr/>
            </p:nvSpPr>
            <p:spPr>
              <a:xfrm>
                <a:off x="6933354" y="2875057"/>
                <a:ext cx="174728" cy="276999"/>
              </a:xfrm>
              <a:prstGeom prst="rect">
                <a:avLst/>
              </a:prstGeom>
              <a:blipFill>
                <a:blip r:embed="rId31"/>
                <a:stretch>
                  <a:fillRect l="-26667" r="-26667"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417A5CC-ABCE-D611-D073-876422E2A796}"/>
                  </a:ext>
                </a:extLst>
              </p:cNvPr>
              <p:cNvSpPr txBox="1"/>
              <p:nvPr/>
            </p:nvSpPr>
            <p:spPr>
              <a:xfrm>
                <a:off x="6933354" y="4116486"/>
                <a:ext cx="17472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oMath>
                  </m:oMathPara>
                </a14:m>
                <a:endParaRPr lang="en-US" dirty="0">
                  <a:solidFill>
                    <a:schemeClr val="bg1"/>
                  </a:solidFill>
                </a:endParaRPr>
              </a:p>
            </p:txBody>
          </p:sp>
        </mc:Choice>
        <mc:Fallback>
          <p:sp>
            <p:nvSpPr>
              <p:cNvPr id="9" name="TextBox 8">
                <a:extLst>
                  <a:ext uri="{FF2B5EF4-FFF2-40B4-BE49-F238E27FC236}">
                    <a16:creationId xmlns:a16="http://schemas.microsoft.com/office/drawing/2014/main" id="{6417A5CC-ABCE-D611-D073-876422E2A796}"/>
                  </a:ext>
                </a:extLst>
              </p:cNvPr>
              <p:cNvSpPr txBox="1">
                <a:spLocks noRot="1" noChangeAspect="1" noMove="1" noResize="1" noEditPoints="1" noAdjustHandles="1" noChangeArrowheads="1" noChangeShapeType="1" noTextEdit="1"/>
              </p:cNvSpPr>
              <p:nvPr/>
            </p:nvSpPr>
            <p:spPr>
              <a:xfrm>
                <a:off x="6933354" y="4116486"/>
                <a:ext cx="174728" cy="276999"/>
              </a:xfrm>
              <a:prstGeom prst="rect">
                <a:avLst/>
              </a:prstGeom>
              <a:blipFill>
                <a:blip r:embed="rId31"/>
                <a:stretch>
                  <a:fillRect l="-26667" r="-26667" b="-4348"/>
                </a:stretch>
              </a:blipFill>
            </p:spPr>
            <p:txBody>
              <a:bodyPr/>
              <a:lstStyle/>
              <a:p>
                <a:r>
                  <a:rPr lang="en-US">
                    <a:noFill/>
                  </a:rPr>
                  <a:t> </a:t>
                </a:r>
              </a:p>
            </p:txBody>
          </p:sp>
        </mc:Fallback>
      </mc:AlternateContent>
    </p:spTree>
    <p:extLst>
      <p:ext uri="{BB962C8B-B14F-4D97-AF65-F5344CB8AC3E}">
        <p14:creationId xmlns:p14="http://schemas.microsoft.com/office/powerpoint/2010/main" val="1108275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96BFDD4-1A04-DC1F-D6E1-9E1E217FD484}"/>
              </a:ext>
            </a:extLst>
          </p:cNvPr>
          <p:cNvPicPr>
            <a:picLocks noChangeAspect="1"/>
          </p:cNvPicPr>
          <p:nvPr/>
        </p:nvPicPr>
        <p:blipFill>
          <a:blip r:embed="rId2"/>
          <a:stretch>
            <a:fillRect/>
          </a:stretch>
        </p:blipFill>
        <p:spPr>
          <a:xfrm>
            <a:off x="8597444" y="1437617"/>
            <a:ext cx="3441700" cy="2616200"/>
          </a:xfrm>
          <a:prstGeom prst="rect">
            <a:avLst/>
          </a:prstGeom>
        </p:spPr>
      </p:pic>
      <p:sp>
        <p:nvSpPr>
          <p:cNvPr id="8" name="Rectangle 7">
            <a:extLst>
              <a:ext uri="{FF2B5EF4-FFF2-40B4-BE49-F238E27FC236}">
                <a16:creationId xmlns:a16="http://schemas.microsoft.com/office/drawing/2014/main" id="{403E9DD6-642B-807D-CAD8-3C44C2768E76}"/>
              </a:ext>
            </a:extLst>
          </p:cNvPr>
          <p:cNvSpPr/>
          <p:nvPr/>
        </p:nvSpPr>
        <p:spPr>
          <a:xfrm>
            <a:off x="4757590" y="1903911"/>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sp>
        <p:nvSpPr>
          <p:cNvPr id="9" name="TextBox 8">
            <a:extLst>
              <a:ext uri="{FF2B5EF4-FFF2-40B4-BE49-F238E27FC236}">
                <a16:creationId xmlns:a16="http://schemas.microsoft.com/office/drawing/2014/main" id="{DF1A232A-62F5-C46F-8D1B-5F2F14360CB9}"/>
              </a:ext>
            </a:extLst>
          </p:cNvPr>
          <p:cNvSpPr txBox="1"/>
          <p:nvPr/>
        </p:nvSpPr>
        <p:spPr>
          <a:xfrm>
            <a:off x="751561" y="2530273"/>
            <a:ext cx="2361674" cy="430887"/>
          </a:xfrm>
          <a:prstGeom prst="rect">
            <a:avLst/>
          </a:prstGeom>
          <a:noFill/>
        </p:spPr>
        <p:txBody>
          <a:bodyPr wrap="square" rtlCol="0">
            <a:spAutoFit/>
          </a:bodyPr>
          <a:lstStyle/>
          <a:p>
            <a:pPr algn="ctr"/>
            <a:r>
              <a:rPr lang="en-US" sz="2200" dirty="0"/>
              <a:t>Input x</a:t>
            </a:r>
          </a:p>
        </p:txBody>
      </p:sp>
      <p:cxnSp>
        <p:nvCxnSpPr>
          <p:cNvPr id="10" name="Straight Connector 9">
            <a:extLst>
              <a:ext uri="{FF2B5EF4-FFF2-40B4-BE49-F238E27FC236}">
                <a16:creationId xmlns:a16="http://schemas.microsoft.com/office/drawing/2014/main" id="{F614397E-D8BC-4715-06EB-50232660C4ED}"/>
              </a:ext>
            </a:extLst>
          </p:cNvPr>
          <p:cNvCxnSpPr>
            <a:cxnSpLocks/>
          </p:cNvCxnSpPr>
          <p:nvPr/>
        </p:nvCxnSpPr>
        <p:spPr>
          <a:xfrm>
            <a:off x="4732538" y="3596826"/>
            <a:ext cx="199405" cy="7826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3D1EC4C-B4E2-CADD-EAE2-2B4DD3DADBD1}"/>
              </a:ext>
            </a:extLst>
          </p:cNvPr>
          <p:cNvCxnSpPr>
            <a:cxnSpLocks/>
          </p:cNvCxnSpPr>
          <p:nvPr/>
        </p:nvCxnSpPr>
        <p:spPr>
          <a:xfrm flipV="1">
            <a:off x="6728631" y="3596826"/>
            <a:ext cx="199406" cy="75876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2619C52-22F2-0FF2-96F7-E13D899E9296}"/>
              </a:ext>
            </a:extLst>
          </p:cNvPr>
          <p:cNvSpPr txBox="1"/>
          <p:nvPr/>
        </p:nvSpPr>
        <p:spPr>
          <a:xfrm>
            <a:off x="5134359" y="3849432"/>
            <a:ext cx="1391856" cy="369332"/>
          </a:xfrm>
          <a:prstGeom prst="rect">
            <a:avLst/>
          </a:prstGeom>
          <a:noFill/>
        </p:spPr>
        <p:txBody>
          <a:bodyPr wrap="none" rtlCol="0">
            <a:spAutoFit/>
          </a:bodyPr>
          <a:lstStyle/>
          <a:p>
            <a:r>
              <a:rPr lang="en-US" b="1" dirty="0"/>
              <a:t>Parameters</a:t>
            </a:r>
          </a:p>
        </p:txBody>
      </p:sp>
      <p:cxnSp>
        <p:nvCxnSpPr>
          <p:cNvPr id="15" name="Straight Arrow Connector 14">
            <a:extLst>
              <a:ext uri="{FF2B5EF4-FFF2-40B4-BE49-F238E27FC236}">
                <a16:creationId xmlns:a16="http://schemas.microsoft.com/office/drawing/2014/main" id="{893EECC5-08BF-3B1B-4705-A0B33761EF7C}"/>
              </a:ext>
            </a:extLst>
          </p:cNvPr>
          <p:cNvCxnSpPr/>
          <p:nvPr/>
        </p:nvCxnSpPr>
        <p:spPr>
          <a:xfrm>
            <a:off x="3113235"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98AE077-3DED-AFF9-5F28-3D931FA82CAA}"/>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030E65F3-12DC-2A85-4BE7-D6ED191F712B}"/>
              </a:ext>
            </a:extLst>
          </p:cNvPr>
          <p:cNvPicPr>
            <a:picLocks noChangeAspect="1"/>
          </p:cNvPicPr>
          <p:nvPr/>
        </p:nvPicPr>
        <p:blipFill>
          <a:blip r:embed="rId3"/>
          <a:stretch>
            <a:fillRect/>
          </a:stretch>
        </p:blipFill>
        <p:spPr>
          <a:xfrm>
            <a:off x="4781306" y="4379453"/>
            <a:ext cx="1947325" cy="1887712"/>
          </a:xfrm>
          <a:prstGeom prst="rect">
            <a:avLst/>
          </a:prstGeom>
        </p:spPr>
      </p:pic>
      <p:sp>
        <p:nvSpPr>
          <p:cNvPr id="20" name="TextBox 19">
            <a:extLst>
              <a:ext uri="{FF2B5EF4-FFF2-40B4-BE49-F238E27FC236}">
                <a16:creationId xmlns:a16="http://schemas.microsoft.com/office/drawing/2014/main" id="{40CA9D22-5EA1-A920-671B-D00B5003FA98}"/>
              </a:ext>
            </a:extLst>
          </p:cNvPr>
          <p:cNvSpPr txBox="1"/>
          <p:nvPr/>
        </p:nvSpPr>
        <p:spPr>
          <a:xfrm>
            <a:off x="573024" y="365760"/>
            <a:ext cx="1984582" cy="553998"/>
          </a:xfrm>
          <a:prstGeom prst="rect">
            <a:avLst/>
          </a:prstGeom>
          <a:noFill/>
        </p:spPr>
        <p:txBody>
          <a:bodyPr wrap="none" rtlCol="0">
            <a:spAutoFit/>
          </a:bodyPr>
          <a:lstStyle/>
          <a:p>
            <a:r>
              <a:rPr lang="en-US" sz="3000" dirty="0"/>
              <a:t>No training</a:t>
            </a:r>
          </a:p>
        </p:txBody>
      </p:sp>
    </p:spTree>
    <p:extLst>
      <p:ext uri="{BB962C8B-B14F-4D97-AF65-F5344CB8AC3E}">
        <p14:creationId xmlns:p14="http://schemas.microsoft.com/office/powerpoint/2010/main" val="667382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E061F-CAE0-64C2-83B3-48BB1C9C056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12C6A53-2F5B-C04D-C80D-11F12AFFC7F8}"/>
              </a:ext>
            </a:extLst>
          </p:cNvPr>
          <p:cNvPicPr>
            <a:picLocks noChangeAspect="1"/>
          </p:cNvPicPr>
          <p:nvPr/>
        </p:nvPicPr>
        <p:blipFill>
          <a:blip r:embed="rId2"/>
          <a:srcRect/>
          <a:stretch/>
        </p:blipFill>
        <p:spPr>
          <a:xfrm>
            <a:off x="8597444" y="1437617"/>
            <a:ext cx="3441700" cy="2616200"/>
          </a:xfrm>
          <a:prstGeom prst="rect">
            <a:avLst/>
          </a:prstGeom>
        </p:spPr>
      </p:pic>
      <p:sp>
        <p:nvSpPr>
          <p:cNvPr id="8" name="Rectangle 7">
            <a:extLst>
              <a:ext uri="{FF2B5EF4-FFF2-40B4-BE49-F238E27FC236}">
                <a16:creationId xmlns:a16="http://schemas.microsoft.com/office/drawing/2014/main" id="{7FA40EF9-109D-8B75-DB6C-7F334B6494E1}"/>
              </a:ext>
            </a:extLst>
          </p:cNvPr>
          <p:cNvSpPr/>
          <p:nvPr/>
        </p:nvSpPr>
        <p:spPr>
          <a:xfrm>
            <a:off x="4757590" y="1903911"/>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sp>
        <p:nvSpPr>
          <p:cNvPr id="9" name="TextBox 8">
            <a:extLst>
              <a:ext uri="{FF2B5EF4-FFF2-40B4-BE49-F238E27FC236}">
                <a16:creationId xmlns:a16="http://schemas.microsoft.com/office/drawing/2014/main" id="{15D614A0-B5E0-18E0-A50D-A5CB6465016E}"/>
              </a:ext>
            </a:extLst>
          </p:cNvPr>
          <p:cNvSpPr txBox="1"/>
          <p:nvPr/>
        </p:nvSpPr>
        <p:spPr>
          <a:xfrm>
            <a:off x="751561" y="2530273"/>
            <a:ext cx="2361674" cy="430887"/>
          </a:xfrm>
          <a:prstGeom prst="rect">
            <a:avLst/>
          </a:prstGeom>
          <a:noFill/>
        </p:spPr>
        <p:txBody>
          <a:bodyPr wrap="square" rtlCol="0">
            <a:spAutoFit/>
          </a:bodyPr>
          <a:lstStyle/>
          <a:p>
            <a:pPr algn="ctr"/>
            <a:r>
              <a:rPr lang="en-US" sz="2200" dirty="0"/>
              <a:t>Input x</a:t>
            </a:r>
          </a:p>
        </p:txBody>
      </p:sp>
      <p:cxnSp>
        <p:nvCxnSpPr>
          <p:cNvPr id="10" name="Straight Connector 9">
            <a:extLst>
              <a:ext uri="{FF2B5EF4-FFF2-40B4-BE49-F238E27FC236}">
                <a16:creationId xmlns:a16="http://schemas.microsoft.com/office/drawing/2014/main" id="{4E243289-62DA-3113-9102-9D3BEB11A600}"/>
              </a:ext>
            </a:extLst>
          </p:cNvPr>
          <p:cNvCxnSpPr>
            <a:cxnSpLocks/>
          </p:cNvCxnSpPr>
          <p:nvPr/>
        </p:nvCxnSpPr>
        <p:spPr>
          <a:xfrm>
            <a:off x="4732538" y="3596826"/>
            <a:ext cx="199405" cy="7826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C760B3-B19E-EF8A-B7C0-D4D1B217644D}"/>
              </a:ext>
            </a:extLst>
          </p:cNvPr>
          <p:cNvCxnSpPr>
            <a:cxnSpLocks/>
          </p:cNvCxnSpPr>
          <p:nvPr/>
        </p:nvCxnSpPr>
        <p:spPr>
          <a:xfrm flipV="1">
            <a:off x="6728631" y="3596826"/>
            <a:ext cx="199406" cy="75876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6B2CB6F-ED20-39D6-0519-D39C203F7AEF}"/>
              </a:ext>
            </a:extLst>
          </p:cNvPr>
          <p:cNvSpPr txBox="1"/>
          <p:nvPr/>
        </p:nvSpPr>
        <p:spPr>
          <a:xfrm>
            <a:off x="5134359" y="3849432"/>
            <a:ext cx="1391856" cy="369332"/>
          </a:xfrm>
          <a:prstGeom prst="rect">
            <a:avLst/>
          </a:prstGeom>
          <a:noFill/>
        </p:spPr>
        <p:txBody>
          <a:bodyPr wrap="none" rtlCol="0">
            <a:spAutoFit/>
          </a:bodyPr>
          <a:lstStyle/>
          <a:p>
            <a:r>
              <a:rPr lang="en-US" b="1" dirty="0"/>
              <a:t>Parameters</a:t>
            </a:r>
          </a:p>
        </p:txBody>
      </p:sp>
      <p:cxnSp>
        <p:nvCxnSpPr>
          <p:cNvPr id="15" name="Straight Arrow Connector 14">
            <a:extLst>
              <a:ext uri="{FF2B5EF4-FFF2-40B4-BE49-F238E27FC236}">
                <a16:creationId xmlns:a16="http://schemas.microsoft.com/office/drawing/2014/main" id="{A63372BC-2B82-F5A5-064A-6EF1A1310205}"/>
              </a:ext>
            </a:extLst>
          </p:cNvPr>
          <p:cNvCxnSpPr/>
          <p:nvPr/>
        </p:nvCxnSpPr>
        <p:spPr>
          <a:xfrm>
            <a:off x="3113235"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9AA5391-B65F-AC32-DF6D-DEDC3FDA1FC8}"/>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C3EF0863-ECEB-2B92-723D-47C93614EE47}"/>
              </a:ext>
            </a:extLst>
          </p:cNvPr>
          <p:cNvPicPr>
            <a:picLocks noChangeAspect="1"/>
          </p:cNvPicPr>
          <p:nvPr/>
        </p:nvPicPr>
        <p:blipFill>
          <a:blip r:embed="rId3"/>
          <a:srcRect/>
          <a:stretch/>
        </p:blipFill>
        <p:spPr>
          <a:xfrm>
            <a:off x="4805691" y="4379453"/>
            <a:ext cx="1947323" cy="1887712"/>
          </a:xfrm>
          <a:prstGeom prst="rect">
            <a:avLst/>
          </a:prstGeom>
        </p:spPr>
      </p:pic>
      <p:sp>
        <p:nvSpPr>
          <p:cNvPr id="5" name="TextBox 4">
            <a:extLst>
              <a:ext uri="{FF2B5EF4-FFF2-40B4-BE49-F238E27FC236}">
                <a16:creationId xmlns:a16="http://schemas.microsoft.com/office/drawing/2014/main" id="{295D385D-33DD-A71B-E737-7B604D99EA11}"/>
              </a:ext>
            </a:extLst>
          </p:cNvPr>
          <p:cNvSpPr txBox="1"/>
          <p:nvPr/>
        </p:nvSpPr>
        <p:spPr>
          <a:xfrm>
            <a:off x="573024" y="365760"/>
            <a:ext cx="3807068" cy="553998"/>
          </a:xfrm>
          <a:prstGeom prst="rect">
            <a:avLst/>
          </a:prstGeom>
          <a:noFill/>
        </p:spPr>
        <p:txBody>
          <a:bodyPr wrap="none" rtlCol="0">
            <a:spAutoFit/>
          </a:bodyPr>
          <a:lstStyle/>
          <a:p>
            <a:r>
              <a:rPr lang="en-US" sz="3000" dirty="0"/>
              <a:t>Two rounds of training</a:t>
            </a:r>
          </a:p>
        </p:txBody>
      </p:sp>
    </p:spTree>
    <p:extLst>
      <p:ext uri="{BB962C8B-B14F-4D97-AF65-F5344CB8AC3E}">
        <p14:creationId xmlns:p14="http://schemas.microsoft.com/office/powerpoint/2010/main" val="3731187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199C5-6B3D-A578-7CBE-B78664CFD51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E88ABE9-E4EF-4CEE-19FC-6C4314D136ED}"/>
              </a:ext>
            </a:extLst>
          </p:cNvPr>
          <p:cNvPicPr>
            <a:picLocks noChangeAspect="1"/>
          </p:cNvPicPr>
          <p:nvPr/>
        </p:nvPicPr>
        <p:blipFill>
          <a:blip r:embed="rId2"/>
          <a:srcRect/>
          <a:stretch/>
        </p:blipFill>
        <p:spPr>
          <a:xfrm>
            <a:off x="8597444" y="1437617"/>
            <a:ext cx="3441700" cy="2616200"/>
          </a:xfrm>
          <a:prstGeom prst="rect">
            <a:avLst/>
          </a:prstGeom>
        </p:spPr>
      </p:pic>
      <p:sp>
        <p:nvSpPr>
          <p:cNvPr id="8" name="Rectangle 7">
            <a:extLst>
              <a:ext uri="{FF2B5EF4-FFF2-40B4-BE49-F238E27FC236}">
                <a16:creationId xmlns:a16="http://schemas.microsoft.com/office/drawing/2014/main" id="{8753F34E-1089-4F58-A1FD-AE819CA6C422}"/>
              </a:ext>
            </a:extLst>
          </p:cNvPr>
          <p:cNvSpPr/>
          <p:nvPr/>
        </p:nvSpPr>
        <p:spPr>
          <a:xfrm>
            <a:off x="4757590" y="1903911"/>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sp>
        <p:nvSpPr>
          <p:cNvPr id="9" name="TextBox 8">
            <a:extLst>
              <a:ext uri="{FF2B5EF4-FFF2-40B4-BE49-F238E27FC236}">
                <a16:creationId xmlns:a16="http://schemas.microsoft.com/office/drawing/2014/main" id="{68637877-606F-C684-30DB-84C7832D6467}"/>
              </a:ext>
            </a:extLst>
          </p:cNvPr>
          <p:cNvSpPr txBox="1"/>
          <p:nvPr/>
        </p:nvSpPr>
        <p:spPr>
          <a:xfrm>
            <a:off x="751561" y="2530273"/>
            <a:ext cx="2361674" cy="430887"/>
          </a:xfrm>
          <a:prstGeom prst="rect">
            <a:avLst/>
          </a:prstGeom>
          <a:noFill/>
        </p:spPr>
        <p:txBody>
          <a:bodyPr wrap="square" rtlCol="0">
            <a:spAutoFit/>
          </a:bodyPr>
          <a:lstStyle/>
          <a:p>
            <a:pPr algn="ctr"/>
            <a:r>
              <a:rPr lang="en-US" sz="2200" dirty="0"/>
              <a:t>Input x</a:t>
            </a:r>
          </a:p>
        </p:txBody>
      </p:sp>
      <p:cxnSp>
        <p:nvCxnSpPr>
          <p:cNvPr id="10" name="Straight Connector 9">
            <a:extLst>
              <a:ext uri="{FF2B5EF4-FFF2-40B4-BE49-F238E27FC236}">
                <a16:creationId xmlns:a16="http://schemas.microsoft.com/office/drawing/2014/main" id="{9AAC093E-C0C2-FF54-ED07-7F31ED452E9D}"/>
              </a:ext>
            </a:extLst>
          </p:cNvPr>
          <p:cNvCxnSpPr>
            <a:cxnSpLocks/>
          </p:cNvCxnSpPr>
          <p:nvPr/>
        </p:nvCxnSpPr>
        <p:spPr>
          <a:xfrm>
            <a:off x="4732538" y="3596826"/>
            <a:ext cx="199405" cy="7826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608DA3B-7551-CFF1-1A3F-2A0C218DFCCB}"/>
              </a:ext>
            </a:extLst>
          </p:cNvPr>
          <p:cNvCxnSpPr>
            <a:cxnSpLocks/>
          </p:cNvCxnSpPr>
          <p:nvPr/>
        </p:nvCxnSpPr>
        <p:spPr>
          <a:xfrm flipV="1">
            <a:off x="6728631" y="3596826"/>
            <a:ext cx="199406" cy="75876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77AAA1E-624D-D8AF-51C1-77CFEBEC7DF5}"/>
              </a:ext>
            </a:extLst>
          </p:cNvPr>
          <p:cNvSpPr txBox="1"/>
          <p:nvPr/>
        </p:nvSpPr>
        <p:spPr>
          <a:xfrm>
            <a:off x="5134359" y="3849432"/>
            <a:ext cx="1391856" cy="369332"/>
          </a:xfrm>
          <a:prstGeom prst="rect">
            <a:avLst/>
          </a:prstGeom>
          <a:noFill/>
        </p:spPr>
        <p:txBody>
          <a:bodyPr wrap="none" rtlCol="0">
            <a:spAutoFit/>
          </a:bodyPr>
          <a:lstStyle/>
          <a:p>
            <a:r>
              <a:rPr lang="en-US" b="1" dirty="0"/>
              <a:t>Parameters</a:t>
            </a:r>
          </a:p>
        </p:txBody>
      </p:sp>
      <p:cxnSp>
        <p:nvCxnSpPr>
          <p:cNvPr id="15" name="Straight Arrow Connector 14">
            <a:extLst>
              <a:ext uri="{FF2B5EF4-FFF2-40B4-BE49-F238E27FC236}">
                <a16:creationId xmlns:a16="http://schemas.microsoft.com/office/drawing/2014/main" id="{BE83284B-7ED6-2BB9-074B-402221721B0C}"/>
              </a:ext>
            </a:extLst>
          </p:cNvPr>
          <p:cNvCxnSpPr/>
          <p:nvPr/>
        </p:nvCxnSpPr>
        <p:spPr>
          <a:xfrm>
            <a:off x="3113235"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2AD8B0A-AD01-C25F-D34F-AD30D1C185D0}"/>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EE53D168-4D38-23B4-9C82-32F0A3E160A7}"/>
              </a:ext>
            </a:extLst>
          </p:cNvPr>
          <p:cNvPicPr>
            <a:picLocks noChangeAspect="1"/>
          </p:cNvPicPr>
          <p:nvPr/>
        </p:nvPicPr>
        <p:blipFill>
          <a:blip r:embed="rId3"/>
          <a:srcRect/>
          <a:stretch/>
        </p:blipFill>
        <p:spPr>
          <a:xfrm>
            <a:off x="4805691" y="4379453"/>
            <a:ext cx="1947323" cy="1887711"/>
          </a:xfrm>
          <a:prstGeom prst="rect">
            <a:avLst/>
          </a:prstGeom>
        </p:spPr>
      </p:pic>
      <p:sp>
        <p:nvSpPr>
          <p:cNvPr id="2" name="TextBox 1">
            <a:extLst>
              <a:ext uri="{FF2B5EF4-FFF2-40B4-BE49-F238E27FC236}">
                <a16:creationId xmlns:a16="http://schemas.microsoft.com/office/drawing/2014/main" id="{CB62AC03-F6F6-C783-8DD0-40033DDD806C}"/>
              </a:ext>
            </a:extLst>
          </p:cNvPr>
          <p:cNvSpPr txBox="1"/>
          <p:nvPr/>
        </p:nvSpPr>
        <p:spPr>
          <a:xfrm>
            <a:off x="573024" y="365760"/>
            <a:ext cx="4074000" cy="553998"/>
          </a:xfrm>
          <a:prstGeom prst="rect">
            <a:avLst/>
          </a:prstGeom>
          <a:noFill/>
        </p:spPr>
        <p:txBody>
          <a:bodyPr wrap="none" rtlCol="0">
            <a:spAutoFit/>
          </a:bodyPr>
          <a:lstStyle/>
          <a:p>
            <a:r>
              <a:rPr lang="en-US" sz="3000" dirty="0"/>
              <a:t>Three rounds of training</a:t>
            </a:r>
          </a:p>
        </p:txBody>
      </p:sp>
    </p:spTree>
    <p:extLst>
      <p:ext uri="{BB962C8B-B14F-4D97-AF65-F5344CB8AC3E}">
        <p14:creationId xmlns:p14="http://schemas.microsoft.com/office/powerpoint/2010/main" val="3578259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398F4-B6B3-BEC7-FA0B-EF618012809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8F13A60-E7D1-72FD-7736-80A2496A8E63}"/>
              </a:ext>
            </a:extLst>
          </p:cNvPr>
          <p:cNvPicPr>
            <a:picLocks noChangeAspect="1"/>
          </p:cNvPicPr>
          <p:nvPr/>
        </p:nvPicPr>
        <p:blipFill>
          <a:blip r:embed="rId2"/>
          <a:srcRect/>
          <a:stretch/>
        </p:blipFill>
        <p:spPr>
          <a:xfrm>
            <a:off x="8597444" y="1437617"/>
            <a:ext cx="3441700" cy="2616200"/>
          </a:xfrm>
          <a:prstGeom prst="rect">
            <a:avLst/>
          </a:prstGeom>
        </p:spPr>
      </p:pic>
      <p:sp>
        <p:nvSpPr>
          <p:cNvPr id="8" name="Rectangle 7">
            <a:extLst>
              <a:ext uri="{FF2B5EF4-FFF2-40B4-BE49-F238E27FC236}">
                <a16:creationId xmlns:a16="http://schemas.microsoft.com/office/drawing/2014/main" id="{DA1547EA-FF13-072F-A3B3-78EC563BF264}"/>
              </a:ext>
            </a:extLst>
          </p:cNvPr>
          <p:cNvSpPr/>
          <p:nvPr/>
        </p:nvSpPr>
        <p:spPr>
          <a:xfrm>
            <a:off x="4757590" y="1903911"/>
            <a:ext cx="2195499" cy="169291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Feedforward Neural Network</a:t>
            </a:r>
          </a:p>
        </p:txBody>
      </p:sp>
      <p:sp>
        <p:nvSpPr>
          <p:cNvPr id="9" name="TextBox 8">
            <a:extLst>
              <a:ext uri="{FF2B5EF4-FFF2-40B4-BE49-F238E27FC236}">
                <a16:creationId xmlns:a16="http://schemas.microsoft.com/office/drawing/2014/main" id="{95A54987-60EF-2CFF-AEBB-BBF90A999135}"/>
              </a:ext>
            </a:extLst>
          </p:cNvPr>
          <p:cNvSpPr txBox="1"/>
          <p:nvPr/>
        </p:nvSpPr>
        <p:spPr>
          <a:xfrm>
            <a:off x="751561" y="2530273"/>
            <a:ext cx="2361674" cy="430887"/>
          </a:xfrm>
          <a:prstGeom prst="rect">
            <a:avLst/>
          </a:prstGeom>
          <a:noFill/>
        </p:spPr>
        <p:txBody>
          <a:bodyPr wrap="square" rtlCol="0">
            <a:spAutoFit/>
          </a:bodyPr>
          <a:lstStyle/>
          <a:p>
            <a:pPr algn="ctr"/>
            <a:r>
              <a:rPr lang="en-US" sz="2200" dirty="0"/>
              <a:t>Input x</a:t>
            </a:r>
          </a:p>
        </p:txBody>
      </p:sp>
      <p:cxnSp>
        <p:nvCxnSpPr>
          <p:cNvPr id="10" name="Straight Connector 9">
            <a:extLst>
              <a:ext uri="{FF2B5EF4-FFF2-40B4-BE49-F238E27FC236}">
                <a16:creationId xmlns:a16="http://schemas.microsoft.com/office/drawing/2014/main" id="{DCEA9257-5DB2-74F3-8C6B-EAFCF9B4A3D6}"/>
              </a:ext>
            </a:extLst>
          </p:cNvPr>
          <p:cNvCxnSpPr>
            <a:cxnSpLocks/>
          </p:cNvCxnSpPr>
          <p:nvPr/>
        </p:nvCxnSpPr>
        <p:spPr>
          <a:xfrm>
            <a:off x="4732538" y="3596826"/>
            <a:ext cx="199405" cy="7826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9941FE1-57DF-D0FB-7CB8-1554BDFEE37C}"/>
              </a:ext>
            </a:extLst>
          </p:cNvPr>
          <p:cNvCxnSpPr>
            <a:cxnSpLocks/>
          </p:cNvCxnSpPr>
          <p:nvPr/>
        </p:nvCxnSpPr>
        <p:spPr>
          <a:xfrm flipV="1">
            <a:off x="6728631" y="3596826"/>
            <a:ext cx="199406" cy="75876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FF7ACFD-E408-ED47-2907-A53E9857721B}"/>
              </a:ext>
            </a:extLst>
          </p:cNvPr>
          <p:cNvSpPr txBox="1"/>
          <p:nvPr/>
        </p:nvSpPr>
        <p:spPr>
          <a:xfrm>
            <a:off x="5134359" y="3849432"/>
            <a:ext cx="1391856" cy="369332"/>
          </a:xfrm>
          <a:prstGeom prst="rect">
            <a:avLst/>
          </a:prstGeom>
          <a:noFill/>
        </p:spPr>
        <p:txBody>
          <a:bodyPr wrap="none" rtlCol="0">
            <a:spAutoFit/>
          </a:bodyPr>
          <a:lstStyle/>
          <a:p>
            <a:r>
              <a:rPr lang="en-US" b="1" dirty="0"/>
              <a:t>Parameters</a:t>
            </a:r>
          </a:p>
        </p:txBody>
      </p:sp>
      <p:cxnSp>
        <p:nvCxnSpPr>
          <p:cNvPr id="15" name="Straight Arrow Connector 14">
            <a:extLst>
              <a:ext uri="{FF2B5EF4-FFF2-40B4-BE49-F238E27FC236}">
                <a16:creationId xmlns:a16="http://schemas.microsoft.com/office/drawing/2014/main" id="{2396030A-AF58-49EB-44C4-43E80725A5E3}"/>
              </a:ext>
            </a:extLst>
          </p:cNvPr>
          <p:cNvCxnSpPr/>
          <p:nvPr/>
        </p:nvCxnSpPr>
        <p:spPr>
          <a:xfrm>
            <a:off x="3113235"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0980986-B41B-E529-A299-7DAF471C7E84}"/>
              </a:ext>
            </a:extLst>
          </p:cNvPr>
          <p:cNvCxnSpPr/>
          <p:nvPr/>
        </p:nvCxnSpPr>
        <p:spPr>
          <a:xfrm>
            <a:off x="7369560" y="2745717"/>
            <a:ext cx="1102290" cy="0"/>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AB9B4F11-D768-3B27-B3F9-37DD25946117}"/>
              </a:ext>
            </a:extLst>
          </p:cNvPr>
          <p:cNvPicPr>
            <a:picLocks noChangeAspect="1"/>
          </p:cNvPicPr>
          <p:nvPr/>
        </p:nvPicPr>
        <p:blipFill>
          <a:blip r:embed="rId3"/>
          <a:srcRect/>
          <a:stretch/>
        </p:blipFill>
        <p:spPr>
          <a:xfrm>
            <a:off x="4805691" y="4379453"/>
            <a:ext cx="1947322" cy="1887711"/>
          </a:xfrm>
          <a:prstGeom prst="rect">
            <a:avLst/>
          </a:prstGeom>
        </p:spPr>
      </p:pic>
      <p:sp>
        <p:nvSpPr>
          <p:cNvPr id="2" name="TextBox 1">
            <a:extLst>
              <a:ext uri="{FF2B5EF4-FFF2-40B4-BE49-F238E27FC236}">
                <a16:creationId xmlns:a16="http://schemas.microsoft.com/office/drawing/2014/main" id="{9A56A49D-5E3B-B2E5-FFA7-FE8B5CC92CE4}"/>
              </a:ext>
            </a:extLst>
          </p:cNvPr>
          <p:cNvSpPr txBox="1"/>
          <p:nvPr/>
        </p:nvSpPr>
        <p:spPr>
          <a:xfrm>
            <a:off x="573024" y="365760"/>
            <a:ext cx="3630417" cy="553998"/>
          </a:xfrm>
          <a:prstGeom prst="rect">
            <a:avLst/>
          </a:prstGeom>
          <a:noFill/>
        </p:spPr>
        <p:txBody>
          <a:bodyPr wrap="none" rtlCol="0">
            <a:spAutoFit/>
          </a:bodyPr>
          <a:lstStyle/>
          <a:p>
            <a:r>
              <a:rPr lang="en-US" sz="3000" dirty="0"/>
              <a:t>Six rounds of training</a:t>
            </a:r>
          </a:p>
        </p:txBody>
      </p:sp>
    </p:spTree>
    <p:extLst>
      <p:ext uri="{BB962C8B-B14F-4D97-AF65-F5344CB8AC3E}">
        <p14:creationId xmlns:p14="http://schemas.microsoft.com/office/powerpoint/2010/main" val="2072400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47592F-BA2F-4F87-5BD1-14CEF1E79346}"/>
              </a:ext>
            </a:extLst>
          </p:cNvPr>
          <p:cNvPicPr>
            <a:picLocks noChangeAspect="1"/>
          </p:cNvPicPr>
          <p:nvPr/>
        </p:nvPicPr>
        <p:blipFill>
          <a:blip r:embed="rId2"/>
          <a:stretch>
            <a:fillRect/>
          </a:stretch>
        </p:blipFill>
        <p:spPr>
          <a:xfrm>
            <a:off x="1077406" y="1510151"/>
            <a:ext cx="3695559" cy="3837696"/>
          </a:xfrm>
          <a:prstGeom prst="rect">
            <a:avLst/>
          </a:prstGeom>
        </p:spPr>
      </p:pic>
      <p:pic>
        <p:nvPicPr>
          <p:cNvPr id="5" name="Picture 4">
            <a:extLst>
              <a:ext uri="{FF2B5EF4-FFF2-40B4-BE49-F238E27FC236}">
                <a16:creationId xmlns:a16="http://schemas.microsoft.com/office/drawing/2014/main" id="{61494295-6A7B-F969-B706-B94E6B15402B}"/>
              </a:ext>
            </a:extLst>
          </p:cNvPr>
          <p:cNvPicPr>
            <a:picLocks noChangeAspect="1"/>
          </p:cNvPicPr>
          <p:nvPr/>
        </p:nvPicPr>
        <p:blipFill>
          <a:blip r:embed="rId3"/>
          <a:stretch>
            <a:fillRect/>
          </a:stretch>
        </p:blipFill>
        <p:spPr>
          <a:xfrm>
            <a:off x="6390752" y="1406577"/>
            <a:ext cx="4416111" cy="4044845"/>
          </a:xfrm>
          <a:prstGeom prst="rect">
            <a:avLst/>
          </a:prstGeom>
        </p:spPr>
      </p:pic>
    </p:spTree>
    <p:extLst>
      <p:ext uri="{BB962C8B-B14F-4D97-AF65-F5344CB8AC3E}">
        <p14:creationId xmlns:p14="http://schemas.microsoft.com/office/powerpoint/2010/main" val="3561095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1360</Words>
  <Application>Microsoft Macintosh PowerPoint</Application>
  <PresentationFormat>Widescreen</PresentationFormat>
  <Paragraphs>367</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Aptos Display</vt:lpstr>
      <vt:lpstr>Arial</vt:lpstr>
      <vt:lpstr>Cambria Math</vt:lpstr>
      <vt:lpstr>Wingdings</vt:lpstr>
      <vt:lpstr>Office Theme</vt:lpstr>
      <vt:lpstr>Feedforward Neural Networks</vt:lpstr>
      <vt:lpstr>PowerPoint Presentation</vt:lpstr>
      <vt:lpstr>A common problem in physics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If we tune the knobs and dials of an FNN right, we can model any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know how to make a prediction given a set of weights a biases. But how do we tune them to represent a particular function? That’s the learning part.</vt:lpstr>
      <vt:lpstr>PowerPoint Presentation</vt:lpstr>
      <vt:lpstr>How can we find the right weights and biases? </vt:lpstr>
      <vt:lpstr>How can we find the weights and biases that minimize the loss?</vt:lpstr>
      <vt:lpstr>Gradient descent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Linden Rigel Burack</dc:creator>
  <cp:lastModifiedBy>Linden Rigel Burack</cp:lastModifiedBy>
  <cp:revision>111</cp:revision>
  <dcterms:created xsi:type="dcterms:W3CDTF">2026-01-29T02:27:28Z</dcterms:created>
  <dcterms:modified xsi:type="dcterms:W3CDTF">2026-01-29T19:46:13Z</dcterms:modified>
</cp:coreProperties>
</file>