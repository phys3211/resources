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8" r:id="rId4"/>
    <p:sldId id="257" r:id="rId5"/>
    <p:sldId id="260" r:id="rId6"/>
    <p:sldId id="258" r:id="rId7"/>
    <p:sldId id="263" r:id="rId8"/>
    <p:sldId id="264" r:id="rId9"/>
  </p:sldIdLst>
  <p:sldSz cx="18288000" cy="10287000"/>
  <p:notesSz cx="6858000" cy="9144000"/>
  <p:embeddedFontLst>
    <p:embeddedFont>
      <p:font typeface="Montserrat" pitchFamily="2" charset="77"/>
      <p:regular r:id="rId11"/>
      <p:bold r:id="rId12"/>
      <p:italic r:id="rId13"/>
      <p:boldItalic r:id="rId14"/>
    </p:embeddedFont>
    <p:embeddedFont>
      <p:font typeface="Montserrat Black" panose="00000A00000000000000" pitchFamily="2" charset="77"/>
      <p:bold r:id="rId15"/>
      <p:italic r:id="rId16"/>
      <p:boldItalic r:id="rId17"/>
    </p:embeddedFont>
    <p:embeddedFont>
      <p:font typeface="Montserrat SemiBold" panose="000007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QOF+b0D/QkYFY0iUi/QKaZxo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C6B7CB-F7FA-46A7-B1E4-38CA758FC249}">
  <a:tblStyle styleId="{5FC6B7CB-F7FA-46A7-B1E4-38CA758FC2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>
        <p:scale>
          <a:sx n="64" d="100"/>
          <a:sy n="64" d="100"/>
        </p:scale>
        <p:origin x="1184" y="6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ysics.weber.edu/schroeder/software/demos/isingmodel.html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137159" y="446855"/>
            <a:ext cx="4703973" cy="596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730387">
            <a:off x="15263560" y="8378377"/>
            <a:ext cx="5240756" cy="6641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 rot="1516102">
            <a:off x="12197807" y="1124898"/>
            <a:ext cx="5004627" cy="5121939"/>
            <a:chOff x="0" y="-19050"/>
            <a:chExt cx="812800" cy="83185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44669" cy="167338"/>
            </a:xfrm>
            <a:custGeom>
              <a:avLst/>
              <a:gdLst/>
              <a:ahLst/>
              <a:cxnLst/>
              <a:rect l="l" t="t" r="r" b="b"/>
              <a:pathLst>
                <a:path w="44669" h="167338" extrusionOk="0">
                  <a:moveTo>
                    <a:pt x="0" y="0"/>
                  </a:moveTo>
                  <a:lnTo>
                    <a:pt x="44669" y="0"/>
                  </a:lnTo>
                  <a:lnTo>
                    <a:pt x="44669" y="167338"/>
                  </a:lnTo>
                  <a:lnTo>
                    <a:pt x="0" y="167338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628652">
            <a:off x="12120611" y="-4879883"/>
            <a:ext cx="5240756" cy="6641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 rot="3363114">
            <a:off x="7063065" y="6064306"/>
            <a:ext cx="5004601" cy="5121936"/>
            <a:chOff x="0" y="-19050"/>
            <a:chExt cx="812800" cy="83185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1091388">
            <a:off x="7232225" y="1608309"/>
            <a:ext cx="5004601" cy="5121936"/>
            <a:chOff x="0" y="-19050"/>
            <a:chExt cx="812800" cy="83185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 rot="-5243819">
            <a:off x="9833624" y="-3973380"/>
            <a:ext cx="5004601" cy="5121971"/>
            <a:chOff x="0" y="-19050"/>
            <a:chExt cx="812800" cy="831850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 rot="-552116">
            <a:off x="7192797" y="2433863"/>
            <a:ext cx="5004601" cy="5121971"/>
            <a:chOff x="0" y="-19050"/>
            <a:chExt cx="812800" cy="83185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 rot="3310752">
            <a:off x="4537339" y="6332272"/>
            <a:ext cx="5004601" cy="5121971"/>
            <a:chOff x="0" y="-19050"/>
            <a:chExt cx="812800" cy="83185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 rot="3310752">
            <a:off x="11040664" y="3872375"/>
            <a:ext cx="5004601" cy="5121971"/>
            <a:chOff x="0" y="-19050"/>
            <a:chExt cx="812800" cy="831850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 rot="3310752">
            <a:off x="4090574" y="1503291"/>
            <a:ext cx="5004601" cy="5121971"/>
            <a:chOff x="0" y="-19050"/>
            <a:chExt cx="812800" cy="831850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 rot="-948165">
            <a:off x="10371502" y="1559079"/>
            <a:ext cx="5004601" cy="5121971"/>
            <a:chOff x="0" y="-19050"/>
            <a:chExt cx="812800" cy="831850"/>
          </a:xfrm>
        </p:grpSpPr>
        <p:sp>
          <p:nvSpPr>
            <p:cNvPr id="112" name="Google Shape;112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"/>
          <p:cNvGrpSpPr/>
          <p:nvPr/>
        </p:nvGrpSpPr>
        <p:grpSpPr>
          <a:xfrm rot="-6072879">
            <a:off x="11344311" y="89563"/>
            <a:ext cx="5004601" cy="5121971"/>
            <a:chOff x="0" y="-19050"/>
            <a:chExt cx="812800" cy="831850"/>
          </a:xfrm>
        </p:grpSpPr>
        <p:sp>
          <p:nvSpPr>
            <p:cNvPr id="115" name="Google Shape;115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Google Shape;116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"/>
          <p:cNvGrpSpPr/>
          <p:nvPr/>
        </p:nvGrpSpPr>
        <p:grpSpPr>
          <a:xfrm rot="-948165">
            <a:off x="10864024" y="3253083"/>
            <a:ext cx="5004601" cy="5121971"/>
            <a:chOff x="0" y="-19050"/>
            <a:chExt cx="812800" cy="831850"/>
          </a:xfrm>
        </p:grpSpPr>
        <p:sp>
          <p:nvSpPr>
            <p:cNvPr id="118" name="Google Shape;118;p1"/>
            <p:cNvSpPr/>
            <p:nvPr/>
          </p:nvSpPr>
          <p:spPr>
            <a:xfrm>
              <a:off x="0" y="0"/>
              <a:ext cx="41053" cy="81373"/>
            </a:xfrm>
            <a:custGeom>
              <a:avLst/>
              <a:gdLst/>
              <a:ahLst/>
              <a:cxnLst/>
              <a:rect l="l" t="t" r="r" b="b"/>
              <a:pathLst>
                <a:path w="41053" h="81373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81373"/>
                  </a:lnTo>
                  <a:lnTo>
                    <a:pt x="0" y="81373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"/>
          <p:cNvGrpSpPr/>
          <p:nvPr/>
        </p:nvGrpSpPr>
        <p:grpSpPr>
          <a:xfrm rot="-3828759">
            <a:off x="8968224" y="438935"/>
            <a:ext cx="5004601" cy="5121936"/>
            <a:chOff x="0" y="-19050"/>
            <a:chExt cx="812800" cy="831850"/>
          </a:xfrm>
        </p:grpSpPr>
        <p:sp>
          <p:nvSpPr>
            <p:cNvPr id="121" name="Google Shape;121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Google Shape;12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"/>
          <p:cNvGrpSpPr/>
          <p:nvPr/>
        </p:nvGrpSpPr>
        <p:grpSpPr>
          <a:xfrm rot="-3828759">
            <a:off x="11716824" y="-2044144"/>
            <a:ext cx="5004601" cy="5121936"/>
            <a:chOff x="0" y="-19050"/>
            <a:chExt cx="812800" cy="831850"/>
          </a:xfrm>
        </p:grpSpPr>
        <p:sp>
          <p:nvSpPr>
            <p:cNvPr id="124" name="Google Shape;124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Google Shape;125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"/>
          <p:cNvGrpSpPr/>
          <p:nvPr/>
        </p:nvGrpSpPr>
        <p:grpSpPr>
          <a:xfrm rot="-4212567">
            <a:off x="13745889" y="453894"/>
            <a:ext cx="5004627" cy="5121939"/>
            <a:chOff x="0" y="-19050"/>
            <a:chExt cx="812800" cy="831850"/>
          </a:xfrm>
        </p:grpSpPr>
        <p:sp>
          <p:nvSpPr>
            <p:cNvPr id="127" name="Google Shape;127;p1"/>
            <p:cNvSpPr/>
            <p:nvPr/>
          </p:nvSpPr>
          <p:spPr>
            <a:xfrm>
              <a:off x="0" y="0"/>
              <a:ext cx="44669" cy="167338"/>
            </a:xfrm>
            <a:custGeom>
              <a:avLst/>
              <a:gdLst/>
              <a:ahLst/>
              <a:cxnLst/>
              <a:rect l="l" t="t" r="r" b="b"/>
              <a:pathLst>
                <a:path w="44669" h="167338" extrusionOk="0">
                  <a:moveTo>
                    <a:pt x="0" y="0"/>
                  </a:moveTo>
                  <a:lnTo>
                    <a:pt x="44669" y="0"/>
                  </a:lnTo>
                  <a:lnTo>
                    <a:pt x="44669" y="167338"/>
                  </a:lnTo>
                  <a:lnTo>
                    <a:pt x="0" y="167338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Google Shape;128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"/>
          <p:cNvGrpSpPr/>
          <p:nvPr/>
        </p:nvGrpSpPr>
        <p:grpSpPr>
          <a:xfrm rot="2700000">
            <a:off x="9910488" y="3961747"/>
            <a:ext cx="5004601" cy="5121936"/>
            <a:chOff x="0" y="-19050"/>
            <a:chExt cx="812800" cy="831850"/>
          </a:xfrm>
        </p:grpSpPr>
        <p:sp>
          <p:nvSpPr>
            <p:cNvPr id="130" name="Google Shape;130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Google Shape;131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"/>
          <p:cNvGrpSpPr/>
          <p:nvPr/>
        </p:nvGrpSpPr>
        <p:grpSpPr>
          <a:xfrm rot="389013">
            <a:off x="15182894" y="3306173"/>
            <a:ext cx="5004601" cy="5121936"/>
            <a:chOff x="0" y="-19050"/>
            <a:chExt cx="812800" cy="831850"/>
          </a:xfrm>
        </p:grpSpPr>
        <p:sp>
          <p:nvSpPr>
            <p:cNvPr id="133" name="Google Shape;133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Google Shape;134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1"/>
          <p:cNvGrpSpPr/>
          <p:nvPr/>
        </p:nvGrpSpPr>
        <p:grpSpPr>
          <a:xfrm rot="509315">
            <a:off x="11248952" y="-226805"/>
            <a:ext cx="5004601" cy="5121936"/>
            <a:chOff x="0" y="-19050"/>
            <a:chExt cx="812800" cy="831850"/>
          </a:xfrm>
        </p:grpSpPr>
        <p:sp>
          <p:nvSpPr>
            <p:cNvPr id="136" name="Google Shape;136;p1"/>
            <p:cNvSpPr/>
            <p:nvPr/>
          </p:nvSpPr>
          <p:spPr>
            <a:xfrm>
              <a:off x="0" y="0"/>
              <a:ext cx="41053" cy="169045"/>
            </a:xfrm>
            <a:custGeom>
              <a:avLst/>
              <a:gdLst/>
              <a:ahLst/>
              <a:cxnLst/>
              <a:rect l="l" t="t" r="r" b="b"/>
              <a:pathLst>
                <a:path w="41053" h="169045" extrusionOk="0">
                  <a:moveTo>
                    <a:pt x="0" y="0"/>
                  </a:moveTo>
                  <a:lnTo>
                    <a:pt x="41053" y="0"/>
                  </a:lnTo>
                  <a:lnTo>
                    <a:pt x="41053" y="169045"/>
                  </a:lnTo>
                  <a:lnTo>
                    <a:pt x="0" y="169045"/>
                  </a:lnTo>
                  <a:close/>
                </a:path>
              </a:pathLst>
            </a:custGeom>
            <a:solidFill>
              <a:srgbClr val="2B29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Google Shape;137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"/>
          <p:cNvSpPr txBox="1"/>
          <p:nvPr/>
        </p:nvSpPr>
        <p:spPr>
          <a:xfrm>
            <a:off x="0" y="7235357"/>
            <a:ext cx="16250653" cy="295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0" i="0" u="none" strike="noStrike" cap="none" dirty="0">
                <a:solidFill>
                  <a:srgbClr val="EF482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Ising model</a:t>
            </a:r>
            <a:endParaRPr sz="14000"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39" name="Google Shape;139;p1"/>
          <p:cNvGrpSpPr/>
          <p:nvPr/>
        </p:nvGrpSpPr>
        <p:grpSpPr>
          <a:xfrm>
            <a:off x="2526814" y="6691925"/>
            <a:ext cx="13234372" cy="3158431"/>
            <a:chOff x="0" y="-96441"/>
            <a:chExt cx="17645829" cy="4211240"/>
          </a:xfrm>
        </p:grpSpPr>
        <p:grpSp>
          <p:nvGrpSpPr>
            <p:cNvPr id="140" name="Google Shape;140;p1"/>
            <p:cNvGrpSpPr/>
            <p:nvPr/>
          </p:nvGrpSpPr>
          <p:grpSpPr>
            <a:xfrm>
              <a:off x="0" y="-96441"/>
              <a:ext cx="17645829" cy="4211240"/>
              <a:chOff x="0" y="-19050"/>
              <a:chExt cx="3485596" cy="831850"/>
            </a:xfrm>
          </p:grpSpPr>
          <p:sp>
            <p:nvSpPr>
              <p:cNvPr id="141" name="Google Shape;141;p1"/>
              <p:cNvSpPr/>
              <p:nvPr/>
            </p:nvSpPr>
            <p:spPr>
              <a:xfrm>
                <a:off x="0" y="0"/>
                <a:ext cx="3485596" cy="198228"/>
              </a:xfrm>
              <a:custGeom>
                <a:avLst/>
                <a:gdLst/>
                <a:ahLst/>
                <a:cxnLst/>
                <a:rect l="l" t="t" r="r" b="b"/>
                <a:pathLst>
                  <a:path w="3485596" h="198228" extrusionOk="0">
                    <a:moveTo>
                      <a:pt x="29834" y="0"/>
                    </a:moveTo>
                    <a:lnTo>
                      <a:pt x="3455762" y="0"/>
                    </a:lnTo>
                    <a:cubicBezTo>
                      <a:pt x="3472238" y="0"/>
                      <a:pt x="3485596" y="13357"/>
                      <a:pt x="3485596" y="29834"/>
                    </a:cubicBezTo>
                    <a:lnTo>
                      <a:pt x="3485596" y="168394"/>
                    </a:lnTo>
                    <a:cubicBezTo>
                      <a:pt x="3485596" y="184871"/>
                      <a:pt x="3472238" y="198228"/>
                      <a:pt x="3455762" y="198228"/>
                    </a:cubicBezTo>
                    <a:lnTo>
                      <a:pt x="29834" y="198228"/>
                    </a:lnTo>
                    <a:cubicBezTo>
                      <a:pt x="13357" y="198228"/>
                      <a:pt x="0" y="184871"/>
                      <a:pt x="0" y="168394"/>
                    </a:cubicBezTo>
                    <a:lnTo>
                      <a:pt x="0" y="29834"/>
                    </a:lnTo>
                    <a:cubicBezTo>
                      <a:pt x="0" y="13357"/>
                      <a:pt x="13357" y="0"/>
                      <a:pt x="29834" y="0"/>
                    </a:cubicBezTo>
                    <a:close/>
                  </a:path>
                </a:pathLst>
              </a:custGeom>
              <a:solidFill>
                <a:srgbClr val="1BA5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" name="Google Shape;143;p1"/>
            <p:cNvSpPr txBox="1"/>
            <p:nvPr/>
          </p:nvSpPr>
          <p:spPr>
            <a:xfrm>
              <a:off x="321228" y="83088"/>
              <a:ext cx="17031880" cy="10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 dirty="0">
                  <a:solidFill>
                    <a:srgbClr val="EDEBE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Emily’s second toolbox of</a:t>
              </a: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91275" y="562290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93562" y="562290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5848" y="562290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8135" y="562290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4">
            <a:alphaModFix/>
          </a:blip>
          <a:srcRect l="5428" r="3407" b="16137"/>
          <a:stretch/>
        </p:blipFill>
        <p:spPr>
          <a:xfrm>
            <a:off x="0" y="0"/>
            <a:ext cx="6128121" cy="563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95347" y="8587933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7634" y="8587933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9920" y="8587933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397793" y="8587933"/>
            <a:ext cx="2398715" cy="130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6">
            <a:alphaModFix/>
          </a:blip>
          <a:srcRect l="35325" t="21270" r="2210" b="39346"/>
          <a:stretch/>
        </p:blipFill>
        <p:spPr>
          <a:xfrm>
            <a:off x="11073010" y="5737923"/>
            <a:ext cx="7214990" cy="4549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 txBox="1"/>
          <p:nvPr/>
        </p:nvSpPr>
        <p:spPr>
          <a:xfrm>
            <a:off x="6697492" y="2704373"/>
            <a:ext cx="11021136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9" b="1" dirty="0">
                <a:latin typeface="Montserrat"/>
                <a:sym typeface="Montserrat"/>
              </a:rPr>
              <a:t>This is a description of ferromagnetism that tries to model the interactions of a spin lattice</a:t>
            </a:r>
            <a:endParaRPr dirty="0"/>
          </a:p>
        </p:txBody>
      </p:sp>
      <p:grpSp>
        <p:nvGrpSpPr>
          <p:cNvPr id="200" name="Google Shape;200;p4"/>
          <p:cNvGrpSpPr/>
          <p:nvPr/>
        </p:nvGrpSpPr>
        <p:grpSpPr>
          <a:xfrm>
            <a:off x="391316" y="6656636"/>
            <a:ext cx="7895158" cy="1727984"/>
            <a:chOff x="0" y="-123825"/>
            <a:chExt cx="10526877" cy="2303980"/>
          </a:xfrm>
        </p:grpSpPr>
        <p:sp>
          <p:nvSpPr>
            <p:cNvPr id="201" name="Google Shape;201;p4"/>
            <p:cNvSpPr txBox="1"/>
            <p:nvPr/>
          </p:nvSpPr>
          <p:spPr>
            <a:xfrm>
              <a:off x="0" y="-123825"/>
              <a:ext cx="8119200" cy="2248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i="0" u="none" strike="noStrike" cap="none" dirty="0">
                  <a:solidFill>
                    <a:srgbClr val="EF482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What</a:t>
              </a:r>
              <a:endParaRPr dirty="0"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5221677" y="-68668"/>
              <a:ext cx="5305200" cy="2248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dirty="0">
                  <a:solidFill>
                    <a:srgbClr val="1BA5D6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i</a:t>
              </a:r>
              <a:r>
                <a:rPr lang="en-US" sz="8000" i="0" u="none" strike="noStrike" cap="none" dirty="0">
                  <a:solidFill>
                    <a:srgbClr val="1BA5D6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s it!</a:t>
              </a:r>
              <a:endParaRPr dirty="0"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EF7212-BE73-ECCC-6960-278A6F21B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5347" y="5301505"/>
            <a:ext cx="8522326" cy="4985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3"/>
          <p:cNvGrpSpPr/>
          <p:nvPr/>
        </p:nvGrpSpPr>
        <p:grpSpPr>
          <a:xfrm rot="-5400000">
            <a:off x="-3870982" y="3564279"/>
            <a:ext cx="10755746" cy="3158443"/>
            <a:chOff x="0" y="-19050"/>
            <a:chExt cx="2832789" cy="831850"/>
          </a:xfrm>
        </p:grpSpPr>
        <p:sp>
          <p:nvSpPr>
            <p:cNvPr id="387" name="Google Shape;387;p13"/>
            <p:cNvSpPr/>
            <p:nvPr/>
          </p:nvSpPr>
          <p:spPr>
            <a:xfrm>
              <a:off x="0" y="0"/>
              <a:ext cx="2832789" cy="95323"/>
            </a:xfrm>
            <a:custGeom>
              <a:avLst/>
              <a:gdLst/>
              <a:ahLst/>
              <a:cxnLst/>
              <a:rect l="l" t="t" r="r" b="b"/>
              <a:pathLst>
                <a:path w="2832789" h="95323" extrusionOk="0">
                  <a:moveTo>
                    <a:pt x="0" y="0"/>
                  </a:moveTo>
                  <a:lnTo>
                    <a:pt x="2832789" y="0"/>
                  </a:lnTo>
                  <a:lnTo>
                    <a:pt x="2832789" y="95323"/>
                  </a:lnTo>
                  <a:lnTo>
                    <a:pt x="0" y="95323"/>
                  </a:lnTo>
                  <a:close/>
                </a:path>
              </a:pathLst>
            </a:custGeom>
            <a:solidFill>
              <a:srgbClr val="EF48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Google Shape;388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" name="Google Shape;389;p13"/>
          <p:cNvGrpSpPr/>
          <p:nvPr/>
        </p:nvGrpSpPr>
        <p:grpSpPr>
          <a:xfrm rot="-5400000">
            <a:off x="14055078" y="3564288"/>
            <a:ext cx="10755746" cy="3158425"/>
            <a:chOff x="0" y="-19050"/>
            <a:chExt cx="2832789" cy="831850"/>
          </a:xfrm>
        </p:grpSpPr>
        <p:sp>
          <p:nvSpPr>
            <p:cNvPr id="390" name="Google Shape;390;p13"/>
            <p:cNvSpPr/>
            <p:nvPr/>
          </p:nvSpPr>
          <p:spPr>
            <a:xfrm>
              <a:off x="0" y="0"/>
              <a:ext cx="2832789" cy="119873"/>
            </a:xfrm>
            <a:custGeom>
              <a:avLst/>
              <a:gdLst/>
              <a:ahLst/>
              <a:cxnLst/>
              <a:rect l="l" t="t" r="r" b="b"/>
              <a:pathLst>
                <a:path w="2832789" h="119873" extrusionOk="0">
                  <a:moveTo>
                    <a:pt x="0" y="0"/>
                  </a:moveTo>
                  <a:lnTo>
                    <a:pt x="2832789" y="0"/>
                  </a:lnTo>
                  <a:lnTo>
                    <a:pt x="2832789" y="119873"/>
                  </a:lnTo>
                  <a:lnTo>
                    <a:pt x="0" y="119873"/>
                  </a:ln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936" y="3367312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45968" y="6919688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6591" y="271742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4307" y="795235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1409" y="6919688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51554" y="3566053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84292" y="6919688"/>
            <a:ext cx="1194818" cy="233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474" y="1441049"/>
            <a:ext cx="1194818" cy="2338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p13"/>
          <p:cNvGrpSpPr/>
          <p:nvPr/>
        </p:nvGrpSpPr>
        <p:grpSpPr>
          <a:xfrm>
            <a:off x="3256746" y="3814285"/>
            <a:ext cx="11774509" cy="2729065"/>
            <a:chOff x="-1395949" y="-346133"/>
            <a:chExt cx="15699347" cy="3638753"/>
          </a:xfrm>
        </p:grpSpPr>
        <p:sp>
          <p:nvSpPr>
            <p:cNvPr id="401" name="Google Shape;401;p13"/>
            <p:cNvSpPr txBox="1"/>
            <p:nvPr/>
          </p:nvSpPr>
          <p:spPr>
            <a:xfrm>
              <a:off x="-1395949" y="-346133"/>
              <a:ext cx="15699347" cy="2787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15" i="0" u="none" strike="noStrike" cap="none" dirty="0">
                  <a:solidFill>
                    <a:srgbClr val="EF482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This will be fun</a:t>
              </a:r>
              <a:endParaRPr dirty="0"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402" name="Google Shape;402;p13"/>
            <p:cNvSpPr txBox="1"/>
            <p:nvPr/>
          </p:nvSpPr>
          <p:spPr>
            <a:xfrm>
              <a:off x="0" y="2065617"/>
              <a:ext cx="12907445" cy="1227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 algn="ctr">
                <a:lnSpc>
                  <a:spcPct val="130000"/>
                </a:lnSpc>
              </a:pPr>
              <a:r>
                <a:rPr lang="en-US" sz="2300" b="1" dirty="0">
                  <a:latin typeface="Montserrat SemiBold"/>
                  <a:ea typeface="Montserrat SemiBold"/>
                  <a:cs typeface="Montserrat SemiBold"/>
                  <a:sym typeface="Montserrat SemiBold"/>
                  <a:hlinkClick r:id="rId5"/>
                </a:rPr>
                <a:t>https://physics.weber.edu/schroeder/software/demos/isingmodel.html</a:t>
              </a:r>
              <a:r>
                <a:rPr lang="en-US" sz="2300" b="1" dirty="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817" y="4966509"/>
            <a:ext cx="3059876" cy="2965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585619">
            <a:off x="13602554" y="5287869"/>
            <a:ext cx="3059876" cy="2965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347914">
            <a:off x="7830182" y="4966509"/>
            <a:ext cx="3059876" cy="296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"/>
          <p:cNvSpPr txBox="1"/>
          <p:nvPr/>
        </p:nvSpPr>
        <p:spPr>
          <a:xfrm>
            <a:off x="348825" y="8517172"/>
            <a:ext cx="6477859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Can study when exactly the critical temperature or field should flip spins</a:t>
            </a:r>
            <a:endParaRPr dirty="0"/>
          </a:p>
        </p:txBody>
      </p:sp>
      <p:sp>
        <p:nvSpPr>
          <p:cNvPr id="152" name="Google Shape;152;p2"/>
          <p:cNvSpPr txBox="1"/>
          <p:nvPr/>
        </p:nvSpPr>
        <p:spPr>
          <a:xfrm>
            <a:off x="1017104" y="3901261"/>
            <a:ext cx="5141400" cy="67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Phase-transitions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6083974" y="8517172"/>
            <a:ext cx="6477859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Can be used to model segregation</a:t>
            </a:r>
            <a:endParaRPr dirty="0"/>
          </a:p>
        </p:txBody>
      </p:sp>
      <p:sp>
        <p:nvSpPr>
          <p:cNvPr id="154" name="Google Shape;154;p2"/>
          <p:cNvSpPr txBox="1"/>
          <p:nvPr/>
        </p:nvSpPr>
        <p:spPr>
          <a:xfrm>
            <a:off x="6752253" y="3901261"/>
            <a:ext cx="5141400" cy="67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Population Statistics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2518099" y="8517172"/>
            <a:ext cx="5374767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Resolves the ‘small world’ phen</a:t>
            </a:r>
            <a:r>
              <a:rPr lang="en-US" sz="2300" b="1" dirty="0">
                <a:latin typeface="Montserrat SemiBold"/>
                <a:ea typeface="Montserrat SemiBold"/>
                <a:cs typeface="Montserrat SemiBold"/>
                <a:sym typeface="Montserrat SemiBold"/>
              </a:rPr>
              <a:t>omena where everything is connected</a:t>
            </a:r>
            <a:endParaRPr lang="en-US" dirty="0"/>
          </a:p>
        </p:txBody>
      </p:sp>
      <p:sp>
        <p:nvSpPr>
          <p:cNvPr id="156" name="Google Shape;156;p2"/>
          <p:cNvSpPr txBox="1"/>
          <p:nvPr/>
        </p:nvSpPr>
        <p:spPr>
          <a:xfrm>
            <a:off x="13365886" y="3901261"/>
            <a:ext cx="3679200" cy="134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Montserrat Black"/>
                <a:ea typeface="Montserrat Black"/>
                <a:cs typeface="Montserrat Black"/>
                <a:sym typeface="Montserrat Black"/>
              </a:rPr>
              <a:t>Six degrees of separation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 rot="10800000">
            <a:off x="1717258" y="459385"/>
            <a:ext cx="3144648" cy="3158473"/>
            <a:chOff x="0" y="-19050"/>
            <a:chExt cx="828220" cy="83185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828220" cy="34933"/>
            </a:xfrm>
            <a:custGeom>
              <a:avLst/>
              <a:gdLst/>
              <a:ahLst/>
              <a:cxnLst/>
              <a:rect l="l" t="t" r="r" b="b"/>
              <a:pathLst>
                <a:path w="828220" h="34933" extrusionOk="0">
                  <a:moveTo>
                    <a:pt x="0" y="0"/>
                  </a:moveTo>
                  <a:lnTo>
                    <a:pt x="828220" y="0"/>
                  </a:lnTo>
                  <a:lnTo>
                    <a:pt x="828220" y="34933"/>
                  </a:lnTo>
                  <a:lnTo>
                    <a:pt x="0" y="34933"/>
                  </a:lnTo>
                  <a:close/>
                </a:path>
              </a:pathLst>
            </a:custGeom>
            <a:solidFill>
              <a:srgbClr val="EF48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 rot="10800000">
            <a:off x="7571676" y="429909"/>
            <a:ext cx="3144648" cy="3158473"/>
            <a:chOff x="0" y="-19050"/>
            <a:chExt cx="828220" cy="831850"/>
          </a:xfrm>
        </p:grpSpPr>
        <p:sp>
          <p:nvSpPr>
            <p:cNvPr id="161" name="Google Shape;161;p2"/>
            <p:cNvSpPr/>
            <p:nvPr/>
          </p:nvSpPr>
          <p:spPr>
            <a:xfrm>
              <a:off x="0" y="0"/>
              <a:ext cx="828220" cy="34933"/>
            </a:xfrm>
            <a:custGeom>
              <a:avLst/>
              <a:gdLst/>
              <a:ahLst/>
              <a:cxnLst/>
              <a:rect l="l" t="t" r="r" b="b"/>
              <a:pathLst>
                <a:path w="828220" h="34933" extrusionOk="0">
                  <a:moveTo>
                    <a:pt x="0" y="0"/>
                  </a:moveTo>
                  <a:lnTo>
                    <a:pt x="828220" y="0"/>
                  </a:lnTo>
                  <a:lnTo>
                    <a:pt x="828220" y="34933"/>
                  </a:lnTo>
                  <a:lnTo>
                    <a:pt x="0" y="34933"/>
                  </a:lnTo>
                  <a:close/>
                </a:path>
              </a:pathLst>
            </a:custGeom>
            <a:solidFill>
              <a:srgbClr val="FFCC1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 rot="10800000">
            <a:off x="13633144" y="615885"/>
            <a:ext cx="3144648" cy="3158473"/>
            <a:chOff x="0" y="-19050"/>
            <a:chExt cx="828220" cy="83185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828220" cy="34933"/>
            </a:xfrm>
            <a:custGeom>
              <a:avLst/>
              <a:gdLst/>
              <a:ahLst/>
              <a:cxnLst/>
              <a:rect l="l" t="t" r="r" b="b"/>
              <a:pathLst>
                <a:path w="828220" h="34933" extrusionOk="0">
                  <a:moveTo>
                    <a:pt x="0" y="0"/>
                  </a:moveTo>
                  <a:lnTo>
                    <a:pt x="828220" y="0"/>
                  </a:lnTo>
                  <a:lnTo>
                    <a:pt x="828220" y="34933"/>
                  </a:lnTo>
                  <a:lnTo>
                    <a:pt x="0" y="34933"/>
                  </a:ln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6" name="Google Shape;166;p2"/>
          <p:cNvPicPr preferRelativeResize="0"/>
          <p:nvPr/>
        </p:nvPicPr>
        <p:blipFill rotWithShape="1">
          <a:blip r:embed="rId6">
            <a:alphaModFix/>
          </a:blip>
          <a:srcRect l="14236" t="30792" r="76739" b="53015"/>
          <a:stretch/>
        </p:blipFill>
        <p:spPr>
          <a:xfrm>
            <a:off x="2725593" y="5533315"/>
            <a:ext cx="1650250" cy="16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6">
            <a:alphaModFix/>
          </a:blip>
          <a:srcRect l="45488" t="30792" r="45488" b="53015"/>
          <a:stretch/>
        </p:blipFill>
        <p:spPr>
          <a:xfrm>
            <a:off x="8534993" y="5533315"/>
            <a:ext cx="1650250" cy="16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"/>
          <p:cNvPicPr preferRelativeResize="0"/>
          <p:nvPr/>
        </p:nvPicPr>
        <p:blipFill rotWithShape="1">
          <a:blip r:embed="rId6">
            <a:alphaModFix/>
          </a:blip>
          <a:srcRect l="77249" t="30792" r="13726" b="53015"/>
          <a:stretch/>
        </p:blipFill>
        <p:spPr>
          <a:xfrm>
            <a:off x="14307367" y="5840477"/>
            <a:ext cx="1650250" cy="16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8;p3">
            <a:extLst>
              <a:ext uri="{FF2B5EF4-FFF2-40B4-BE49-F238E27FC236}">
                <a16:creationId xmlns:a16="http://schemas.microsoft.com/office/drawing/2014/main" id="{B3A789F9-9F18-8E94-7F5D-D96292F9BF36}"/>
              </a:ext>
            </a:extLst>
          </p:cNvPr>
          <p:cNvSpPr txBox="1"/>
          <p:nvPr/>
        </p:nvSpPr>
        <p:spPr>
          <a:xfrm>
            <a:off x="1540249" y="914400"/>
            <a:ext cx="15207600" cy="139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i="0" u="none" strike="noStrike" cap="none" dirty="0">
                <a:solidFill>
                  <a:srgbClr val="EF482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Why you should care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5"/>
          <p:cNvPicPr preferRelativeResize="0"/>
          <p:nvPr/>
        </p:nvPicPr>
        <p:blipFill rotWithShape="1">
          <a:blip r:embed="rId3">
            <a:alphaModFix/>
          </a:blip>
          <a:srcRect r="38476"/>
          <a:stretch/>
        </p:blipFill>
        <p:spPr>
          <a:xfrm>
            <a:off x="0" y="-435658"/>
            <a:ext cx="11251224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5"/>
          <p:cNvGrpSpPr/>
          <p:nvPr/>
        </p:nvGrpSpPr>
        <p:grpSpPr>
          <a:xfrm rot="2342379">
            <a:off x="11878255" y="-1249493"/>
            <a:ext cx="8914926" cy="4036025"/>
            <a:chOff x="0" y="-19050"/>
            <a:chExt cx="2347964" cy="1062986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2347964" cy="1043936"/>
            </a:xfrm>
            <a:custGeom>
              <a:avLst/>
              <a:gdLst/>
              <a:ahLst/>
              <a:cxnLst/>
              <a:rect l="l" t="t" r="r" b="b"/>
              <a:pathLst>
                <a:path w="2347964" h="1043936" extrusionOk="0">
                  <a:moveTo>
                    <a:pt x="0" y="0"/>
                  </a:moveTo>
                  <a:lnTo>
                    <a:pt x="2347964" y="0"/>
                  </a:lnTo>
                  <a:lnTo>
                    <a:pt x="2347964" y="1043936"/>
                  </a:lnTo>
                  <a:lnTo>
                    <a:pt x="0" y="1043936"/>
                  </a:ln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4931469" y="6842992"/>
            <a:ext cx="12639510" cy="2968883"/>
            <a:chOff x="0" y="-114300"/>
            <a:chExt cx="16852680" cy="3958511"/>
          </a:xfrm>
        </p:grpSpPr>
        <p:sp>
          <p:nvSpPr>
            <p:cNvPr id="212" name="Google Shape;212;p5"/>
            <p:cNvSpPr txBox="1"/>
            <p:nvPr/>
          </p:nvSpPr>
          <p:spPr>
            <a:xfrm>
              <a:off x="1190483" y="-114300"/>
              <a:ext cx="15662125" cy="2979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i="0" u="none" strike="noStrike" cap="none" dirty="0">
                  <a:solidFill>
                    <a:srgbClr val="EF482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Metropolis-Hastings algorithm</a:t>
              </a:r>
              <a:endParaRPr dirty="0"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0" y="3084430"/>
              <a:ext cx="16852680" cy="759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r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Why I brought this up in this comp class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/>
          <p:nvPr/>
        </p:nvSpPr>
        <p:spPr>
          <a:xfrm>
            <a:off x="1970969" y="2862746"/>
            <a:ext cx="6448221" cy="6448194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295988">
            <a:off x="6651003" y="7124333"/>
            <a:ext cx="2671615" cy="2569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10128150" y="2282623"/>
            <a:ext cx="7797919" cy="752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Initialize</a:t>
            </a:r>
          </a:p>
          <a:p>
            <a:pPr marL="514350" marR="0" lvl="0" indent="-51435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500" b="1" dirty="0">
                <a:solidFill>
                  <a:schemeClr val="accent2"/>
                </a:solidFill>
                <a:latin typeface="Montserrat"/>
                <a:sym typeface="Montserrat"/>
              </a:rPr>
              <a:t>Pick some x0 and t=0 </a:t>
            </a:r>
            <a:endParaRPr lang="en-US" dirty="0">
              <a:solidFill>
                <a:schemeClr val="accent2"/>
              </a:solidFill>
            </a:endParaRPr>
          </a:p>
          <a:p>
            <a:pPr marR="0" lvl="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Iterate.</a:t>
            </a:r>
            <a:endParaRPr lang="en-US" dirty="0">
              <a:solidFill>
                <a:schemeClr val="accent2"/>
              </a:solidFill>
            </a:endParaRPr>
          </a:p>
          <a:p>
            <a:pPr marL="514350" marR="0" lvl="0" indent="-51435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500" b="1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Generate a random candidate</a:t>
            </a:r>
            <a:endParaRPr lang="en-US" dirty="0">
              <a:solidFill>
                <a:schemeClr val="accent2"/>
              </a:solidFill>
            </a:endParaRPr>
          </a:p>
          <a:p>
            <a:pPr marL="514350" marR="0" lvl="0" indent="-51435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500" b="1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Calculate acceptance.</a:t>
            </a:r>
            <a:endParaRPr lang="en-US" dirty="0">
              <a:solidFill>
                <a:schemeClr val="accent2"/>
              </a:solidFill>
            </a:endParaRPr>
          </a:p>
          <a:p>
            <a:pPr marL="514350" marR="0" lvl="0" indent="-514350" algn="l" rtl="0">
              <a:lnSpc>
                <a:spcPct val="23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500" b="1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Accept/rejec</a:t>
            </a:r>
            <a:r>
              <a:rPr lang="en-US" sz="3500" b="1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 and increment</a:t>
            </a:r>
            <a:endParaRPr lang="en-US" dirty="0"/>
          </a:p>
        </p:txBody>
      </p:sp>
      <p:sp>
        <p:nvSpPr>
          <p:cNvPr id="178" name="Google Shape;178;p3"/>
          <p:cNvSpPr txBox="1"/>
          <p:nvPr/>
        </p:nvSpPr>
        <p:spPr>
          <a:xfrm>
            <a:off x="1540249" y="914400"/>
            <a:ext cx="15207600" cy="139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i="0" u="none" strike="noStrike" cap="none" dirty="0">
                <a:solidFill>
                  <a:srgbClr val="EF482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Metropolis-Hastings Algo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79" name="Google Shape;179;p3"/>
          <p:cNvGrpSpPr/>
          <p:nvPr/>
        </p:nvGrpSpPr>
        <p:grpSpPr>
          <a:xfrm rot="-5400000">
            <a:off x="-3870982" y="3564279"/>
            <a:ext cx="10755746" cy="3158443"/>
            <a:chOff x="0" y="-19050"/>
            <a:chExt cx="2832789" cy="83185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2832789" cy="95323"/>
            </a:xfrm>
            <a:custGeom>
              <a:avLst/>
              <a:gdLst/>
              <a:ahLst/>
              <a:cxnLst/>
              <a:rect l="l" t="t" r="r" b="b"/>
              <a:pathLst>
                <a:path w="2832789" h="95323" extrusionOk="0">
                  <a:moveTo>
                    <a:pt x="0" y="0"/>
                  </a:moveTo>
                  <a:lnTo>
                    <a:pt x="2832789" y="0"/>
                  </a:lnTo>
                  <a:lnTo>
                    <a:pt x="2832789" y="95323"/>
                  </a:lnTo>
                  <a:lnTo>
                    <a:pt x="0" y="95323"/>
                  </a:lnTo>
                  <a:close/>
                </a:path>
              </a:pathLst>
            </a:custGeom>
            <a:solidFill>
              <a:srgbClr val="EF48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 rot="-5400000">
            <a:off x="14055078" y="3564288"/>
            <a:ext cx="10755746" cy="3158425"/>
            <a:chOff x="0" y="-19050"/>
            <a:chExt cx="2832789" cy="83185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2832789" cy="119873"/>
            </a:xfrm>
            <a:custGeom>
              <a:avLst/>
              <a:gdLst/>
              <a:ahLst/>
              <a:cxnLst/>
              <a:rect l="l" t="t" r="r" b="b"/>
              <a:pathLst>
                <a:path w="2832789" h="119873" extrusionOk="0">
                  <a:moveTo>
                    <a:pt x="0" y="0"/>
                  </a:moveTo>
                  <a:lnTo>
                    <a:pt x="2832789" y="0"/>
                  </a:lnTo>
                  <a:lnTo>
                    <a:pt x="2832789" y="119873"/>
                  </a:lnTo>
                  <a:lnTo>
                    <a:pt x="0" y="119873"/>
                  </a:ln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"/>
          <p:cNvGrpSpPr/>
          <p:nvPr/>
        </p:nvGrpSpPr>
        <p:grpSpPr>
          <a:xfrm rot="5400000">
            <a:off x="15471909" y="-1003638"/>
            <a:ext cx="2027567" cy="3699657"/>
            <a:chOff x="0" y="-63362"/>
            <a:chExt cx="2703424" cy="4932875"/>
          </a:xfrm>
        </p:grpSpPr>
        <p:grpSp>
          <p:nvGrpSpPr>
            <p:cNvPr id="261" name="Google Shape;261;p8"/>
            <p:cNvGrpSpPr/>
            <p:nvPr/>
          </p:nvGrpSpPr>
          <p:grpSpPr>
            <a:xfrm>
              <a:off x="0" y="-63362"/>
              <a:ext cx="2703424" cy="2766786"/>
              <a:chOff x="0" y="-19050"/>
              <a:chExt cx="812800" cy="831850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71BDD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Google Shape;263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>
              <a:off x="0" y="2102727"/>
              <a:ext cx="2703424" cy="2766786"/>
              <a:chOff x="0" y="-19050"/>
              <a:chExt cx="812800" cy="831850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EF4824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Google Shape;266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7" name="Google Shape;267;p8"/>
          <p:cNvGrpSpPr/>
          <p:nvPr/>
        </p:nvGrpSpPr>
        <p:grpSpPr>
          <a:xfrm rot="-2700000">
            <a:off x="7598" y="5873523"/>
            <a:ext cx="2027567" cy="3699657"/>
            <a:chOff x="0" y="-63362"/>
            <a:chExt cx="2703424" cy="4932875"/>
          </a:xfrm>
        </p:grpSpPr>
        <p:grpSp>
          <p:nvGrpSpPr>
            <p:cNvPr id="268" name="Google Shape;268;p8"/>
            <p:cNvGrpSpPr/>
            <p:nvPr/>
          </p:nvGrpSpPr>
          <p:grpSpPr>
            <a:xfrm>
              <a:off x="0" y="-63362"/>
              <a:ext cx="2703424" cy="2766786"/>
              <a:chOff x="0" y="-19050"/>
              <a:chExt cx="812800" cy="831850"/>
            </a:xfrm>
          </p:grpSpPr>
          <p:sp>
            <p:nvSpPr>
              <p:cNvPr id="269" name="Google Shape;269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71BDD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Google Shape;270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8"/>
            <p:cNvGrpSpPr/>
            <p:nvPr/>
          </p:nvGrpSpPr>
          <p:grpSpPr>
            <a:xfrm>
              <a:off x="0" y="2102727"/>
              <a:ext cx="2703424" cy="2766786"/>
              <a:chOff x="0" y="-19050"/>
              <a:chExt cx="812800" cy="831850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EF4824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Google Shape;273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4" name="Google Shape;274;p8"/>
          <p:cNvGrpSpPr/>
          <p:nvPr/>
        </p:nvGrpSpPr>
        <p:grpSpPr>
          <a:xfrm rot="3262985">
            <a:off x="778810" y="-854354"/>
            <a:ext cx="2027567" cy="3699657"/>
            <a:chOff x="0" y="-63362"/>
            <a:chExt cx="2703424" cy="4932875"/>
          </a:xfrm>
        </p:grpSpPr>
        <p:grpSp>
          <p:nvGrpSpPr>
            <p:cNvPr id="275" name="Google Shape;275;p8"/>
            <p:cNvGrpSpPr/>
            <p:nvPr/>
          </p:nvGrpSpPr>
          <p:grpSpPr>
            <a:xfrm>
              <a:off x="0" y="-63362"/>
              <a:ext cx="2703424" cy="2766786"/>
              <a:chOff x="0" y="-19050"/>
              <a:chExt cx="812800" cy="831850"/>
            </a:xfrm>
          </p:grpSpPr>
          <p:sp>
            <p:nvSpPr>
              <p:cNvPr id="276" name="Google Shape;276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71BDD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Google Shape;277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8"/>
            <p:cNvGrpSpPr/>
            <p:nvPr/>
          </p:nvGrpSpPr>
          <p:grpSpPr>
            <a:xfrm>
              <a:off x="0" y="2102727"/>
              <a:ext cx="2703424" cy="2766786"/>
              <a:chOff x="0" y="-19050"/>
              <a:chExt cx="812800" cy="831850"/>
            </a:xfrm>
          </p:grpSpPr>
          <p:sp>
            <p:nvSpPr>
              <p:cNvPr id="279" name="Google Shape;279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EF4824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Google Shape;280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 rot="-7185168">
            <a:off x="16365670" y="6182769"/>
            <a:ext cx="2027567" cy="3699657"/>
            <a:chOff x="0" y="-63362"/>
            <a:chExt cx="2703424" cy="4932875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0" y="-63362"/>
              <a:ext cx="2703424" cy="2766786"/>
              <a:chOff x="0" y="-19050"/>
              <a:chExt cx="812800" cy="831850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71BDD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Google Shape;284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8"/>
            <p:cNvGrpSpPr/>
            <p:nvPr/>
          </p:nvGrpSpPr>
          <p:grpSpPr>
            <a:xfrm>
              <a:off x="0" y="2102727"/>
              <a:ext cx="2703424" cy="2766786"/>
              <a:chOff x="0" y="-19050"/>
              <a:chExt cx="812800" cy="831850"/>
            </a:xfrm>
          </p:grpSpPr>
          <p:sp>
            <p:nvSpPr>
              <p:cNvPr id="286" name="Google Shape;286;p8"/>
              <p:cNvSpPr/>
              <p:nvPr/>
            </p:nvSpPr>
            <p:spPr>
              <a:xfrm>
                <a:off x="0" y="0"/>
                <a:ext cx="310719" cy="656264"/>
              </a:xfrm>
              <a:custGeom>
                <a:avLst/>
                <a:gdLst/>
                <a:ahLst/>
                <a:cxnLst/>
                <a:rect l="l" t="t" r="r" b="b"/>
                <a:pathLst>
                  <a:path w="310719" h="656264" extrusionOk="0">
                    <a:moveTo>
                      <a:pt x="0" y="0"/>
                    </a:moveTo>
                    <a:lnTo>
                      <a:pt x="310719" y="0"/>
                    </a:lnTo>
                    <a:lnTo>
                      <a:pt x="310719" y="656264"/>
                    </a:lnTo>
                    <a:lnTo>
                      <a:pt x="0" y="656264"/>
                    </a:lnTo>
                    <a:close/>
                  </a:path>
                </a:pathLst>
              </a:custGeom>
              <a:solidFill>
                <a:srgbClr val="EF4824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Google Shape;287;p8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288" name="Google Shape;288;p8"/>
          <p:cNvGraphicFramePr/>
          <p:nvPr>
            <p:extLst>
              <p:ext uri="{D42A27DB-BD31-4B8C-83A1-F6EECF244321}">
                <p14:modId xmlns:p14="http://schemas.microsoft.com/office/powerpoint/2010/main" val="2718502209"/>
              </p:ext>
            </p:extLst>
          </p:nvPr>
        </p:nvGraphicFramePr>
        <p:xfrm>
          <a:off x="2737611" y="3198733"/>
          <a:ext cx="12812777" cy="5576835"/>
        </p:xfrm>
        <a:graphic>
          <a:graphicData uri="http://schemas.openxmlformats.org/drawingml/2006/table">
            <a:tbl>
              <a:tblPr>
                <a:noFill/>
                <a:tableStyleId>{5FC6B7CB-F7FA-46A7-B1E4-38CA758FC249}</a:tableStyleId>
              </a:tblPr>
              <a:tblGrid>
                <a:gridCol w="462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14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How do we know which way the magnets will align their spin as we change conditions!</a:t>
                      </a: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1" u="none" strike="noStrike" cap="none" dirty="0">
                        <a:solidFill>
                          <a:srgbClr val="000000"/>
                        </a:solidFill>
                        <a:latin typeface="Montserrat"/>
                        <a:sym typeface="Montserrat"/>
                      </a:endParaRPr>
                    </a:p>
                  </a:txBody>
                  <a:tcPr marL="254450" marR="254450" marT="254450" marB="254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48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dirty="0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By using this probability method, we can guess how the spins will end up aligning in the Ising model and use this to predict phase transitions</a:t>
                      </a:r>
                      <a:endParaRPr sz="1100" u="none" strike="noStrike" cap="none" dirty="0"/>
                    </a:p>
                  </a:txBody>
                  <a:tcPr marL="254450" marR="254450" marT="254450" marB="2544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1B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37166">
            <a:off x="14809940" y="9069502"/>
            <a:ext cx="1027343" cy="147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226707">
            <a:off x="13506810" y="-517690"/>
            <a:ext cx="1027343" cy="147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100000">
            <a:off x="1720255" y="8960944"/>
            <a:ext cx="1027343" cy="147529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1833822" y="1036757"/>
            <a:ext cx="14620356" cy="139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>
                <a:solidFill>
                  <a:srgbClr val="EF4824"/>
                </a:solidFill>
                <a:latin typeface="Montserrat"/>
                <a:ea typeface="Montserrat"/>
                <a:cs typeface="Montserrat"/>
                <a:sym typeface="Montserrat"/>
              </a:rPr>
              <a:t>This is useful because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7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9"/>
          <p:cNvGrpSpPr/>
          <p:nvPr/>
        </p:nvGrpSpPr>
        <p:grpSpPr>
          <a:xfrm>
            <a:off x="1464605" y="3766591"/>
            <a:ext cx="4045499" cy="4063632"/>
            <a:chOff x="1813" y="0"/>
            <a:chExt cx="809173" cy="812800"/>
          </a:xfrm>
        </p:grpSpPr>
        <p:sp>
          <p:nvSpPr>
            <p:cNvPr id="298" name="Google Shape;298;p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9"/>
          <p:cNvGrpSpPr/>
          <p:nvPr/>
        </p:nvGrpSpPr>
        <p:grpSpPr>
          <a:xfrm>
            <a:off x="12775555" y="3766591"/>
            <a:ext cx="4045499" cy="4063632"/>
            <a:chOff x="1813" y="0"/>
            <a:chExt cx="809173" cy="812800"/>
          </a:xfrm>
        </p:grpSpPr>
        <p:sp>
          <p:nvSpPr>
            <p:cNvPr id="301" name="Google Shape;301;p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9"/>
          <p:cNvGrpSpPr/>
          <p:nvPr/>
        </p:nvGrpSpPr>
        <p:grpSpPr>
          <a:xfrm>
            <a:off x="7121248" y="3766591"/>
            <a:ext cx="4045499" cy="4063632"/>
            <a:chOff x="1813" y="0"/>
            <a:chExt cx="809173" cy="812800"/>
          </a:xfrm>
        </p:grpSpPr>
        <p:sp>
          <p:nvSpPr>
            <p:cNvPr id="305" name="Google Shape;305;p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1BD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028700" y="625801"/>
            <a:ext cx="709768" cy="2026589"/>
            <a:chOff x="0" y="0"/>
            <a:chExt cx="946357" cy="2702118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46357" cy="130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800000" flipH="1">
              <a:off x="0" y="1397616"/>
              <a:ext cx="946357" cy="1304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p9"/>
          <p:cNvGrpSpPr/>
          <p:nvPr/>
        </p:nvGrpSpPr>
        <p:grpSpPr>
          <a:xfrm rot="2700000">
            <a:off x="16904416" y="8245006"/>
            <a:ext cx="709768" cy="2026589"/>
            <a:chOff x="0" y="0"/>
            <a:chExt cx="946357" cy="2702118"/>
          </a:xfrm>
        </p:grpSpPr>
        <p:pic>
          <p:nvPicPr>
            <p:cNvPr id="313" name="Google Shape;313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46357" cy="130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800000" flipH="1">
              <a:off x="0" y="1397616"/>
              <a:ext cx="946357" cy="13045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5" name="Google Shape;31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700000">
            <a:off x="15107745" y="889730"/>
            <a:ext cx="2992850" cy="72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700000">
            <a:off x="-600583" y="8465176"/>
            <a:ext cx="2581419" cy="62423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9"/>
          <p:cNvSpPr txBox="1"/>
          <p:nvPr/>
        </p:nvSpPr>
        <p:spPr>
          <a:xfrm>
            <a:off x="2165085" y="1024543"/>
            <a:ext cx="13957800" cy="139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i="0" u="none" strike="noStrike" cap="none" dirty="0">
                <a:solidFill>
                  <a:srgbClr val="EF482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Interesting literature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E05DC3-3BA5-D626-A2A4-30552779E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354" y="3451927"/>
            <a:ext cx="9996183" cy="3065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CB39A-32C9-D991-C191-3C8FB973F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260" y="6971969"/>
            <a:ext cx="8409817" cy="26377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5EC7E-FACC-3AC0-6C83-05278184E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1256" y="7171897"/>
            <a:ext cx="7772400" cy="24378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173</Words>
  <Application>Microsoft Macintosh PowerPoint</Application>
  <PresentationFormat>Custom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Montserrat Black</vt:lpstr>
      <vt:lpstr>Arial</vt:lpstr>
      <vt:lpstr>Calibri</vt:lpstr>
      <vt:lpstr>Montserrat SemiBold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Emily Aitken</cp:lastModifiedBy>
  <cp:revision>2</cp:revision>
  <dcterms:created xsi:type="dcterms:W3CDTF">2006-08-16T00:00:00Z</dcterms:created>
  <dcterms:modified xsi:type="dcterms:W3CDTF">2026-04-01T16:19:36Z</dcterms:modified>
</cp:coreProperties>
</file>